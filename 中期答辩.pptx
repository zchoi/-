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62" r:id="rId2"/>
    <p:sldId id="265" r:id="rId3"/>
    <p:sldId id="269" r:id="rId4"/>
    <p:sldId id="267" r:id="rId5"/>
    <p:sldId id="291" r:id="rId6"/>
    <p:sldId id="289" r:id="rId7"/>
    <p:sldId id="277" r:id="rId8"/>
    <p:sldId id="292" r:id="rId9"/>
    <p:sldId id="294" r:id="rId10"/>
    <p:sldId id="296" r:id="rId11"/>
    <p:sldId id="297" r:id="rId12"/>
    <p:sldId id="298" r:id="rId13"/>
    <p:sldId id="293" r:id="rId14"/>
    <p:sldId id="295" r:id="rId15"/>
    <p:sldId id="282" r:id="rId16"/>
    <p:sldId id="299" r:id="rId17"/>
    <p:sldId id="300" r:id="rId18"/>
    <p:sldId id="302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53A7"/>
    <a:srgbClr val="4472C4"/>
    <a:srgbClr val="6E0F6D"/>
    <a:srgbClr val="375DA1"/>
    <a:srgbClr val="A7B5DB"/>
    <a:srgbClr val="DD4E4A"/>
    <a:srgbClr val="006766"/>
    <a:srgbClr val="002855"/>
    <a:srgbClr val="E6E6E6"/>
    <a:srgbClr val="995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53" autoAdjust="0"/>
    <p:restoredTop sz="85050" autoAdjust="0"/>
  </p:normalViewPr>
  <p:slideViewPr>
    <p:cSldViewPr>
      <p:cViewPr varScale="1">
        <p:scale>
          <a:sx n="73" d="100"/>
          <a:sy n="73" d="100"/>
        </p:scale>
        <p:origin x="74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43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4A1570-AE7E-4C5B-9022-BE65F435386B}" type="datetimeFigureOut">
              <a:rPr lang="zh-CN" altLang="en-US" smtClean="0"/>
              <a:t>2020/4/29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84A26F-CD07-4D04-8FCA-0F8E481A11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8474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4A26F-CD07-4D04-8FCA-0F8E481A111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0225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F1C73-6920-4190-8F76-1A0FE52E9A1A}" type="datetimeFigureOut">
              <a:rPr lang="zh-CN" altLang="en-US" smtClean="0"/>
              <a:t>2020/4/29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443CB-CBD7-4A8A-9BAA-27A79AA954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0211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F1C73-6920-4190-8F76-1A0FE52E9A1A}" type="datetimeFigureOut">
              <a:rPr lang="zh-CN" altLang="en-US" smtClean="0"/>
              <a:t>2020/4/29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443CB-CBD7-4A8A-9BAA-27A79AA954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3158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F1C73-6920-4190-8F76-1A0FE52E9A1A}" type="datetimeFigureOut">
              <a:rPr lang="zh-CN" altLang="en-US" smtClean="0"/>
              <a:t>2020/4/29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443CB-CBD7-4A8A-9BAA-27A79AA954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421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F1C73-6920-4190-8F76-1A0FE52E9A1A}" type="datetimeFigureOut">
              <a:rPr lang="zh-CN" altLang="en-US" smtClean="0"/>
              <a:t>2020/4/29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443CB-CBD7-4A8A-9BAA-27A79AA954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041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F1C73-6920-4190-8F76-1A0FE52E9A1A}" type="datetimeFigureOut">
              <a:rPr lang="zh-CN" altLang="en-US" smtClean="0"/>
              <a:t>2020/4/29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443CB-CBD7-4A8A-9BAA-27A79AA954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4270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F1C73-6920-4190-8F76-1A0FE52E9A1A}" type="datetimeFigureOut">
              <a:rPr lang="zh-CN" altLang="en-US" smtClean="0"/>
              <a:t>2020/4/29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443CB-CBD7-4A8A-9BAA-27A79AA954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1634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F1C73-6920-4190-8F76-1A0FE52E9A1A}" type="datetimeFigureOut">
              <a:rPr lang="zh-CN" altLang="en-US" smtClean="0"/>
              <a:t>2020/4/29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443CB-CBD7-4A8A-9BAA-27A79AA954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4576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F1C73-6920-4190-8F76-1A0FE52E9A1A}" type="datetimeFigureOut">
              <a:rPr lang="zh-CN" altLang="en-US" smtClean="0"/>
              <a:t>2020/4/29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443CB-CBD7-4A8A-9BAA-27A79AA954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291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F1C73-6920-4190-8F76-1A0FE52E9A1A}" type="datetimeFigureOut">
              <a:rPr lang="zh-CN" altLang="en-US" smtClean="0"/>
              <a:t>2020/4/29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443CB-CBD7-4A8A-9BAA-27A79AA954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201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F1C73-6920-4190-8F76-1A0FE52E9A1A}" type="datetimeFigureOut">
              <a:rPr lang="zh-CN" altLang="en-US" smtClean="0"/>
              <a:t>2020/4/29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443CB-CBD7-4A8A-9BAA-27A79AA954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9836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F1C73-6920-4190-8F76-1A0FE52E9A1A}" type="datetimeFigureOut">
              <a:rPr lang="zh-CN" altLang="en-US" smtClean="0"/>
              <a:t>2020/4/29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443CB-CBD7-4A8A-9BAA-27A79AA954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0369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9F1C73-6920-4190-8F76-1A0FE52E9A1A}" type="datetimeFigureOut">
              <a:rPr lang="zh-CN" altLang="en-US" smtClean="0"/>
              <a:t>2020/4/29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C443CB-CBD7-4A8A-9BAA-27A79AA954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568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54"/>
            <a:ext cx="12274379" cy="6848346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-57150" y="1826823"/>
            <a:ext cx="12306300" cy="3204356"/>
          </a:xfrm>
          <a:prstGeom prst="rect">
            <a:avLst/>
          </a:prstGeom>
          <a:solidFill>
            <a:srgbClr val="055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925902" y="2454797"/>
            <a:ext cx="6340197" cy="14229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60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毕业论文中期答辩</a:t>
            </a:r>
            <a:endParaRPr lang="en-US" altLang="zh-CN" sz="60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0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0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基于深度学习的自动机规范挖掘器的设计与实现</a:t>
            </a:r>
            <a:r>
              <a:rPr lang="en-US" altLang="zh-CN" sz="20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20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48095" y="3970265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答辩人：张浩楠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586595" y="3981639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指导老师：张南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1218534" y="450447"/>
            <a:ext cx="4174197" cy="882589"/>
            <a:chOff x="1218532" y="450447"/>
            <a:chExt cx="4174198" cy="882588"/>
          </a:xfrm>
        </p:grpSpPr>
        <p:sp>
          <p:nvSpPr>
            <p:cNvPr id="13" name="文本框 12"/>
            <p:cNvSpPr txBox="1"/>
            <p:nvPr/>
          </p:nvSpPr>
          <p:spPr>
            <a:xfrm>
              <a:off x="1218532" y="450447"/>
              <a:ext cx="3467617" cy="584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solidFill>
                    <a:srgbClr val="0553A7"/>
                  </a:solidFill>
                  <a:latin typeface="中山行书百年纪念版" panose="02010609000101010101" pitchFamily="49" charset="-122"/>
                  <a:ea typeface="中山行书百年纪念版" panose="02010609000101010101" pitchFamily="49" charset="-122"/>
                </a:rPr>
                <a:t>西安电子科技大学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239028" y="994481"/>
              <a:ext cx="415370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solidFill>
                    <a:srgbClr val="0553A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2020</a:t>
              </a:r>
              <a:r>
                <a:rPr lang="zh-CN" altLang="en-US" sz="1600" dirty="0">
                  <a:solidFill>
                    <a:srgbClr val="0553A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计算机科学与技术学院毕业生中期答辩</a:t>
              </a:r>
            </a:p>
          </p:txBody>
        </p:sp>
      </p:grpSp>
      <p:sp>
        <p:nvSpPr>
          <p:cNvPr id="31" name="AutoShape 3"/>
          <p:cNvSpPr>
            <a:spLocks noChangeAspect="1" noChangeArrowheads="1" noTextEdit="1"/>
          </p:cNvSpPr>
          <p:nvPr/>
        </p:nvSpPr>
        <p:spPr bwMode="auto">
          <a:xfrm>
            <a:off x="2855640" y="7317432"/>
            <a:ext cx="3568700" cy="279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2" name="Freeform 5"/>
          <p:cNvSpPr>
            <a:spLocks noEditPoints="1"/>
          </p:cNvSpPr>
          <p:nvPr/>
        </p:nvSpPr>
        <p:spPr bwMode="auto">
          <a:xfrm>
            <a:off x="9501825" y="5210629"/>
            <a:ext cx="2400321" cy="1884136"/>
          </a:xfrm>
          <a:custGeom>
            <a:avLst/>
            <a:gdLst>
              <a:gd name="T0" fmla="*/ 534 w 2878"/>
              <a:gd name="T1" fmla="*/ 1131 h 2253"/>
              <a:gd name="T2" fmla="*/ 534 w 2878"/>
              <a:gd name="T3" fmla="*/ 1973 h 2253"/>
              <a:gd name="T4" fmla="*/ 1439 w 2878"/>
              <a:gd name="T5" fmla="*/ 2253 h 2253"/>
              <a:gd name="T6" fmla="*/ 2344 w 2878"/>
              <a:gd name="T7" fmla="*/ 1973 h 2253"/>
              <a:gd name="T8" fmla="*/ 2344 w 2878"/>
              <a:gd name="T9" fmla="*/ 1131 h 2253"/>
              <a:gd name="T10" fmla="*/ 1439 w 2878"/>
              <a:gd name="T11" fmla="*/ 1611 h 2253"/>
              <a:gd name="T12" fmla="*/ 534 w 2878"/>
              <a:gd name="T13" fmla="*/ 1131 h 2253"/>
              <a:gd name="T14" fmla="*/ 2706 w 2878"/>
              <a:gd name="T15" fmla="*/ 1195 h 2253"/>
              <a:gd name="T16" fmla="*/ 2706 w 2878"/>
              <a:gd name="T17" fmla="*/ 805 h 2253"/>
              <a:gd name="T18" fmla="*/ 2878 w 2878"/>
              <a:gd name="T19" fmla="*/ 724 h 2253"/>
              <a:gd name="T20" fmla="*/ 1439 w 2878"/>
              <a:gd name="T21" fmla="*/ 0 h 2253"/>
              <a:gd name="T22" fmla="*/ 0 w 2878"/>
              <a:gd name="T23" fmla="*/ 715 h 2253"/>
              <a:gd name="T24" fmla="*/ 1439 w 2878"/>
              <a:gd name="T25" fmla="*/ 1430 h 2253"/>
              <a:gd name="T26" fmla="*/ 2525 w 2878"/>
              <a:gd name="T27" fmla="*/ 887 h 2253"/>
              <a:gd name="T28" fmla="*/ 2525 w 2878"/>
              <a:gd name="T29" fmla="*/ 1185 h 2253"/>
              <a:gd name="T30" fmla="*/ 2434 w 2878"/>
              <a:gd name="T31" fmla="*/ 1339 h 2253"/>
              <a:gd name="T32" fmla="*/ 2615 w 2878"/>
              <a:gd name="T33" fmla="*/ 1520 h 2253"/>
              <a:gd name="T34" fmla="*/ 2796 w 2878"/>
              <a:gd name="T35" fmla="*/ 1339 h 2253"/>
              <a:gd name="T36" fmla="*/ 2706 w 2878"/>
              <a:gd name="T37" fmla="*/ 1195 h 2253"/>
              <a:gd name="T38" fmla="*/ 2706 w 2878"/>
              <a:gd name="T39" fmla="*/ 1195 h 22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878" h="2253">
                <a:moveTo>
                  <a:pt x="534" y="1131"/>
                </a:moveTo>
                <a:cubicBezTo>
                  <a:pt x="534" y="1973"/>
                  <a:pt x="534" y="1973"/>
                  <a:pt x="534" y="1973"/>
                </a:cubicBezTo>
                <a:cubicBezTo>
                  <a:pt x="778" y="2145"/>
                  <a:pt x="1095" y="2253"/>
                  <a:pt x="1439" y="2253"/>
                </a:cubicBezTo>
                <a:cubicBezTo>
                  <a:pt x="1783" y="2253"/>
                  <a:pt x="2100" y="2145"/>
                  <a:pt x="2344" y="1973"/>
                </a:cubicBezTo>
                <a:cubicBezTo>
                  <a:pt x="2344" y="1131"/>
                  <a:pt x="2344" y="1131"/>
                  <a:pt x="2344" y="1131"/>
                </a:cubicBezTo>
                <a:cubicBezTo>
                  <a:pt x="1439" y="1611"/>
                  <a:pt x="1439" y="1611"/>
                  <a:pt x="1439" y="1611"/>
                </a:cubicBezTo>
                <a:cubicBezTo>
                  <a:pt x="534" y="1131"/>
                  <a:pt x="534" y="1131"/>
                  <a:pt x="534" y="1131"/>
                </a:cubicBezTo>
                <a:close/>
                <a:moveTo>
                  <a:pt x="2706" y="1195"/>
                </a:moveTo>
                <a:cubicBezTo>
                  <a:pt x="2706" y="805"/>
                  <a:pt x="2706" y="805"/>
                  <a:pt x="2706" y="805"/>
                </a:cubicBezTo>
                <a:cubicBezTo>
                  <a:pt x="2878" y="724"/>
                  <a:pt x="2878" y="724"/>
                  <a:pt x="2878" y="724"/>
                </a:cubicBezTo>
                <a:cubicBezTo>
                  <a:pt x="1439" y="0"/>
                  <a:pt x="1439" y="0"/>
                  <a:pt x="1439" y="0"/>
                </a:cubicBezTo>
                <a:cubicBezTo>
                  <a:pt x="0" y="715"/>
                  <a:pt x="0" y="715"/>
                  <a:pt x="0" y="715"/>
                </a:cubicBezTo>
                <a:cubicBezTo>
                  <a:pt x="1439" y="1430"/>
                  <a:pt x="1439" y="1430"/>
                  <a:pt x="1439" y="1430"/>
                </a:cubicBezTo>
                <a:cubicBezTo>
                  <a:pt x="2525" y="887"/>
                  <a:pt x="2525" y="887"/>
                  <a:pt x="2525" y="887"/>
                </a:cubicBezTo>
                <a:cubicBezTo>
                  <a:pt x="2525" y="1185"/>
                  <a:pt x="2525" y="1185"/>
                  <a:pt x="2525" y="1185"/>
                </a:cubicBezTo>
                <a:cubicBezTo>
                  <a:pt x="2471" y="1213"/>
                  <a:pt x="2434" y="1276"/>
                  <a:pt x="2434" y="1339"/>
                </a:cubicBezTo>
                <a:cubicBezTo>
                  <a:pt x="2434" y="1439"/>
                  <a:pt x="2516" y="1520"/>
                  <a:pt x="2615" y="1520"/>
                </a:cubicBezTo>
                <a:cubicBezTo>
                  <a:pt x="2715" y="1520"/>
                  <a:pt x="2796" y="1439"/>
                  <a:pt x="2796" y="1339"/>
                </a:cubicBezTo>
                <a:cubicBezTo>
                  <a:pt x="2796" y="1285"/>
                  <a:pt x="2760" y="1222"/>
                  <a:pt x="2706" y="1195"/>
                </a:cubicBezTo>
                <a:cubicBezTo>
                  <a:pt x="2706" y="1195"/>
                  <a:pt x="2706" y="1195"/>
                  <a:pt x="2706" y="1195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" name="Freeform 5"/>
          <p:cNvSpPr>
            <a:spLocks noEditPoints="1"/>
          </p:cNvSpPr>
          <p:nvPr/>
        </p:nvSpPr>
        <p:spPr bwMode="auto">
          <a:xfrm>
            <a:off x="3042114" y="4062464"/>
            <a:ext cx="355125" cy="278756"/>
          </a:xfrm>
          <a:custGeom>
            <a:avLst/>
            <a:gdLst>
              <a:gd name="T0" fmla="*/ 534 w 2878"/>
              <a:gd name="T1" fmla="*/ 1131 h 2253"/>
              <a:gd name="T2" fmla="*/ 534 w 2878"/>
              <a:gd name="T3" fmla="*/ 1973 h 2253"/>
              <a:gd name="T4" fmla="*/ 1439 w 2878"/>
              <a:gd name="T5" fmla="*/ 2253 h 2253"/>
              <a:gd name="T6" fmla="*/ 2344 w 2878"/>
              <a:gd name="T7" fmla="*/ 1973 h 2253"/>
              <a:gd name="T8" fmla="*/ 2344 w 2878"/>
              <a:gd name="T9" fmla="*/ 1131 h 2253"/>
              <a:gd name="T10" fmla="*/ 1439 w 2878"/>
              <a:gd name="T11" fmla="*/ 1611 h 2253"/>
              <a:gd name="T12" fmla="*/ 534 w 2878"/>
              <a:gd name="T13" fmla="*/ 1131 h 2253"/>
              <a:gd name="T14" fmla="*/ 2706 w 2878"/>
              <a:gd name="T15" fmla="*/ 1195 h 2253"/>
              <a:gd name="T16" fmla="*/ 2706 w 2878"/>
              <a:gd name="T17" fmla="*/ 805 h 2253"/>
              <a:gd name="T18" fmla="*/ 2878 w 2878"/>
              <a:gd name="T19" fmla="*/ 724 h 2253"/>
              <a:gd name="T20" fmla="*/ 1439 w 2878"/>
              <a:gd name="T21" fmla="*/ 0 h 2253"/>
              <a:gd name="T22" fmla="*/ 0 w 2878"/>
              <a:gd name="T23" fmla="*/ 715 h 2253"/>
              <a:gd name="T24" fmla="*/ 1439 w 2878"/>
              <a:gd name="T25" fmla="*/ 1430 h 2253"/>
              <a:gd name="T26" fmla="*/ 2525 w 2878"/>
              <a:gd name="T27" fmla="*/ 887 h 2253"/>
              <a:gd name="T28" fmla="*/ 2525 w 2878"/>
              <a:gd name="T29" fmla="*/ 1185 h 2253"/>
              <a:gd name="T30" fmla="*/ 2434 w 2878"/>
              <a:gd name="T31" fmla="*/ 1339 h 2253"/>
              <a:gd name="T32" fmla="*/ 2615 w 2878"/>
              <a:gd name="T33" fmla="*/ 1520 h 2253"/>
              <a:gd name="T34" fmla="*/ 2796 w 2878"/>
              <a:gd name="T35" fmla="*/ 1339 h 2253"/>
              <a:gd name="T36" fmla="*/ 2706 w 2878"/>
              <a:gd name="T37" fmla="*/ 1195 h 2253"/>
              <a:gd name="T38" fmla="*/ 2706 w 2878"/>
              <a:gd name="T39" fmla="*/ 1195 h 22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878" h="2253">
                <a:moveTo>
                  <a:pt x="534" y="1131"/>
                </a:moveTo>
                <a:cubicBezTo>
                  <a:pt x="534" y="1973"/>
                  <a:pt x="534" y="1973"/>
                  <a:pt x="534" y="1973"/>
                </a:cubicBezTo>
                <a:cubicBezTo>
                  <a:pt x="778" y="2145"/>
                  <a:pt x="1095" y="2253"/>
                  <a:pt x="1439" y="2253"/>
                </a:cubicBezTo>
                <a:cubicBezTo>
                  <a:pt x="1783" y="2253"/>
                  <a:pt x="2100" y="2145"/>
                  <a:pt x="2344" y="1973"/>
                </a:cubicBezTo>
                <a:cubicBezTo>
                  <a:pt x="2344" y="1131"/>
                  <a:pt x="2344" y="1131"/>
                  <a:pt x="2344" y="1131"/>
                </a:cubicBezTo>
                <a:cubicBezTo>
                  <a:pt x="1439" y="1611"/>
                  <a:pt x="1439" y="1611"/>
                  <a:pt x="1439" y="1611"/>
                </a:cubicBezTo>
                <a:cubicBezTo>
                  <a:pt x="534" y="1131"/>
                  <a:pt x="534" y="1131"/>
                  <a:pt x="534" y="1131"/>
                </a:cubicBezTo>
                <a:close/>
                <a:moveTo>
                  <a:pt x="2706" y="1195"/>
                </a:moveTo>
                <a:cubicBezTo>
                  <a:pt x="2706" y="805"/>
                  <a:pt x="2706" y="805"/>
                  <a:pt x="2706" y="805"/>
                </a:cubicBezTo>
                <a:cubicBezTo>
                  <a:pt x="2878" y="724"/>
                  <a:pt x="2878" y="724"/>
                  <a:pt x="2878" y="724"/>
                </a:cubicBezTo>
                <a:cubicBezTo>
                  <a:pt x="1439" y="0"/>
                  <a:pt x="1439" y="0"/>
                  <a:pt x="1439" y="0"/>
                </a:cubicBezTo>
                <a:cubicBezTo>
                  <a:pt x="0" y="715"/>
                  <a:pt x="0" y="715"/>
                  <a:pt x="0" y="715"/>
                </a:cubicBezTo>
                <a:cubicBezTo>
                  <a:pt x="1439" y="1430"/>
                  <a:pt x="1439" y="1430"/>
                  <a:pt x="1439" y="1430"/>
                </a:cubicBezTo>
                <a:cubicBezTo>
                  <a:pt x="2525" y="887"/>
                  <a:pt x="2525" y="887"/>
                  <a:pt x="2525" y="887"/>
                </a:cubicBezTo>
                <a:cubicBezTo>
                  <a:pt x="2525" y="1185"/>
                  <a:pt x="2525" y="1185"/>
                  <a:pt x="2525" y="1185"/>
                </a:cubicBezTo>
                <a:cubicBezTo>
                  <a:pt x="2471" y="1213"/>
                  <a:pt x="2434" y="1276"/>
                  <a:pt x="2434" y="1339"/>
                </a:cubicBezTo>
                <a:cubicBezTo>
                  <a:pt x="2434" y="1439"/>
                  <a:pt x="2516" y="1520"/>
                  <a:pt x="2615" y="1520"/>
                </a:cubicBezTo>
                <a:cubicBezTo>
                  <a:pt x="2715" y="1520"/>
                  <a:pt x="2796" y="1439"/>
                  <a:pt x="2796" y="1339"/>
                </a:cubicBezTo>
                <a:cubicBezTo>
                  <a:pt x="2796" y="1285"/>
                  <a:pt x="2760" y="1222"/>
                  <a:pt x="2706" y="1195"/>
                </a:cubicBezTo>
                <a:cubicBezTo>
                  <a:pt x="2706" y="1195"/>
                  <a:pt x="2706" y="1195"/>
                  <a:pt x="2706" y="1195"/>
                </a:cubicBezTo>
                <a:close/>
              </a:path>
            </a:pathLst>
          </a:custGeom>
          <a:solidFill>
            <a:srgbClr val="DD4E4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" name="Freeform 5"/>
          <p:cNvSpPr>
            <a:spLocks noEditPoints="1"/>
          </p:cNvSpPr>
          <p:nvPr/>
        </p:nvSpPr>
        <p:spPr bwMode="auto">
          <a:xfrm>
            <a:off x="6294601" y="4062464"/>
            <a:ext cx="355125" cy="278756"/>
          </a:xfrm>
          <a:custGeom>
            <a:avLst/>
            <a:gdLst>
              <a:gd name="T0" fmla="*/ 534 w 2878"/>
              <a:gd name="T1" fmla="*/ 1131 h 2253"/>
              <a:gd name="T2" fmla="*/ 534 w 2878"/>
              <a:gd name="T3" fmla="*/ 1973 h 2253"/>
              <a:gd name="T4" fmla="*/ 1439 w 2878"/>
              <a:gd name="T5" fmla="*/ 2253 h 2253"/>
              <a:gd name="T6" fmla="*/ 2344 w 2878"/>
              <a:gd name="T7" fmla="*/ 1973 h 2253"/>
              <a:gd name="T8" fmla="*/ 2344 w 2878"/>
              <a:gd name="T9" fmla="*/ 1131 h 2253"/>
              <a:gd name="T10" fmla="*/ 1439 w 2878"/>
              <a:gd name="T11" fmla="*/ 1611 h 2253"/>
              <a:gd name="T12" fmla="*/ 534 w 2878"/>
              <a:gd name="T13" fmla="*/ 1131 h 2253"/>
              <a:gd name="T14" fmla="*/ 2706 w 2878"/>
              <a:gd name="T15" fmla="*/ 1195 h 2253"/>
              <a:gd name="T16" fmla="*/ 2706 w 2878"/>
              <a:gd name="T17" fmla="*/ 805 h 2253"/>
              <a:gd name="T18" fmla="*/ 2878 w 2878"/>
              <a:gd name="T19" fmla="*/ 724 h 2253"/>
              <a:gd name="T20" fmla="*/ 1439 w 2878"/>
              <a:gd name="T21" fmla="*/ 0 h 2253"/>
              <a:gd name="T22" fmla="*/ 0 w 2878"/>
              <a:gd name="T23" fmla="*/ 715 h 2253"/>
              <a:gd name="T24" fmla="*/ 1439 w 2878"/>
              <a:gd name="T25" fmla="*/ 1430 h 2253"/>
              <a:gd name="T26" fmla="*/ 2525 w 2878"/>
              <a:gd name="T27" fmla="*/ 887 h 2253"/>
              <a:gd name="T28" fmla="*/ 2525 w 2878"/>
              <a:gd name="T29" fmla="*/ 1185 h 2253"/>
              <a:gd name="T30" fmla="*/ 2434 w 2878"/>
              <a:gd name="T31" fmla="*/ 1339 h 2253"/>
              <a:gd name="T32" fmla="*/ 2615 w 2878"/>
              <a:gd name="T33" fmla="*/ 1520 h 2253"/>
              <a:gd name="T34" fmla="*/ 2796 w 2878"/>
              <a:gd name="T35" fmla="*/ 1339 h 2253"/>
              <a:gd name="T36" fmla="*/ 2706 w 2878"/>
              <a:gd name="T37" fmla="*/ 1195 h 2253"/>
              <a:gd name="T38" fmla="*/ 2706 w 2878"/>
              <a:gd name="T39" fmla="*/ 1195 h 22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878" h="2253">
                <a:moveTo>
                  <a:pt x="534" y="1131"/>
                </a:moveTo>
                <a:cubicBezTo>
                  <a:pt x="534" y="1973"/>
                  <a:pt x="534" y="1973"/>
                  <a:pt x="534" y="1973"/>
                </a:cubicBezTo>
                <a:cubicBezTo>
                  <a:pt x="778" y="2145"/>
                  <a:pt x="1095" y="2253"/>
                  <a:pt x="1439" y="2253"/>
                </a:cubicBezTo>
                <a:cubicBezTo>
                  <a:pt x="1783" y="2253"/>
                  <a:pt x="2100" y="2145"/>
                  <a:pt x="2344" y="1973"/>
                </a:cubicBezTo>
                <a:cubicBezTo>
                  <a:pt x="2344" y="1131"/>
                  <a:pt x="2344" y="1131"/>
                  <a:pt x="2344" y="1131"/>
                </a:cubicBezTo>
                <a:cubicBezTo>
                  <a:pt x="1439" y="1611"/>
                  <a:pt x="1439" y="1611"/>
                  <a:pt x="1439" y="1611"/>
                </a:cubicBezTo>
                <a:cubicBezTo>
                  <a:pt x="534" y="1131"/>
                  <a:pt x="534" y="1131"/>
                  <a:pt x="534" y="1131"/>
                </a:cubicBezTo>
                <a:close/>
                <a:moveTo>
                  <a:pt x="2706" y="1195"/>
                </a:moveTo>
                <a:cubicBezTo>
                  <a:pt x="2706" y="805"/>
                  <a:pt x="2706" y="805"/>
                  <a:pt x="2706" y="805"/>
                </a:cubicBezTo>
                <a:cubicBezTo>
                  <a:pt x="2878" y="724"/>
                  <a:pt x="2878" y="724"/>
                  <a:pt x="2878" y="724"/>
                </a:cubicBezTo>
                <a:cubicBezTo>
                  <a:pt x="1439" y="0"/>
                  <a:pt x="1439" y="0"/>
                  <a:pt x="1439" y="0"/>
                </a:cubicBezTo>
                <a:cubicBezTo>
                  <a:pt x="0" y="715"/>
                  <a:pt x="0" y="715"/>
                  <a:pt x="0" y="715"/>
                </a:cubicBezTo>
                <a:cubicBezTo>
                  <a:pt x="1439" y="1430"/>
                  <a:pt x="1439" y="1430"/>
                  <a:pt x="1439" y="1430"/>
                </a:cubicBezTo>
                <a:cubicBezTo>
                  <a:pt x="2525" y="887"/>
                  <a:pt x="2525" y="887"/>
                  <a:pt x="2525" y="887"/>
                </a:cubicBezTo>
                <a:cubicBezTo>
                  <a:pt x="2525" y="1185"/>
                  <a:pt x="2525" y="1185"/>
                  <a:pt x="2525" y="1185"/>
                </a:cubicBezTo>
                <a:cubicBezTo>
                  <a:pt x="2471" y="1213"/>
                  <a:pt x="2434" y="1276"/>
                  <a:pt x="2434" y="1339"/>
                </a:cubicBezTo>
                <a:cubicBezTo>
                  <a:pt x="2434" y="1439"/>
                  <a:pt x="2516" y="1520"/>
                  <a:pt x="2615" y="1520"/>
                </a:cubicBezTo>
                <a:cubicBezTo>
                  <a:pt x="2715" y="1520"/>
                  <a:pt x="2796" y="1439"/>
                  <a:pt x="2796" y="1339"/>
                </a:cubicBezTo>
                <a:cubicBezTo>
                  <a:pt x="2796" y="1285"/>
                  <a:pt x="2760" y="1222"/>
                  <a:pt x="2706" y="1195"/>
                </a:cubicBezTo>
                <a:cubicBezTo>
                  <a:pt x="2706" y="1195"/>
                  <a:pt x="2706" y="1195"/>
                  <a:pt x="2706" y="1195"/>
                </a:cubicBezTo>
                <a:close/>
              </a:path>
            </a:pathLst>
          </a:custGeom>
          <a:solidFill>
            <a:srgbClr val="DD4E4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0C528AC-29FE-4F1E-AC15-CCABCA4DDB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414" y="450447"/>
            <a:ext cx="845832" cy="84583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B6F9DB6-0757-4D00-B28B-981464B1DE99}"/>
              </a:ext>
            </a:extLst>
          </p:cNvPr>
          <p:cNvSpPr txBox="1"/>
          <p:nvPr/>
        </p:nvSpPr>
        <p:spPr>
          <a:xfrm>
            <a:off x="10545237" y="6365241"/>
            <a:ext cx="30716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2020.3.27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33760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279" y="-12299"/>
            <a:ext cx="12274379" cy="684834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" name="矩形 1"/>
          <p:cNvSpPr/>
          <p:nvPr/>
        </p:nvSpPr>
        <p:spPr>
          <a:xfrm rot="16200000">
            <a:off x="-5424059" y="-244932"/>
            <a:ext cx="12733161" cy="2001162"/>
          </a:xfrm>
          <a:prstGeom prst="rect">
            <a:avLst/>
          </a:prstGeom>
          <a:solidFill>
            <a:srgbClr val="055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75311" y="2705726"/>
            <a:ext cx="74892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  <a:endParaRPr lang="en-US" altLang="zh-CN" sz="44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44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5425502" y="1764817"/>
            <a:ext cx="3384379" cy="3294113"/>
            <a:chOff x="5457912" y="1392188"/>
            <a:chExt cx="3384378" cy="3294112"/>
          </a:xfrm>
        </p:grpSpPr>
        <p:grpSp>
          <p:nvGrpSpPr>
            <p:cNvPr id="5" name="组合 4"/>
            <p:cNvGrpSpPr/>
            <p:nvPr/>
          </p:nvGrpSpPr>
          <p:grpSpPr>
            <a:xfrm>
              <a:off x="5457912" y="1392188"/>
              <a:ext cx="3384378" cy="639812"/>
              <a:chOff x="1343472" y="2420888"/>
              <a:chExt cx="3384378" cy="639812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1343472" y="2420888"/>
                <a:ext cx="612328" cy="612328"/>
              </a:xfrm>
              <a:prstGeom prst="rect">
                <a:avLst/>
              </a:prstGeom>
              <a:solidFill>
                <a:srgbClr val="0553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1346259" y="2463800"/>
                <a:ext cx="6329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>
                    <a:solidFill>
                      <a:schemeClr val="bg1">
                        <a:lumMod val="9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zh-CN" altLang="en-US" sz="280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1919536" y="2420888"/>
                <a:ext cx="2664296" cy="6398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2387658" y="2476500"/>
                <a:ext cx="234019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背景分析</a:t>
                </a: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5457912" y="2281188"/>
              <a:ext cx="3384378" cy="639812"/>
              <a:chOff x="1343472" y="2420888"/>
              <a:chExt cx="3384378" cy="639812"/>
            </a:xfrm>
          </p:grpSpPr>
          <p:sp>
            <p:nvSpPr>
              <p:cNvPr id="11" name="矩形 10"/>
              <p:cNvSpPr/>
              <p:nvPr/>
            </p:nvSpPr>
            <p:spPr>
              <a:xfrm>
                <a:off x="1343472" y="2420888"/>
                <a:ext cx="612328" cy="612328"/>
              </a:xfrm>
              <a:prstGeom prst="rect">
                <a:avLst/>
              </a:prstGeom>
              <a:solidFill>
                <a:srgbClr val="0553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1346259" y="2463800"/>
                <a:ext cx="6329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>
                    <a:solidFill>
                      <a:schemeClr val="bg1">
                        <a:lumMod val="9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02</a:t>
                </a:r>
                <a:endParaRPr lang="zh-CN" altLang="en-US" sz="280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1919536" y="2420888"/>
                <a:ext cx="2664296" cy="6398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2387658" y="2476500"/>
                <a:ext cx="234019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研究步骤</a:t>
                </a: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5457912" y="3182888"/>
              <a:ext cx="3384378" cy="639812"/>
              <a:chOff x="1343472" y="2420888"/>
              <a:chExt cx="3384378" cy="639812"/>
            </a:xfrm>
          </p:grpSpPr>
          <p:sp>
            <p:nvSpPr>
              <p:cNvPr id="16" name="矩形 15"/>
              <p:cNvSpPr/>
              <p:nvPr/>
            </p:nvSpPr>
            <p:spPr>
              <a:xfrm>
                <a:off x="1343472" y="2420888"/>
                <a:ext cx="612328" cy="612328"/>
              </a:xfrm>
              <a:prstGeom prst="rect">
                <a:avLst/>
              </a:prstGeom>
              <a:solidFill>
                <a:srgbClr val="0553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1346259" y="2463800"/>
                <a:ext cx="6329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>
                    <a:solidFill>
                      <a:schemeClr val="bg1">
                        <a:lumMod val="9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03</a:t>
                </a:r>
                <a:endParaRPr lang="zh-CN" altLang="en-US" sz="280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1919536" y="2420888"/>
                <a:ext cx="2664296" cy="6398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文本框 18"/>
              <p:cNvSpPr txBox="1"/>
              <p:nvPr/>
            </p:nvSpPr>
            <p:spPr>
              <a:xfrm>
                <a:off x="2387658" y="2476500"/>
                <a:ext cx="234019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进展及成果</a:t>
                </a:r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5457912" y="4046488"/>
              <a:ext cx="3384378" cy="639812"/>
              <a:chOff x="1343472" y="2420888"/>
              <a:chExt cx="3384378" cy="639812"/>
            </a:xfrm>
          </p:grpSpPr>
          <p:sp>
            <p:nvSpPr>
              <p:cNvPr id="21" name="矩形 20"/>
              <p:cNvSpPr/>
              <p:nvPr/>
            </p:nvSpPr>
            <p:spPr>
              <a:xfrm>
                <a:off x="1343472" y="2420888"/>
                <a:ext cx="612328" cy="612328"/>
              </a:xfrm>
              <a:prstGeom prst="rect">
                <a:avLst/>
              </a:prstGeom>
              <a:solidFill>
                <a:srgbClr val="0553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1346259" y="2463800"/>
                <a:ext cx="6329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>
                    <a:solidFill>
                      <a:schemeClr val="bg1">
                        <a:lumMod val="9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04</a:t>
                </a:r>
                <a:endParaRPr lang="zh-CN" altLang="en-US" sz="280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1919536" y="2420888"/>
                <a:ext cx="2664296" cy="6398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2387658" y="2476500"/>
                <a:ext cx="234019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后期工作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32068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553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4680079" y="2053524"/>
            <a:ext cx="3926206" cy="2824268"/>
            <a:chOff x="4366118" y="1988840"/>
            <a:chExt cx="3926206" cy="2824268"/>
          </a:xfrm>
        </p:grpSpPr>
        <p:sp>
          <p:nvSpPr>
            <p:cNvPr id="3" name="文本框 2"/>
            <p:cNvSpPr txBox="1"/>
            <p:nvPr/>
          </p:nvSpPr>
          <p:spPr>
            <a:xfrm>
              <a:off x="4667856" y="2987220"/>
              <a:ext cx="362446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01. </a:t>
              </a:r>
              <a:r>
                <a:rPr lang="zh-CN" altLang="en-US" sz="4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背景分析</a:t>
              </a:r>
            </a:p>
          </p:txBody>
        </p:sp>
        <p:cxnSp>
          <p:nvCxnSpPr>
            <p:cNvPr id="5" name="直接连接符 4"/>
            <p:cNvCxnSpPr>
              <a:cxnSpLocks/>
            </p:cNvCxnSpPr>
            <p:nvPr/>
          </p:nvCxnSpPr>
          <p:spPr>
            <a:xfrm>
              <a:off x="4366118" y="1988840"/>
              <a:ext cx="0" cy="2824268"/>
            </a:xfrm>
            <a:prstGeom prst="line">
              <a:avLst/>
            </a:prstGeom>
            <a:ln w="12700">
              <a:gradFill>
                <a:gsLst>
                  <a:gs pos="0">
                    <a:schemeClr val="bg1">
                      <a:alpha val="0"/>
                    </a:schemeClr>
                  </a:gs>
                  <a:gs pos="50000">
                    <a:schemeClr val="tx1"/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  <a:effectLst>
              <a:outerShdw blurRad="50800" dist="254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D2CFBEDB-2F23-4E26-85E0-93D31AB49C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690" b="97594" l="3102" r="97487">
                        <a14:foregroundMark x1="12567" y1="21925" x2="12781" y2="26524"/>
                        <a14:foregroundMark x1="4866" y1="42781" x2="4866" y2="42781"/>
                        <a14:foregroundMark x1="3102" y1="44973" x2="3102" y2="44973"/>
                        <a14:foregroundMark x1="45508" y1="97647" x2="45508" y2="97647"/>
                        <a14:foregroundMark x1="94278" y1="41658" x2="94278" y2="41658"/>
                        <a14:foregroundMark x1="97540" y1="48235" x2="97540" y2="48235"/>
                        <a14:foregroundMark x1="6631" y1="48021" x2="6631" y2="48021"/>
                        <a14:foregroundMark x1="46417" y1="32674" x2="46417" y2="32674"/>
                        <a14:foregroundMark x1="41551" y1="37701" x2="56738" y2="38128"/>
                        <a14:foregroundMark x1="47914" y1="3690" x2="53850" y2="4759"/>
                        <a14:backgroundMark x1="4225" y1="10481" x2="4225" y2="10481"/>
                        <a14:backgroundMark x1="5348" y1="4545" x2="31444" y2="6310"/>
                        <a14:backgroundMark x1="6417" y1="4545" x2="3797" y2="25401"/>
                        <a14:backgroundMark x1="4011" y1="23904" x2="27059" y2="4973"/>
                        <a14:backgroundMark x1="67273" y1="2995" x2="94492" y2="13529"/>
                        <a14:backgroundMark x1="95134" y1="17754" x2="95561" y2="33743"/>
                        <a14:backgroundMark x1="98021" y1="65187" x2="96257" y2="89786"/>
                        <a14:backgroundMark x1="73636" y1="95936" x2="91390" y2="91497"/>
                        <a14:backgroundMark x1="25294" y1="95455" x2="909" y2="88877"/>
                        <a14:backgroundMark x1="7273" y1="64492" x2="9037" y2="822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3132" y="2964398"/>
            <a:ext cx="856947" cy="856947"/>
          </a:xfrm>
          <a:prstGeom prst="rect">
            <a:avLst/>
          </a:prstGeom>
          <a:solidFill>
            <a:schemeClr val="tx1">
              <a:alpha val="0"/>
            </a:schemeClr>
          </a:solidFill>
        </p:spPr>
      </p:pic>
    </p:spTree>
    <p:extLst>
      <p:ext uri="{BB962C8B-B14F-4D97-AF65-F5344CB8AC3E}">
        <p14:creationId xmlns:p14="http://schemas.microsoft.com/office/powerpoint/2010/main" val="99989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379" y="0"/>
            <a:ext cx="12274379" cy="684834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" name="矩形 1"/>
          <p:cNvSpPr/>
          <p:nvPr/>
        </p:nvSpPr>
        <p:spPr>
          <a:xfrm rot="16200000">
            <a:off x="-2054998" y="2019370"/>
            <a:ext cx="6880928" cy="2796331"/>
          </a:xfrm>
          <a:prstGeom prst="rect">
            <a:avLst/>
          </a:prstGeom>
          <a:solidFill>
            <a:srgbClr val="055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03856" y="1113066"/>
            <a:ext cx="16458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背景分析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46793" y="2285276"/>
            <a:ext cx="2340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研究步骤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97986" y="3457486"/>
            <a:ext cx="2340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进展及成果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27049" y="4629696"/>
            <a:ext cx="2340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后期工作</a:t>
            </a:r>
          </a:p>
        </p:txBody>
      </p:sp>
      <p:sp>
        <p:nvSpPr>
          <p:cNvPr id="9" name="等腰三角形 8"/>
          <p:cNvSpPr/>
          <p:nvPr/>
        </p:nvSpPr>
        <p:spPr>
          <a:xfrm rot="5400000">
            <a:off x="2757585" y="1250655"/>
            <a:ext cx="361184" cy="311367"/>
          </a:xfrm>
          <a:prstGeom prst="triangle">
            <a:avLst/>
          </a:prstGeom>
          <a:solidFill>
            <a:srgbClr val="055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B97559C-99D8-48C7-8C83-F3343AF9ED50}"/>
              </a:ext>
            </a:extLst>
          </p:cNvPr>
          <p:cNvSpPr txBox="1"/>
          <p:nvPr/>
        </p:nvSpPr>
        <p:spPr>
          <a:xfrm>
            <a:off x="3190337" y="514835"/>
            <a:ext cx="8279591" cy="5465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/>
              <a:t>       </a:t>
            </a:r>
            <a:r>
              <a:rPr lang="zh-CN" altLang="en-US" dirty="0"/>
              <a:t>由于为了快速发展以满足客户的需求，一些库和软件应用通常在没有文档的情况下发布。即使有正式的文档说明，随着软件系统的快速发展，它们很可能过时。与此同时，作为一项代价昂贵且耗时的过程，编写规范化的文档需要开发人员具备一定的能力和精力。缺乏规范化的文档可能会影响系统的可维护性和可靠性、开发人员可能难以读懂一段代码；更甚之，开发人员无法使用正式规范作为输入的代码调试和测试等工具。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zh-CN" altLang="en-US" dirty="0"/>
              <a:t>        目前，很多自动化方法被用来代替人工起草规范化文档。本次工作着眼于规范挖掘算法上，该算法从算法的执行轨迹中推断出有限状态自动机（</a:t>
            </a:r>
            <a:r>
              <a:rPr lang="en-US" altLang="zh-CN" dirty="0"/>
              <a:t>FSA</a:t>
            </a:r>
            <a:r>
              <a:rPr lang="zh-CN" altLang="en-US" dirty="0"/>
              <a:t>）。</a:t>
            </a:r>
            <a:r>
              <a:rPr lang="en-US" altLang="zh-CN" dirty="0"/>
              <a:t>[1]Ivo Krka ,</a:t>
            </a:r>
            <a:r>
              <a:rPr lang="en-US" altLang="zh-CN" dirty="0" err="1"/>
              <a:t>Yuriy</a:t>
            </a:r>
            <a:r>
              <a:rPr lang="en-US" altLang="zh-CN" dirty="0"/>
              <a:t> Brun,</a:t>
            </a:r>
            <a:r>
              <a:rPr lang="zh-CN" altLang="en-US" dirty="0"/>
              <a:t>和</a:t>
            </a:r>
            <a:r>
              <a:rPr lang="en-US" altLang="zh-CN" dirty="0"/>
              <a:t> Nenad Medvidovic</a:t>
            </a:r>
            <a:r>
              <a:rPr lang="zh-CN" altLang="en-US" dirty="0"/>
              <a:t>以及其他众多研究人员提出了很多算法来提高</a:t>
            </a:r>
            <a:r>
              <a:rPr lang="en-US" altLang="zh-CN" dirty="0"/>
              <a:t>FSA</a:t>
            </a:r>
            <a:r>
              <a:rPr lang="zh-CN" altLang="en-US" dirty="0"/>
              <a:t>模型的准确度</a:t>
            </a:r>
            <a:r>
              <a:rPr lang="en-US" altLang="zh-CN" dirty="0"/>
              <a:t>,</a:t>
            </a:r>
            <a:r>
              <a:rPr lang="zh-CN" altLang="en-US" dirty="0"/>
              <a:t>例如</a:t>
            </a:r>
            <a:r>
              <a:rPr lang="en-US" altLang="zh-CN" dirty="0"/>
              <a:t>k-tails</a:t>
            </a:r>
            <a:r>
              <a:rPr lang="zh-CN" altLang="en-US" dirty="0"/>
              <a:t>。然而挖掘出的规范的质量并不完美，</a:t>
            </a:r>
            <a:r>
              <a:rPr lang="en-US" altLang="zh-CN" dirty="0"/>
              <a:t>FSA</a:t>
            </a:r>
            <a:r>
              <a:rPr lang="zh-CN" altLang="en-US" dirty="0"/>
              <a:t>泛化能力不高或是过拟合。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en-US" altLang="zh-CN" dirty="0"/>
              <a:t>        </a:t>
            </a:r>
            <a:r>
              <a:rPr lang="zh-CN" altLang="en-US" dirty="0"/>
              <a:t>所以，为了挖掘更加准确的</a:t>
            </a:r>
            <a:r>
              <a:rPr lang="en-US" altLang="zh-CN" dirty="0"/>
              <a:t>FSA</a:t>
            </a:r>
            <a:r>
              <a:rPr lang="zh-CN" altLang="en-US" dirty="0"/>
              <a:t>模型，本文通过深度学习来训练一个语言模型，利用输入序列构造</a:t>
            </a:r>
            <a:r>
              <a:rPr lang="en-US" altLang="zh-CN" dirty="0"/>
              <a:t>PTA</a:t>
            </a:r>
            <a:r>
              <a:rPr lang="zh-CN" altLang="en-US" dirty="0"/>
              <a:t>树，将训练好的模型应用在前缀树节点上，从而提取出一系列特征；将特征集输入到聚类算法中以此来合并相似的节点（特征）；最后的输出是一个反映输入序列的泛化的</a:t>
            </a:r>
            <a:r>
              <a:rPr lang="en-US" altLang="zh-CN" dirty="0"/>
              <a:t>FSA</a:t>
            </a:r>
            <a:r>
              <a:rPr lang="zh-CN" altLang="en-US" dirty="0"/>
              <a:t>模型。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28EC114-5CD8-44A6-A03B-1AB2029B62DD}"/>
              </a:ext>
            </a:extLst>
          </p:cNvPr>
          <p:cNvSpPr txBox="1"/>
          <p:nvPr/>
        </p:nvSpPr>
        <p:spPr>
          <a:xfrm>
            <a:off x="3204144" y="6248182"/>
            <a:ext cx="856734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[1] IvoKrka,YuriyBrun,andNenadMedvidovic.2014.Automatic mining of specifications from invocation traces and method </a:t>
            </a:r>
            <a:r>
              <a:rPr lang="en-US" altLang="zh-CN" sz="1100" dirty="0" err="1"/>
              <a:t>invariants.In</a:t>
            </a:r>
            <a:r>
              <a:rPr lang="en-US" altLang="zh-CN" sz="1100" dirty="0"/>
              <a:t> Proceedings of the 22nd ACM SIGSOFT International Symposium on Foundations of Software Engineering, (FSE-22), Hong Kong, China, November 16 - 22, 2014.178–189. </a:t>
            </a:r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982638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53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4680079" y="2053524"/>
            <a:ext cx="3926206" cy="2824268"/>
            <a:chOff x="4366118" y="1988840"/>
            <a:chExt cx="3926206" cy="2824268"/>
          </a:xfrm>
        </p:grpSpPr>
        <p:sp>
          <p:nvSpPr>
            <p:cNvPr id="3" name="文本框 2"/>
            <p:cNvSpPr txBox="1"/>
            <p:nvPr/>
          </p:nvSpPr>
          <p:spPr>
            <a:xfrm>
              <a:off x="4667856" y="2987220"/>
              <a:ext cx="362446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02. </a:t>
              </a:r>
              <a:r>
                <a:rPr lang="zh-CN" altLang="en-US" sz="4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研究步骤</a:t>
              </a:r>
            </a:p>
          </p:txBody>
        </p:sp>
        <p:cxnSp>
          <p:nvCxnSpPr>
            <p:cNvPr id="5" name="直接连接符 4"/>
            <p:cNvCxnSpPr>
              <a:cxnSpLocks/>
            </p:cNvCxnSpPr>
            <p:nvPr/>
          </p:nvCxnSpPr>
          <p:spPr>
            <a:xfrm>
              <a:off x="4366118" y="1988840"/>
              <a:ext cx="0" cy="2824268"/>
            </a:xfrm>
            <a:prstGeom prst="line">
              <a:avLst/>
            </a:prstGeom>
            <a:ln w="12700">
              <a:gradFill>
                <a:gsLst>
                  <a:gs pos="0">
                    <a:schemeClr val="bg1">
                      <a:alpha val="0"/>
                    </a:schemeClr>
                  </a:gs>
                  <a:gs pos="50000">
                    <a:schemeClr val="tx1"/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  <a:effectLst>
              <a:outerShdw blurRad="50800" dist="254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D2CFBEDB-2F23-4E26-85E0-93D31AB49C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690" b="97594" l="3102" r="97487">
                        <a14:foregroundMark x1="12567" y1="21925" x2="12781" y2="26524"/>
                        <a14:foregroundMark x1="4866" y1="42781" x2="4866" y2="42781"/>
                        <a14:foregroundMark x1="3102" y1="44973" x2="3102" y2="44973"/>
                        <a14:foregroundMark x1="45508" y1="97647" x2="45508" y2="97647"/>
                        <a14:foregroundMark x1="94278" y1="41658" x2="94278" y2="41658"/>
                        <a14:foregroundMark x1="97540" y1="48235" x2="97540" y2="48235"/>
                        <a14:foregroundMark x1="6631" y1="48021" x2="6631" y2="48021"/>
                        <a14:foregroundMark x1="46417" y1="32674" x2="46417" y2="32674"/>
                        <a14:foregroundMark x1="41551" y1="37701" x2="56738" y2="38128"/>
                        <a14:foregroundMark x1="47914" y1="3690" x2="53850" y2="4759"/>
                        <a14:backgroundMark x1="4225" y1="10481" x2="4225" y2="10481"/>
                        <a14:backgroundMark x1="5348" y1="4545" x2="31444" y2="6310"/>
                        <a14:backgroundMark x1="6417" y1="4545" x2="3797" y2="25401"/>
                        <a14:backgroundMark x1="4011" y1="23904" x2="27059" y2="4973"/>
                        <a14:backgroundMark x1="67273" y1="2995" x2="94492" y2="13529"/>
                        <a14:backgroundMark x1="95134" y1="17754" x2="95561" y2="33743"/>
                        <a14:backgroundMark x1="98021" y1="65187" x2="96257" y2="89786"/>
                        <a14:backgroundMark x1="73636" y1="95936" x2="91390" y2="91497"/>
                        <a14:backgroundMark x1="25294" y1="95455" x2="909" y2="88877"/>
                        <a14:backgroundMark x1="7273" y1="64492" x2="9037" y2="822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3132" y="2964398"/>
            <a:ext cx="856947" cy="856947"/>
          </a:xfrm>
          <a:prstGeom prst="rect">
            <a:avLst/>
          </a:prstGeom>
          <a:solidFill>
            <a:schemeClr val="tx1">
              <a:alpha val="0"/>
            </a:schemeClr>
          </a:solidFill>
        </p:spPr>
      </p:pic>
    </p:spTree>
    <p:extLst>
      <p:ext uri="{BB962C8B-B14F-4D97-AF65-F5344CB8AC3E}">
        <p14:creationId xmlns:p14="http://schemas.microsoft.com/office/powerpoint/2010/main" val="3967065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54"/>
            <a:ext cx="12274379" cy="684834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" name="矩形 1"/>
          <p:cNvSpPr/>
          <p:nvPr/>
        </p:nvSpPr>
        <p:spPr>
          <a:xfrm>
            <a:off x="-58058" y="1"/>
            <a:ext cx="12308115" cy="1175656"/>
          </a:xfrm>
          <a:prstGeom prst="rect">
            <a:avLst/>
          </a:prstGeom>
          <a:solidFill>
            <a:srgbClr val="055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rgbClr val="0553A7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67444" y="387774"/>
            <a:ext cx="16458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论文绪论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929891" y="387774"/>
            <a:ext cx="23401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研究步骤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888088" y="387774"/>
            <a:ext cx="15526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进展及成果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0002468" y="387774"/>
            <a:ext cx="23401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后期工作</a:t>
            </a:r>
          </a:p>
        </p:txBody>
      </p:sp>
      <p:sp>
        <p:nvSpPr>
          <p:cNvPr id="9" name="等腰三角形 8"/>
          <p:cNvSpPr/>
          <p:nvPr/>
        </p:nvSpPr>
        <p:spPr>
          <a:xfrm rot="10800000">
            <a:off x="4367808" y="1158804"/>
            <a:ext cx="290416" cy="178103"/>
          </a:xfrm>
          <a:prstGeom prst="triangle">
            <a:avLst/>
          </a:prstGeom>
          <a:solidFill>
            <a:srgbClr val="055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4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72445C7-C4DE-4600-9296-CF9E77E6C571}"/>
              </a:ext>
            </a:extLst>
          </p:cNvPr>
          <p:cNvSpPr txBox="1"/>
          <p:nvPr/>
        </p:nvSpPr>
        <p:spPr>
          <a:xfrm>
            <a:off x="479376" y="1464081"/>
            <a:ext cx="1123324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为了利用深度学习网络推断出更具高能力和准确性的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FSA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模型，本文拟进行以下研究步骤：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0AC36D9-8EC6-45D4-9DE1-1CEEBF2C2C9A}"/>
              </a:ext>
            </a:extLst>
          </p:cNvPr>
          <p:cNvSpPr txBox="1"/>
          <p:nvPr/>
        </p:nvSpPr>
        <p:spPr>
          <a:xfrm>
            <a:off x="839416" y="2564904"/>
            <a:ext cx="4752528" cy="3674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准备训练集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子集挑选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3.RNNLM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搭建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—LSTM</a:t>
            </a:r>
          </a:p>
          <a:p>
            <a:pPr>
              <a:lnSpc>
                <a:spcPct val="20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特征抽取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自动机构建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9C9A960-9C23-42F2-A53E-FAEA486FB96C}"/>
              </a:ext>
            </a:extLst>
          </p:cNvPr>
          <p:cNvSpPr txBox="1"/>
          <p:nvPr/>
        </p:nvSpPr>
        <p:spPr>
          <a:xfrm>
            <a:off x="7248128" y="5495372"/>
            <a:ext cx="46805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Framework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E249257-952B-48FB-B75B-FE6393D07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1784" y="3017278"/>
            <a:ext cx="7940128" cy="1915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762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25" y="0"/>
            <a:ext cx="12274379" cy="684834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5" name="等腰三角形 44"/>
          <p:cNvSpPr/>
          <p:nvPr/>
        </p:nvSpPr>
        <p:spPr>
          <a:xfrm rot="10800000" flipV="1">
            <a:off x="5949719" y="3735020"/>
            <a:ext cx="290416" cy="17810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2343129-AF90-421D-9FB0-72D96B9E27EB}"/>
              </a:ext>
            </a:extLst>
          </p:cNvPr>
          <p:cNvSpPr txBox="1"/>
          <p:nvPr/>
        </p:nvSpPr>
        <p:spPr>
          <a:xfrm>
            <a:off x="479376" y="247050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训练集展示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4E1B8DD5-0BBD-4E19-97A7-490779864B6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992" r="-2386"/>
          <a:stretch/>
        </p:blipFill>
        <p:spPr>
          <a:xfrm>
            <a:off x="756215" y="984809"/>
            <a:ext cx="11031013" cy="121542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525EFD38-0020-4592-B826-3BEAC0E0E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776" y="2318109"/>
            <a:ext cx="7491109" cy="4412362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00F1B4C6-2E56-4C5C-AF61-0FA604F16BD9}"/>
              </a:ext>
            </a:extLst>
          </p:cNvPr>
          <p:cNvSpPr txBox="1"/>
          <p:nvPr/>
        </p:nvSpPr>
        <p:spPr>
          <a:xfrm>
            <a:off x="30803" y="5727580"/>
            <a:ext cx="48718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每行为一个样本（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trace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&lt;START&gt;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&lt;END&gt;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为标识符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DFF3906-3622-4B5C-9EB1-8A3D5182B6FB}"/>
              </a:ext>
            </a:extLst>
          </p:cNvPr>
          <p:cNvSpPr txBox="1"/>
          <p:nvPr/>
        </p:nvSpPr>
        <p:spPr>
          <a:xfrm>
            <a:off x="732032" y="2431028"/>
            <a:ext cx="2664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类库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↑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876C71A-54CE-4C8B-92DA-7A3001D2984D}"/>
              </a:ext>
            </a:extLst>
          </p:cNvPr>
          <p:cNvSpPr txBox="1"/>
          <p:nvPr/>
        </p:nvSpPr>
        <p:spPr>
          <a:xfrm>
            <a:off x="1668715" y="3362406"/>
            <a:ext cx="3456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用于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RNN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训练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3512994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25" y="0"/>
            <a:ext cx="12274379" cy="684834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5" name="等腰三角形 44"/>
          <p:cNvSpPr/>
          <p:nvPr/>
        </p:nvSpPr>
        <p:spPr>
          <a:xfrm rot="10800000" flipV="1">
            <a:off x="5949719" y="3735020"/>
            <a:ext cx="290416" cy="17810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2343129-AF90-421D-9FB0-72D96B9E27EB}"/>
              </a:ext>
            </a:extLst>
          </p:cNvPr>
          <p:cNvSpPr txBox="1"/>
          <p:nvPr/>
        </p:nvSpPr>
        <p:spPr>
          <a:xfrm>
            <a:off x="263352" y="316372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Traces sampling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C045886-B498-49F7-A3BF-CBF1BB3B1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68" y="1264172"/>
            <a:ext cx="4819556" cy="497313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AE428BA-01D9-4981-BA4D-2BB386C3071A}"/>
              </a:ext>
            </a:extLst>
          </p:cNvPr>
          <p:cNvSpPr txBox="1"/>
          <p:nvPr/>
        </p:nvSpPr>
        <p:spPr>
          <a:xfrm>
            <a:off x="6240135" y="2208244"/>
            <a:ext cx="4608512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基本思想：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    1.</a:t>
            </a:r>
            <a:r>
              <a:rPr lang="zh-CN" altLang="en-US" sz="2000" dirty="0"/>
              <a:t>存储方法对和包含该对的</a:t>
            </a:r>
            <a:r>
              <a:rPr lang="en-US" altLang="zh-CN" sz="2000" dirty="0"/>
              <a:t>trace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    2.</a:t>
            </a:r>
            <a:r>
              <a:rPr lang="zh-CN" altLang="en-US" sz="2000" dirty="0"/>
              <a:t>选择包含</a:t>
            </a:r>
            <a:r>
              <a:rPr lang="en-US" altLang="zh-CN" sz="2000" dirty="0"/>
              <a:t>trace</a:t>
            </a:r>
            <a:r>
              <a:rPr lang="zh-CN" altLang="en-US" sz="2000" dirty="0"/>
              <a:t>最少的方法对（</a:t>
            </a:r>
            <a:r>
              <a:rPr lang="en-US" altLang="zh-CN" sz="2000" dirty="0" err="1"/>
              <a:t>a,b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    3.</a:t>
            </a:r>
            <a:r>
              <a:rPr lang="zh-CN" altLang="en-US" sz="2000" dirty="0"/>
              <a:t>将（</a:t>
            </a:r>
            <a:r>
              <a:rPr lang="en-US" altLang="zh-CN" sz="2000" dirty="0" err="1"/>
              <a:t>a,b</a:t>
            </a:r>
            <a:r>
              <a:rPr lang="zh-CN" altLang="en-US" sz="2000" dirty="0"/>
              <a:t>）中最短的</a:t>
            </a:r>
            <a:r>
              <a:rPr lang="en-US" altLang="zh-CN" sz="2000" dirty="0"/>
              <a:t>trace</a:t>
            </a:r>
            <a:r>
              <a:rPr lang="zh-CN" altLang="en-US" sz="2000" dirty="0"/>
              <a:t>加入子集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    4.</a:t>
            </a:r>
            <a:r>
              <a:rPr lang="zh-CN" altLang="en-US" sz="2000" dirty="0"/>
              <a:t>删除（</a:t>
            </a:r>
            <a:r>
              <a:rPr lang="en-US" altLang="zh-CN" sz="2000" dirty="0" err="1"/>
              <a:t>a,b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    5.</a:t>
            </a:r>
            <a:r>
              <a:rPr lang="zh-CN" altLang="en-US" sz="2000" dirty="0"/>
              <a:t>重复步骤</a:t>
            </a:r>
            <a:r>
              <a:rPr lang="en-US" altLang="zh-CN" sz="2000" dirty="0"/>
              <a:t>2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2212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74379" cy="684834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5" name="等腰三角形 44"/>
          <p:cNvSpPr/>
          <p:nvPr/>
        </p:nvSpPr>
        <p:spPr>
          <a:xfrm rot="10800000" flipV="1">
            <a:off x="5949719" y="3735020"/>
            <a:ext cx="290416" cy="17810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2343129-AF90-421D-9FB0-72D96B9E27EB}"/>
              </a:ext>
            </a:extLst>
          </p:cNvPr>
          <p:cNvSpPr txBox="1"/>
          <p:nvPr/>
        </p:nvSpPr>
        <p:spPr>
          <a:xfrm>
            <a:off x="407368" y="328301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三、搭建模型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——LSTM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11B0BB3-E6E6-42F7-8E43-FD369B3690B7}"/>
              </a:ext>
            </a:extLst>
          </p:cNvPr>
          <p:cNvSpPr txBox="1"/>
          <p:nvPr/>
        </p:nvSpPr>
        <p:spPr>
          <a:xfrm>
            <a:off x="817134" y="1211154"/>
            <a:ext cx="10369152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单纯的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RNN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无法处理随着递归，权重指数级爆炸或梯度消失的问题，难以捕获长期时间关联，而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LSTM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能够在更长序列中有更好的表现，本文选择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LSTM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来搭建语言模型，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GRU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在后期会进行尝试对比，择优选取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endParaRPr lang="en-US" altLang="zh-CN" sz="20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D33AC20-F1BD-4117-BC00-972E24C1EBEC}"/>
              </a:ext>
            </a:extLst>
          </p:cNvPr>
          <p:cNvSpPr txBox="1"/>
          <p:nvPr/>
        </p:nvSpPr>
        <p:spPr>
          <a:xfrm>
            <a:off x="409058" y="2774313"/>
            <a:ext cx="4462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编码器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解码器网络和词嵌入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156C849-3E78-4E28-9F13-C545859ABFA0}"/>
              </a:ext>
            </a:extLst>
          </p:cNvPr>
          <p:cNvSpPr txBox="1"/>
          <p:nvPr/>
        </p:nvSpPr>
        <p:spPr>
          <a:xfrm>
            <a:off x="5122375" y="5619461"/>
            <a:ext cx="6070609" cy="1324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1026" name="Picture 2" descr="编码器-解码器网络：神经翻译模型详解">
            <a:extLst>
              <a:ext uri="{FF2B5EF4-FFF2-40B4-BE49-F238E27FC236}">
                <a16:creationId xmlns:a16="http://schemas.microsoft.com/office/drawing/2014/main" id="{AE5EE61B-63CD-4790-AFE8-41E5D2D411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05" y="3607982"/>
            <a:ext cx="4612870" cy="2883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DD9D986-F24F-4461-BD9E-1EC08EAB5AD0}"/>
              </a:ext>
            </a:extLst>
          </p:cNvPr>
          <p:cNvSpPr txBox="1"/>
          <p:nvPr/>
        </p:nvSpPr>
        <p:spPr>
          <a:xfrm>
            <a:off x="5425527" y="4501569"/>
            <a:ext cx="576075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编码器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解码器网络是一个很成功的翻译模型，模型接受一个序列作为输入，并将序列中的信息编码为中间表示，然后解码器解码中间表示为目标语言。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最初，每个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trace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中的方法都以一个整数标识符代表，但这些整数并没有保存什么信息，所以使用了“词嵌入”，用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维向量表示每个方法，相似方法在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维嵌入空间中距离更近。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1966DE0-AA55-484F-8664-7D5ACE1074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4152" y="2215063"/>
            <a:ext cx="3413225" cy="2133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426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74379" cy="684834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5" name="等腰三角形 44"/>
          <p:cNvSpPr/>
          <p:nvPr/>
        </p:nvSpPr>
        <p:spPr>
          <a:xfrm rot="10800000" flipV="1">
            <a:off x="5949719" y="3735020"/>
            <a:ext cx="290416" cy="17810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2343129-AF90-421D-9FB0-72D96B9E27EB}"/>
              </a:ext>
            </a:extLst>
          </p:cNvPr>
          <p:cNvSpPr txBox="1"/>
          <p:nvPr/>
        </p:nvSpPr>
        <p:spPr>
          <a:xfrm>
            <a:off x="407368" y="328301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四、特征提取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156C849-3E78-4E28-9F13-C545859ABFA0}"/>
              </a:ext>
            </a:extLst>
          </p:cNvPr>
          <p:cNvSpPr txBox="1"/>
          <p:nvPr/>
        </p:nvSpPr>
        <p:spPr>
          <a:xfrm>
            <a:off x="5122375" y="5619461"/>
            <a:ext cx="6070609" cy="1324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EC77E37-CFFA-4FFA-B839-054A95FF374F}"/>
              </a:ext>
            </a:extLst>
          </p:cNvPr>
          <p:cNvSpPr txBox="1"/>
          <p:nvPr/>
        </p:nvSpPr>
        <p:spPr>
          <a:xfrm>
            <a:off x="5677677" y="3013788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CDFE357-AEAC-400A-9AAA-B61BDC628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8587" y="1762932"/>
            <a:ext cx="6153150" cy="227647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A48F2516-B4F0-4E61-B01B-D4EBFFE3DC26}"/>
              </a:ext>
            </a:extLst>
          </p:cNvPr>
          <p:cNvSpPr txBox="1"/>
          <p:nvPr/>
        </p:nvSpPr>
        <p:spPr>
          <a:xfrm>
            <a:off x="465837" y="1305628"/>
            <a:ext cx="4556913" cy="3789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       利用上文中的算法得到序列子集来构造前缀树接收器，树的每个节点表示一种状态，并以</a:t>
            </a:r>
            <a:r>
              <a:rPr lang="en-US" altLang="zh-CN" dirty="0"/>
              <a:t>&lt;END&gt;</a:t>
            </a:r>
            <a:r>
              <a:rPr lang="zh-CN" altLang="en-US" dirty="0"/>
              <a:t>标签结束。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        对于树中的每个状态，关注这样一种特征，这种特征捕捉到在到达某个之后的状态时，哪些方法可能会被调用，特征表征这种方法的概率；比如：对于节点</a:t>
            </a:r>
            <a:r>
              <a:rPr lang="en-US" altLang="zh-CN" dirty="0"/>
              <a:t>S3</a:t>
            </a:r>
            <a:r>
              <a:rPr lang="zh-CN" altLang="en-US" dirty="0"/>
              <a:t>，“</a:t>
            </a:r>
            <a:r>
              <a:rPr lang="en-US" altLang="zh-CN" dirty="0"/>
              <a:t>Verify</a:t>
            </a:r>
            <a:r>
              <a:rPr lang="zh-CN" altLang="en-US" dirty="0"/>
              <a:t>”和“</a:t>
            </a:r>
            <a:r>
              <a:rPr lang="en-US" altLang="zh-CN" dirty="0"/>
              <a:t>&lt;END&gt;</a:t>
            </a:r>
            <a:r>
              <a:rPr lang="zh-CN" altLang="en-US" dirty="0"/>
              <a:t>”较于其他方法有更高的概率在之后被调用，即</a:t>
            </a:r>
            <a:r>
              <a:rPr lang="en-US" altLang="zh-CN" dirty="0"/>
              <a:t>S3</a:t>
            </a:r>
            <a:r>
              <a:rPr lang="zh-CN" altLang="en-US" dirty="0"/>
              <a:t>在</a:t>
            </a:r>
            <a:r>
              <a:rPr lang="en-US" altLang="zh-CN" dirty="0"/>
              <a:t>RNNLM</a:t>
            </a:r>
            <a:r>
              <a:rPr lang="zh-CN" altLang="en-US" dirty="0"/>
              <a:t>中的输出如下：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4D9A1F4-252C-4FD4-A146-471B1251DBB3}"/>
              </a:ext>
            </a:extLst>
          </p:cNvPr>
          <p:cNvSpPr txBox="1"/>
          <p:nvPr/>
        </p:nvSpPr>
        <p:spPr>
          <a:xfrm>
            <a:off x="1363528" y="5417802"/>
            <a:ext cx="9462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</a:t>
            </a:r>
            <a:r>
              <a:rPr lang="zh-CN" altLang="en-US" dirty="0"/>
              <a:t>（</a:t>
            </a:r>
            <a:r>
              <a:rPr lang="en-US" altLang="zh-CN" dirty="0"/>
              <a:t>Verify</a:t>
            </a:r>
            <a:r>
              <a:rPr lang="zh-CN" altLang="en-US" dirty="0"/>
              <a:t>）</a:t>
            </a:r>
            <a:r>
              <a:rPr lang="en-US" altLang="zh-CN" dirty="0"/>
              <a:t> = P&lt;END&gt; = 0.4 </a:t>
            </a:r>
            <a:r>
              <a:rPr lang="zh-CN" altLang="en-US" dirty="0"/>
              <a:t>，</a:t>
            </a:r>
            <a:r>
              <a:rPr lang="en-US" altLang="zh-CN" dirty="0"/>
              <a:t>P&lt;START&gt; = P&lt;</a:t>
            </a:r>
            <a:r>
              <a:rPr lang="en-US" altLang="zh-CN" dirty="0" err="1"/>
              <a:t>init</a:t>
            </a:r>
            <a:r>
              <a:rPr lang="en-US" altLang="zh-CN" dirty="0"/>
              <a:t>&gt; = P&lt;</a:t>
            </a:r>
            <a:r>
              <a:rPr lang="en-US" altLang="zh-CN" dirty="0" err="1"/>
              <a:t>initVerify</a:t>
            </a:r>
            <a:r>
              <a:rPr lang="en-US" altLang="zh-CN" dirty="0"/>
              <a:t>&gt; = P&lt;update&gt; = 0.15.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2875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74379" cy="684834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5" name="等腰三角形 44"/>
          <p:cNvSpPr/>
          <p:nvPr/>
        </p:nvSpPr>
        <p:spPr>
          <a:xfrm rot="10800000" flipV="1">
            <a:off x="5949719" y="3735020"/>
            <a:ext cx="290416" cy="17810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2343129-AF90-421D-9FB0-72D96B9E27EB}"/>
              </a:ext>
            </a:extLst>
          </p:cNvPr>
          <p:cNvSpPr txBox="1"/>
          <p:nvPr/>
        </p:nvSpPr>
        <p:spPr>
          <a:xfrm>
            <a:off x="407368" y="328301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五、自动机构建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156C849-3E78-4E28-9F13-C545859ABFA0}"/>
              </a:ext>
            </a:extLst>
          </p:cNvPr>
          <p:cNvSpPr txBox="1"/>
          <p:nvPr/>
        </p:nvSpPr>
        <p:spPr>
          <a:xfrm>
            <a:off x="5122375" y="5619461"/>
            <a:ext cx="6070609" cy="1324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EC77E37-CFFA-4FFA-B839-054A95FF374F}"/>
              </a:ext>
            </a:extLst>
          </p:cNvPr>
          <p:cNvSpPr txBox="1"/>
          <p:nvPr/>
        </p:nvSpPr>
        <p:spPr>
          <a:xfrm>
            <a:off x="5677677" y="3013788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48F2516-B4F0-4E61-B01B-D4EBFFE3DC26}"/>
              </a:ext>
            </a:extLst>
          </p:cNvPr>
          <p:cNvSpPr txBox="1"/>
          <p:nvPr/>
        </p:nvSpPr>
        <p:spPr>
          <a:xfrm>
            <a:off x="580618" y="1028700"/>
            <a:ext cx="10454699" cy="2266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/>
              <a:t>  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本文采用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k-means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和层次聚类算法对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PTA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中节点抽取的特征进行聚类，以此来得到更加一般化和泛化能力强的自动机，它能够更好的捕捉类库的规范。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通过设置聚类参数，获取多个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FSA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模型，聚类数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[2,20],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以此得到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19=38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个模型。通过一定的评估标准选取最优。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模型分数：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F-measures,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取最大值对应的模型作为输出。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E411C94-100D-423D-B84E-FC179E808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68" y="3122345"/>
            <a:ext cx="4124386" cy="36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537DA8C-78C7-4B55-8192-89AF3E826FCE}"/>
                  </a:ext>
                </a:extLst>
              </p:cNvPr>
              <p:cNvSpPr txBox="1"/>
              <p:nvPr/>
            </p:nvSpPr>
            <p:spPr>
              <a:xfrm>
                <a:off x="5137958" y="3293079"/>
                <a:ext cx="6070609" cy="28862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通过创建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traces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上的方法对和在构建的自动机中出现的方法对，计算精确度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precision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计算被接受的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trace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和总的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traces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的比值计算召回率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recall</a:t>
                </a:r>
              </a:p>
              <a:p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F-measure=2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𝑝𝑟𝑒𝑐𝑖𝑠𝑖𝑜𝑛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𝑟𝑒𝑐𝑎𝑙𝑙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𝑝𝑟𝑒𝑐𝑖𝑠𝑖𝑜𝑛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𝑟𝑒𝑐𝑎𝑙𝑙</m:t>
                        </m:r>
                      </m:den>
                    </m:f>
                  </m:oMath>
                </a14:m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537DA8C-78C7-4B55-8192-89AF3E826F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7958" y="3293079"/>
                <a:ext cx="6070609" cy="2886239"/>
              </a:xfrm>
              <a:prstGeom prst="rect">
                <a:avLst/>
              </a:prstGeom>
              <a:blipFill>
                <a:blip r:embed="rId4"/>
                <a:stretch>
                  <a:fillRect l="-1104" r="-1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9319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53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4577564" y="2016866"/>
            <a:ext cx="4656281" cy="2824268"/>
            <a:chOff x="4366118" y="1988840"/>
            <a:chExt cx="3926206" cy="2824268"/>
          </a:xfrm>
        </p:grpSpPr>
        <p:sp>
          <p:nvSpPr>
            <p:cNvPr id="3" name="文本框 2"/>
            <p:cNvSpPr txBox="1"/>
            <p:nvPr/>
          </p:nvSpPr>
          <p:spPr>
            <a:xfrm>
              <a:off x="4667856" y="2987220"/>
              <a:ext cx="3624468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03. </a:t>
              </a:r>
              <a:r>
                <a:rPr lang="zh-CN" altLang="en-US" sz="4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进展及成果</a:t>
              </a:r>
            </a:p>
          </p:txBody>
        </p:sp>
        <p:cxnSp>
          <p:nvCxnSpPr>
            <p:cNvPr id="5" name="直接连接符 4"/>
            <p:cNvCxnSpPr>
              <a:cxnSpLocks/>
            </p:cNvCxnSpPr>
            <p:nvPr/>
          </p:nvCxnSpPr>
          <p:spPr>
            <a:xfrm>
              <a:off x="4366118" y="1988840"/>
              <a:ext cx="0" cy="2824268"/>
            </a:xfrm>
            <a:prstGeom prst="line">
              <a:avLst/>
            </a:prstGeom>
            <a:ln w="12700">
              <a:gradFill>
                <a:gsLst>
                  <a:gs pos="0">
                    <a:schemeClr val="bg1">
                      <a:alpha val="0"/>
                    </a:schemeClr>
                  </a:gs>
                  <a:gs pos="50000">
                    <a:schemeClr val="tx1"/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  <a:effectLst>
              <a:outerShdw blurRad="50800" dist="254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D2CFBEDB-2F23-4E26-85E0-93D31AB49C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690" b="97594" l="3102" r="97487">
                        <a14:foregroundMark x1="12567" y1="21925" x2="12781" y2="26524"/>
                        <a14:foregroundMark x1="4866" y1="42781" x2="4866" y2="42781"/>
                        <a14:foregroundMark x1="3102" y1="44973" x2="3102" y2="44973"/>
                        <a14:foregroundMark x1="45508" y1="97647" x2="45508" y2="97647"/>
                        <a14:foregroundMark x1="94278" y1="41658" x2="94278" y2="41658"/>
                        <a14:foregroundMark x1="97540" y1="48235" x2="97540" y2="48235"/>
                        <a14:foregroundMark x1="6631" y1="48021" x2="6631" y2="48021"/>
                        <a14:foregroundMark x1="46417" y1="32674" x2="46417" y2="32674"/>
                        <a14:foregroundMark x1="41551" y1="37701" x2="56738" y2="38128"/>
                        <a14:foregroundMark x1="47914" y1="3690" x2="53850" y2="4759"/>
                        <a14:backgroundMark x1="4225" y1="10481" x2="4225" y2="10481"/>
                        <a14:backgroundMark x1="5348" y1="4545" x2="31444" y2="6310"/>
                        <a14:backgroundMark x1="6417" y1="4545" x2="3797" y2="25401"/>
                        <a14:backgroundMark x1="4011" y1="23904" x2="27059" y2="4973"/>
                        <a14:backgroundMark x1="67273" y1="2995" x2="94492" y2="13529"/>
                        <a14:backgroundMark x1="95134" y1="17754" x2="95561" y2="33743"/>
                        <a14:backgroundMark x1="98021" y1="65187" x2="96257" y2="89786"/>
                        <a14:backgroundMark x1="73636" y1="95936" x2="91390" y2="91497"/>
                        <a14:backgroundMark x1="25294" y1="95455" x2="909" y2="88877"/>
                        <a14:backgroundMark x1="7273" y1="64492" x2="9037" y2="822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736" y="2921300"/>
            <a:ext cx="856947" cy="856947"/>
          </a:xfrm>
          <a:prstGeom prst="rect">
            <a:avLst/>
          </a:prstGeom>
          <a:solidFill>
            <a:schemeClr val="tx1">
              <a:alpha val="0"/>
            </a:schemeClr>
          </a:solidFill>
        </p:spPr>
      </p:pic>
    </p:spTree>
    <p:extLst>
      <p:ext uri="{BB962C8B-B14F-4D97-AF65-F5344CB8AC3E}">
        <p14:creationId xmlns:p14="http://schemas.microsoft.com/office/powerpoint/2010/main" val="4184478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25" y="0"/>
            <a:ext cx="12274379" cy="684834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5" name="等腰三角形 44"/>
          <p:cNvSpPr/>
          <p:nvPr/>
        </p:nvSpPr>
        <p:spPr>
          <a:xfrm rot="10800000" flipV="1">
            <a:off x="5949719" y="3735020"/>
            <a:ext cx="290416" cy="17810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2343129-AF90-421D-9FB0-72D96B9E27EB}"/>
              </a:ext>
            </a:extLst>
          </p:cNvPr>
          <p:cNvSpPr txBox="1"/>
          <p:nvPr/>
        </p:nvSpPr>
        <p:spPr>
          <a:xfrm>
            <a:off x="191344" y="14074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Traces collection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E0A7CE8-BBAB-4A98-84F8-0CF09543F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322" y="2420888"/>
            <a:ext cx="5904656" cy="354279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43F03C0-0E88-4343-BE9B-2EC01E162AF2}"/>
              </a:ext>
            </a:extLst>
          </p:cNvPr>
          <p:cNvSpPr txBox="1"/>
          <p:nvPr/>
        </p:nvSpPr>
        <p:spPr>
          <a:xfrm>
            <a:off x="5479446" y="374648"/>
            <a:ext cx="1480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进展及成果</a:t>
            </a:r>
          </a:p>
        </p:txBody>
      </p:sp>
      <p:sp>
        <p:nvSpPr>
          <p:cNvPr id="12" name="等腰三角形 11">
            <a:extLst>
              <a:ext uri="{FF2B5EF4-FFF2-40B4-BE49-F238E27FC236}">
                <a16:creationId xmlns:a16="http://schemas.microsoft.com/office/drawing/2014/main" id="{C97A5C37-6259-43F9-9AED-958CED737DD5}"/>
              </a:ext>
            </a:extLst>
          </p:cNvPr>
          <p:cNvSpPr/>
          <p:nvPr/>
        </p:nvSpPr>
        <p:spPr>
          <a:xfrm rot="10800000">
            <a:off x="7519209" y="1156482"/>
            <a:ext cx="290416" cy="178103"/>
          </a:xfrm>
          <a:prstGeom prst="triangle">
            <a:avLst/>
          </a:prstGeom>
          <a:solidFill>
            <a:srgbClr val="055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40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C7D151F-6DBB-4C8E-A268-E84905E960DF}"/>
              </a:ext>
            </a:extLst>
          </p:cNvPr>
          <p:cNvSpPr/>
          <p:nvPr/>
        </p:nvSpPr>
        <p:spPr>
          <a:xfrm>
            <a:off x="-58058" y="1"/>
            <a:ext cx="12308115" cy="1175656"/>
          </a:xfrm>
          <a:prstGeom prst="rect">
            <a:avLst/>
          </a:prstGeom>
          <a:solidFill>
            <a:srgbClr val="055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rgbClr val="0553A7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4677416-12D6-4B86-B915-F84BD7FB980A}"/>
              </a:ext>
            </a:extLst>
          </p:cNvPr>
          <p:cNvSpPr txBox="1"/>
          <p:nvPr/>
        </p:nvSpPr>
        <p:spPr>
          <a:xfrm>
            <a:off x="1067444" y="387774"/>
            <a:ext cx="16458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背景分析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FBA36EB-8DB5-4B67-98B5-A026B935F0A9}"/>
              </a:ext>
            </a:extLst>
          </p:cNvPr>
          <p:cNvSpPr txBox="1"/>
          <p:nvPr/>
        </p:nvSpPr>
        <p:spPr>
          <a:xfrm>
            <a:off x="3929891" y="387774"/>
            <a:ext cx="23401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研究步骤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C95C656-9CD7-4F21-91C1-7BAFA43A42B1}"/>
              </a:ext>
            </a:extLst>
          </p:cNvPr>
          <p:cNvSpPr txBox="1"/>
          <p:nvPr/>
        </p:nvSpPr>
        <p:spPr>
          <a:xfrm>
            <a:off x="6888088" y="387774"/>
            <a:ext cx="15526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进展及成果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F820005-0A90-48DA-8E43-E4B17658423D}"/>
              </a:ext>
            </a:extLst>
          </p:cNvPr>
          <p:cNvSpPr txBox="1"/>
          <p:nvPr/>
        </p:nvSpPr>
        <p:spPr>
          <a:xfrm>
            <a:off x="10002468" y="387774"/>
            <a:ext cx="23401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后期工作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6982356-564B-486A-8636-1AD65C9FCB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3294" y="3323915"/>
            <a:ext cx="5577985" cy="260885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72CAFDD-3C9C-40DE-856B-AEDD239BE17B}"/>
              </a:ext>
            </a:extLst>
          </p:cNvPr>
          <p:cNvSpPr txBox="1"/>
          <p:nvPr/>
        </p:nvSpPr>
        <p:spPr>
          <a:xfrm>
            <a:off x="8229796" y="2751476"/>
            <a:ext cx="3545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抽样子集文件夹</a:t>
            </a:r>
          </a:p>
        </p:txBody>
      </p:sp>
    </p:spTree>
    <p:extLst>
      <p:ext uri="{BB962C8B-B14F-4D97-AF65-F5344CB8AC3E}">
        <p14:creationId xmlns:p14="http://schemas.microsoft.com/office/powerpoint/2010/main" val="1967625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74379" cy="684834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5" name="等腰三角形 44"/>
          <p:cNvSpPr/>
          <p:nvPr/>
        </p:nvSpPr>
        <p:spPr>
          <a:xfrm rot="10800000" flipV="1">
            <a:off x="5949719" y="3735020"/>
            <a:ext cx="290416" cy="17810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2343129-AF90-421D-9FB0-72D96B9E27EB}"/>
              </a:ext>
            </a:extLst>
          </p:cNvPr>
          <p:cNvSpPr txBox="1"/>
          <p:nvPr/>
        </p:nvSpPr>
        <p:spPr>
          <a:xfrm>
            <a:off x="120768" y="1450322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LSTM—Hyperparameters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156C849-3E78-4E28-9F13-C545859ABFA0}"/>
              </a:ext>
            </a:extLst>
          </p:cNvPr>
          <p:cNvSpPr txBox="1"/>
          <p:nvPr/>
        </p:nvSpPr>
        <p:spPr>
          <a:xfrm>
            <a:off x="5122375" y="5619461"/>
            <a:ext cx="6070609" cy="1324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EC77E37-CFFA-4FFA-B839-054A95FF374F}"/>
              </a:ext>
            </a:extLst>
          </p:cNvPr>
          <p:cNvSpPr txBox="1"/>
          <p:nvPr/>
        </p:nvSpPr>
        <p:spPr>
          <a:xfrm>
            <a:off x="5677677" y="3013788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C8DD0F1-C1C3-43CF-9B50-43D76A1D3351}"/>
              </a:ext>
            </a:extLst>
          </p:cNvPr>
          <p:cNvSpPr txBox="1"/>
          <p:nvPr/>
        </p:nvSpPr>
        <p:spPr>
          <a:xfrm>
            <a:off x="1183306" y="2431987"/>
            <a:ext cx="8352928" cy="3731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rnn_size:32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num_layers:2</a:t>
            </a:r>
          </a:p>
          <a:p>
            <a:pPr>
              <a:lnSpc>
                <a:spcPct val="150000"/>
              </a:lnSpc>
            </a:pP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batch_size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=10</a:t>
            </a:r>
          </a:p>
          <a:p>
            <a:pPr>
              <a:lnSpc>
                <a:spcPct val="150000"/>
              </a:lnSpc>
            </a:pP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sequence_length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=25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epochs:10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grad_clip:5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learning_rate:0.002</a:t>
            </a:r>
          </a:p>
          <a:p>
            <a:pPr>
              <a:lnSpc>
                <a:spcPct val="150000"/>
              </a:lnSpc>
            </a:pP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decay_rate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=0.97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7F9E156-9831-4162-8023-937C0C563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718" y="2578340"/>
            <a:ext cx="6070609" cy="3708700"/>
          </a:xfrm>
          <a:prstGeom prst="rect">
            <a:avLst/>
          </a:prstGeom>
        </p:spPr>
      </p:pic>
      <p:sp>
        <p:nvSpPr>
          <p:cNvPr id="23" name="等腰三角形 22">
            <a:extLst>
              <a:ext uri="{FF2B5EF4-FFF2-40B4-BE49-F238E27FC236}">
                <a16:creationId xmlns:a16="http://schemas.microsoft.com/office/drawing/2014/main" id="{54A484AE-7DAB-4356-AD8D-03389436B231}"/>
              </a:ext>
            </a:extLst>
          </p:cNvPr>
          <p:cNvSpPr/>
          <p:nvPr/>
        </p:nvSpPr>
        <p:spPr>
          <a:xfrm rot="10800000">
            <a:off x="7519209" y="1175657"/>
            <a:ext cx="290416" cy="178103"/>
          </a:xfrm>
          <a:prstGeom prst="triangle">
            <a:avLst/>
          </a:prstGeom>
          <a:solidFill>
            <a:srgbClr val="055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4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09BA6AE-8A8D-4EA4-AD0F-A2640FD48679}"/>
              </a:ext>
            </a:extLst>
          </p:cNvPr>
          <p:cNvSpPr/>
          <p:nvPr/>
        </p:nvSpPr>
        <p:spPr>
          <a:xfrm>
            <a:off x="-58058" y="1"/>
            <a:ext cx="12308115" cy="1175656"/>
          </a:xfrm>
          <a:prstGeom prst="rect">
            <a:avLst/>
          </a:prstGeom>
          <a:solidFill>
            <a:srgbClr val="055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rgbClr val="0553A7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09DE808-B455-41A2-BC9D-9404114F9F39}"/>
              </a:ext>
            </a:extLst>
          </p:cNvPr>
          <p:cNvSpPr txBox="1"/>
          <p:nvPr/>
        </p:nvSpPr>
        <p:spPr>
          <a:xfrm>
            <a:off x="1067444" y="387774"/>
            <a:ext cx="16458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背景分析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39445E7-3221-4CD6-B83F-23513911BFEB}"/>
              </a:ext>
            </a:extLst>
          </p:cNvPr>
          <p:cNvSpPr txBox="1"/>
          <p:nvPr/>
        </p:nvSpPr>
        <p:spPr>
          <a:xfrm>
            <a:off x="10002468" y="387774"/>
            <a:ext cx="23401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后期工作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97840C7-F0D0-4385-85C5-4583A8BCE18B}"/>
              </a:ext>
            </a:extLst>
          </p:cNvPr>
          <p:cNvSpPr txBox="1"/>
          <p:nvPr/>
        </p:nvSpPr>
        <p:spPr>
          <a:xfrm>
            <a:off x="3929891" y="387774"/>
            <a:ext cx="23401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研究步骤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2BD9360-54BE-48DB-B250-7A7DE65458B6}"/>
              </a:ext>
            </a:extLst>
          </p:cNvPr>
          <p:cNvSpPr txBox="1"/>
          <p:nvPr/>
        </p:nvSpPr>
        <p:spPr>
          <a:xfrm>
            <a:off x="6888088" y="387774"/>
            <a:ext cx="15526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进展及成果</a:t>
            </a:r>
          </a:p>
        </p:txBody>
      </p:sp>
    </p:spTree>
    <p:extLst>
      <p:ext uri="{BB962C8B-B14F-4D97-AF65-F5344CB8AC3E}">
        <p14:creationId xmlns:p14="http://schemas.microsoft.com/office/powerpoint/2010/main" val="1482808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54"/>
            <a:ext cx="12274379" cy="684834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9" name="等腰三角形 8"/>
          <p:cNvSpPr/>
          <p:nvPr/>
        </p:nvSpPr>
        <p:spPr>
          <a:xfrm rot="10800000">
            <a:off x="7519209" y="1175657"/>
            <a:ext cx="290416" cy="178103"/>
          </a:xfrm>
          <a:prstGeom prst="triangle">
            <a:avLst/>
          </a:prstGeom>
          <a:solidFill>
            <a:srgbClr val="055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40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810C380-739E-4514-985E-EC807D782DFB}"/>
              </a:ext>
            </a:extLst>
          </p:cNvPr>
          <p:cNvSpPr txBox="1"/>
          <p:nvPr/>
        </p:nvSpPr>
        <p:spPr>
          <a:xfrm>
            <a:off x="695400" y="1463306"/>
            <a:ext cx="60252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RNNLM-loss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8BAE80D9-8778-4077-B7D2-085573365F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116" y="2579013"/>
            <a:ext cx="4128925" cy="33336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6F336355-8E32-4C17-B916-98D9049078AC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3283" y="2636912"/>
            <a:ext cx="4129200" cy="333360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B3840695-708C-4996-B5AB-A15B5AA07F7F}"/>
              </a:ext>
            </a:extLst>
          </p:cNvPr>
          <p:cNvSpPr txBox="1"/>
          <p:nvPr/>
        </p:nvSpPr>
        <p:spPr>
          <a:xfrm>
            <a:off x="1761656" y="6201017"/>
            <a:ext cx="3322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mini_batch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采样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9E7E0EE-A323-4E48-BA85-91761319AE92}"/>
              </a:ext>
            </a:extLst>
          </p:cNvPr>
          <p:cNvSpPr txBox="1"/>
          <p:nvPr/>
        </p:nvSpPr>
        <p:spPr>
          <a:xfrm>
            <a:off x="8264930" y="6229590"/>
            <a:ext cx="288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每迭代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次采样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4BB6C5F-F67D-4BA2-B76F-D5C5ED149D1A}"/>
              </a:ext>
            </a:extLst>
          </p:cNvPr>
          <p:cNvSpPr/>
          <p:nvPr/>
        </p:nvSpPr>
        <p:spPr>
          <a:xfrm>
            <a:off x="-58058" y="1"/>
            <a:ext cx="12308115" cy="1175656"/>
          </a:xfrm>
          <a:prstGeom prst="rect">
            <a:avLst/>
          </a:prstGeom>
          <a:solidFill>
            <a:srgbClr val="055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rgbClr val="0553A7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7CEA3D2-1B08-45D1-AB58-73A15B00DEC0}"/>
              </a:ext>
            </a:extLst>
          </p:cNvPr>
          <p:cNvSpPr txBox="1"/>
          <p:nvPr/>
        </p:nvSpPr>
        <p:spPr>
          <a:xfrm>
            <a:off x="1067444" y="387774"/>
            <a:ext cx="16458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背景分析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847A95E-ECA5-4EF7-8D3D-5B85E12B22E1}"/>
              </a:ext>
            </a:extLst>
          </p:cNvPr>
          <p:cNvSpPr txBox="1"/>
          <p:nvPr/>
        </p:nvSpPr>
        <p:spPr>
          <a:xfrm>
            <a:off x="3929891" y="387774"/>
            <a:ext cx="23401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研究步骤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897A458-3D4D-4FAF-8F92-B30DF0DD3CEF}"/>
              </a:ext>
            </a:extLst>
          </p:cNvPr>
          <p:cNvSpPr txBox="1"/>
          <p:nvPr/>
        </p:nvSpPr>
        <p:spPr>
          <a:xfrm>
            <a:off x="6888088" y="387774"/>
            <a:ext cx="15526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进展及成果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416C271-89DB-45C7-88B0-38441C97E229}"/>
              </a:ext>
            </a:extLst>
          </p:cNvPr>
          <p:cNvSpPr txBox="1"/>
          <p:nvPr/>
        </p:nvSpPr>
        <p:spPr>
          <a:xfrm>
            <a:off x="10002468" y="387774"/>
            <a:ext cx="23401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后期工作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23F5581-F03D-4162-BFB5-4DADBF1EFCC1}"/>
              </a:ext>
            </a:extLst>
          </p:cNvPr>
          <p:cNvSpPr txBox="1"/>
          <p:nvPr/>
        </p:nvSpPr>
        <p:spPr>
          <a:xfrm>
            <a:off x="3106961" y="416696"/>
            <a:ext cx="16458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0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7133323-E981-4890-A392-AD175B702339}"/>
              </a:ext>
            </a:extLst>
          </p:cNvPr>
          <p:cNvSpPr txBox="1"/>
          <p:nvPr/>
        </p:nvSpPr>
        <p:spPr>
          <a:xfrm>
            <a:off x="3929891" y="375763"/>
            <a:ext cx="23401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研究步骤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5038D43-C684-45FB-9860-52B0EFD1BC90}"/>
              </a:ext>
            </a:extLst>
          </p:cNvPr>
          <p:cNvSpPr txBox="1"/>
          <p:nvPr/>
        </p:nvSpPr>
        <p:spPr>
          <a:xfrm>
            <a:off x="6888088" y="375763"/>
            <a:ext cx="15526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进展及成果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D48931C-F37F-4F8F-A1A0-7FDB6A83C027}"/>
              </a:ext>
            </a:extLst>
          </p:cNvPr>
          <p:cNvSpPr txBox="1"/>
          <p:nvPr/>
        </p:nvSpPr>
        <p:spPr>
          <a:xfrm>
            <a:off x="10002468" y="375763"/>
            <a:ext cx="23401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后期工作</a:t>
            </a:r>
          </a:p>
        </p:txBody>
      </p:sp>
    </p:spTree>
    <p:extLst>
      <p:ext uri="{BB962C8B-B14F-4D97-AF65-F5344CB8AC3E}">
        <p14:creationId xmlns:p14="http://schemas.microsoft.com/office/powerpoint/2010/main" val="31746595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632"/>
            <a:ext cx="12274379" cy="684834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9" name="等腰三角形 8"/>
          <p:cNvSpPr/>
          <p:nvPr/>
        </p:nvSpPr>
        <p:spPr>
          <a:xfrm rot="10800000">
            <a:off x="7519209" y="1170263"/>
            <a:ext cx="290416" cy="178103"/>
          </a:xfrm>
          <a:prstGeom prst="triangle">
            <a:avLst/>
          </a:prstGeom>
          <a:solidFill>
            <a:srgbClr val="055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810C380-739E-4514-985E-EC807D782DFB}"/>
              </a:ext>
            </a:extLst>
          </p:cNvPr>
          <p:cNvSpPr txBox="1"/>
          <p:nvPr/>
        </p:nvSpPr>
        <p:spPr>
          <a:xfrm>
            <a:off x="695400" y="1463306"/>
            <a:ext cx="60252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特征抽取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5B0BC39-315C-496B-9906-405BC5F1D437}"/>
              </a:ext>
            </a:extLst>
          </p:cNvPr>
          <p:cNvSpPr txBox="1"/>
          <p:nvPr/>
        </p:nvSpPr>
        <p:spPr>
          <a:xfrm>
            <a:off x="1127448" y="2330294"/>
            <a:ext cx="9937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trace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子集给训练好的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RNN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网络，经过一个全连接层和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softmax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得到对应概率并降序排序得到特征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7BD3BFD-745E-4198-8239-12B109C1BB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225" y="4005064"/>
            <a:ext cx="5157624" cy="217227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F3640345-AC63-4154-82A2-7A42E667C8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9285" y="3165009"/>
            <a:ext cx="4759199" cy="3132303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62BC0E6B-FCF8-46FF-B688-D0EACEC79D70}"/>
              </a:ext>
            </a:extLst>
          </p:cNvPr>
          <p:cNvSpPr txBox="1"/>
          <p:nvPr/>
        </p:nvSpPr>
        <p:spPr>
          <a:xfrm>
            <a:off x="2220686" y="3450489"/>
            <a:ext cx="5157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序列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的特征文件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DC4C08B-6241-487A-BB2F-9BAC6A44DC9D}"/>
              </a:ext>
            </a:extLst>
          </p:cNvPr>
          <p:cNvSpPr/>
          <p:nvPr/>
        </p:nvSpPr>
        <p:spPr>
          <a:xfrm>
            <a:off x="-58058" y="1"/>
            <a:ext cx="12308115" cy="1175656"/>
          </a:xfrm>
          <a:prstGeom prst="rect">
            <a:avLst/>
          </a:prstGeom>
          <a:solidFill>
            <a:srgbClr val="055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rgbClr val="0553A7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80E610E-C676-437F-A83A-7CC22BF1284B}"/>
              </a:ext>
            </a:extLst>
          </p:cNvPr>
          <p:cNvSpPr txBox="1"/>
          <p:nvPr/>
        </p:nvSpPr>
        <p:spPr>
          <a:xfrm>
            <a:off x="1067444" y="375763"/>
            <a:ext cx="16458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背景分析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A0D3A22-F3BA-491A-B4E4-72A5311194E1}"/>
              </a:ext>
            </a:extLst>
          </p:cNvPr>
          <p:cNvSpPr txBox="1"/>
          <p:nvPr/>
        </p:nvSpPr>
        <p:spPr>
          <a:xfrm>
            <a:off x="3929891" y="375763"/>
            <a:ext cx="23401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研究步骤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2A4D2EF-249A-4743-A55B-E4F5F0E6B89D}"/>
              </a:ext>
            </a:extLst>
          </p:cNvPr>
          <p:cNvSpPr txBox="1"/>
          <p:nvPr/>
        </p:nvSpPr>
        <p:spPr>
          <a:xfrm>
            <a:off x="6888088" y="375763"/>
            <a:ext cx="15526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进展及成果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278538E-70A9-4ED3-B025-0683A8467572}"/>
              </a:ext>
            </a:extLst>
          </p:cNvPr>
          <p:cNvSpPr txBox="1"/>
          <p:nvPr/>
        </p:nvSpPr>
        <p:spPr>
          <a:xfrm>
            <a:off x="10002468" y="375763"/>
            <a:ext cx="23401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后期工作</a:t>
            </a:r>
          </a:p>
        </p:txBody>
      </p:sp>
    </p:spTree>
    <p:extLst>
      <p:ext uri="{BB962C8B-B14F-4D97-AF65-F5344CB8AC3E}">
        <p14:creationId xmlns:p14="http://schemas.microsoft.com/office/powerpoint/2010/main" val="32042000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11E722E-E414-40B6-A329-C254ABCF5E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8640"/>
            <a:ext cx="12274379" cy="684834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8FA08D2-C786-4327-A4BC-36081AFB0605}"/>
              </a:ext>
            </a:extLst>
          </p:cNvPr>
          <p:cNvSpPr/>
          <p:nvPr/>
        </p:nvSpPr>
        <p:spPr>
          <a:xfrm>
            <a:off x="0" y="0"/>
            <a:ext cx="12308115" cy="1175656"/>
          </a:xfrm>
          <a:prstGeom prst="rect">
            <a:avLst/>
          </a:prstGeom>
          <a:solidFill>
            <a:srgbClr val="055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rgbClr val="0553A7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E5AF96C-CBF7-4055-91C6-DA7FAE3CC91A}"/>
              </a:ext>
            </a:extLst>
          </p:cNvPr>
          <p:cNvSpPr txBox="1"/>
          <p:nvPr/>
        </p:nvSpPr>
        <p:spPr>
          <a:xfrm>
            <a:off x="1067444" y="375763"/>
            <a:ext cx="16458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背景分析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720D77A-ADC9-47CF-BBF0-7364BF1DCB43}"/>
              </a:ext>
            </a:extLst>
          </p:cNvPr>
          <p:cNvSpPr txBox="1"/>
          <p:nvPr/>
        </p:nvSpPr>
        <p:spPr>
          <a:xfrm>
            <a:off x="3929891" y="375763"/>
            <a:ext cx="23401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研究步骤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7FE0395-02F7-4CB4-A9DC-9A067D4C727D}"/>
              </a:ext>
            </a:extLst>
          </p:cNvPr>
          <p:cNvSpPr txBox="1"/>
          <p:nvPr/>
        </p:nvSpPr>
        <p:spPr>
          <a:xfrm>
            <a:off x="6888088" y="375763"/>
            <a:ext cx="15526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进展及成果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43FBB74-7D16-46C2-872B-9B4F9F369B0C}"/>
              </a:ext>
            </a:extLst>
          </p:cNvPr>
          <p:cNvSpPr txBox="1"/>
          <p:nvPr/>
        </p:nvSpPr>
        <p:spPr>
          <a:xfrm>
            <a:off x="10002468" y="375763"/>
            <a:ext cx="23401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后期工作</a:t>
            </a:r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4909A469-27EB-49AE-878F-17474A70E559}"/>
              </a:ext>
            </a:extLst>
          </p:cNvPr>
          <p:cNvSpPr/>
          <p:nvPr/>
        </p:nvSpPr>
        <p:spPr>
          <a:xfrm rot="10800000">
            <a:off x="10416480" y="1151636"/>
            <a:ext cx="290416" cy="178103"/>
          </a:xfrm>
          <a:prstGeom prst="triangle">
            <a:avLst/>
          </a:prstGeom>
          <a:solidFill>
            <a:srgbClr val="055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6DAE265-70F6-4DB7-BAF8-64FEFEA1BF27}"/>
              </a:ext>
            </a:extLst>
          </p:cNvPr>
          <p:cNvSpPr txBox="1"/>
          <p:nvPr/>
        </p:nvSpPr>
        <p:spPr>
          <a:xfrm>
            <a:off x="767408" y="1678242"/>
            <a:ext cx="943304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一、阅读查阅相关资料，进一步理清思路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二、尝试对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RNNLM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模型使用不同的参数，优化模型，例如尝试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GRU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，随机失活，增加隐藏层的神经元个数和层数。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三、自动机构建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Ⅰ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特征聚类：用不同的算法以及多种聚类参数（聚类数）进行实验，生成多个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FSA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模型进行对照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Ⅱ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精确度、召回率、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F-measures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的计算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四、尝试对原来的方法进行改进，使其适合用来挖掘较长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trace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的规范。即，当用来训练模型   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trace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较长时，该方法能挖掘出准确的规范。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五、改进方法，提高挖掘出的规范的精确度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/>
              <a:t>      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79847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53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4943872" y="2016866"/>
            <a:ext cx="4282531" cy="2824268"/>
            <a:chOff x="4629911" y="1952182"/>
            <a:chExt cx="4282531" cy="2824268"/>
          </a:xfrm>
        </p:grpSpPr>
        <p:sp>
          <p:nvSpPr>
            <p:cNvPr id="3" name="文本框 2"/>
            <p:cNvSpPr txBox="1"/>
            <p:nvPr/>
          </p:nvSpPr>
          <p:spPr>
            <a:xfrm>
              <a:off x="4989951" y="2943466"/>
              <a:ext cx="3922491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谢谢观看</a:t>
              </a:r>
            </a:p>
          </p:txBody>
        </p:sp>
        <p:cxnSp>
          <p:nvCxnSpPr>
            <p:cNvPr id="5" name="直接连接符 4"/>
            <p:cNvCxnSpPr>
              <a:cxnSpLocks/>
            </p:cNvCxnSpPr>
            <p:nvPr/>
          </p:nvCxnSpPr>
          <p:spPr>
            <a:xfrm>
              <a:off x="4629911" y="1952182"/>
              <a:ext cx="0" cy="2824268"/>
            </a:xfrm>
            <a:prstGeom prst="line">
              <a:avLst/>
            </a:prstGeom>
            <a:ln w="12700">
              <a:gradFill>
                <a:gsLst>
                  <a:gs pos="0">
                    <a:schemeClr val="bg1">
                      <a:alpha val="0"/>
                    </a:schemeClr>
                  </a:gs>
                  <a:gs pos="50000">
                    <a:schemeClr val="tx1"/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  <a:effectLst>
              <a:outerShdw blurRad="50800" dist="254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D2CFBEDB-2F23-4E26-85E0-93D31AB49C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690" b="97594" l="3102" r="97487">
                        <a14:foregroundMark x1="12567" y1="21925" x2="12781" y2="26524"/>
                        <a14:foregroundMark x1="4866" y1="42781" x2="4866" y2="42781"/>
                        <a14:foregroundMark x1="3102" y1="44973" x2="3102" y2="44973"/>
                        <a14:foregroundMark x1="45508" y1="97647" x2="45508" y2="97647"/>
                        <a14:foregroundMark x1="94278" y1="41658" x2="94278" y2="41658"/>
                        <a14:foregroundMark x1="97540" y1="48235" x2="97540" y2="48235"/>
                        <a14:foregroundMark x1="6631" y1="48021" x2="6631" y2="48021"/>
                        <a14:foregroundMark x1="46417" y1="32674" x2="46417" y2="32674"/>
                        <a14:foregroundMark x1="41551" y1="37701" x2="56738" y2="38128"/>
                        <a14:foregroundMark x1="47914" y1="3690" x2="53850" y2="4759"/>
                        <a14:backgroundMark x1="4225" y1="10481" x2="4225" y2="10481"/>
                        <a14:backgroundMark x1="5348" y1="4545" x2="31444" y2="6310"/>
                        <a14:backgroundMark x1="6417" y1="4545" x2="3797" y2="25401"/>
                        <a14:backgroundMark x1="4011" y1="23904" x2="27059" y2="4973"/>
                        <a14:backgroundMark x1="67273" y1="2995" x2="94492" y2="13529"/>
                        <a14:backgroundMark x1="95134" y1="17754" x2="95561" y2="33743"/>
                        <a14:backgroundMark x1="98021" y1="65187" x2="96257" y2="89786"/>
                        <a14:backgroundMark x1="73636" y1="95936" x2="91390" y2="91497"/>
                        <a14:backgroundMark x1="25294" y1="95455" x2="909" y2="88877"/>
                        <a14:backgroundMark x1="7273" y1="64492" x2="9037" y2="822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3132" y="2964398"/>
            <a:ext cx="856947" cy="856947"/>
          </a:xfrm>
          <a:prstGeom prst="rect">
            <a:avLst/>
          </a:prstGeom>
          <a:solidFill>
            <a:schemeClr val="tx1">
              <a:alpha val="0"/>
            </a:schemeClr>
          </a:solidFill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0876A8E-8801-4189-A38F-3DF84227D274}"/>
              </a:ext>
            </a:extLst>
          </p:cNvPr>
          <p:cNvSpPr txBox="1"/>
          <p:nvPr/>
        </p:nvSpPr>
        <p:spPr>
          <a:xfrm>
            <a:off x="7176120" y="5517232"/>
            <a:ext cx="48965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答辩人：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16030130106-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张浩楠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指导老师：张南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2020.3.27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6814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1883</TotalTime>
  <Words>1307</Words>
  <Application>Microsoft Office PowerPoint</Application>
  <PresentationFormat>宽屏</PresentationFormat>
  <Paragraphs>125</Paragraphs>
  <Slides>18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等线</vt:lpstr>
      <vt:lpstr>等线 Light</vt:lpstr>
      <vt:lpstr>微软雅黑</vt:lpstr>
      <vt:lpstr>中山行书百年纪念版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PC</dc:creator>
  <cp:lastModifiedBy>张 浩楠</cp:lastModifiedBy>
  <cp:revision>165</cp:revision>
  <dcterms:created xsi:type="dcterms:W3CDTF">2017-03-29T13:55:45Z</dcterms:created>
  <dcterms:modified xsi:type="dcterms:W3CDTF">2020-04-29T04:46:18Z</dcterms:modified>
</cp:coreProperties>
</file>