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64" r:id="rId5"/>
    <p:sldId id="295" r:id="rId6"/>
    <p:sldId id="268" r:id="rId7"/>
    <p:sldId id="271" r:id="rId8"/>
    <p:sldId id="294" r:id="rId9"/>
    <p:sldId id="282" r:id="rId10"/>
    <p:sldId id="304" r:id="rId11"/>
    <p:sldId id="305" r:id="rId12"/>
    <p:sldId id="306" r:id="rId13"/>
    <p:sldId id="307" r:id="rId14"/>
    <p:sldId id="308" r:id="rId15"/>
    <p:sldId id="299" r:id="rId16"/>
    <p:sldId id="300" r:id="rId17"/>
    <p:sldId id="301" r:id="rId18"/>
    <p:sldId id="302" r:id="rId19"/>
    <p:sldId id="303" r:id="rId20"/>
    <p:sldId id="280"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7" userDrawn="1">
          <p15:clr>
            <a:srgbClr val="A4A3A4"/>
          </p15:clr>
        </p15:guide>
        <p15:guide id="2" pos="529" userDrawn="1">
          <p15:clr>
            <a:srgbClr val="A4A3A4"/>
          </p15:clr>
        </p15:guide>
        <p15:guide id="3" orient="horz" pos="845" userDrawn="1">
          <p15:clr>
            <a:srgbClr val="A4A3A4"/>
          </p15:clr>
        </p15:guide>
        <p15:guide id="4" orient="horz" pos="4065" userDrawn="1">
          <p15:clr>
            <a:srgbClr val="A4A3A4"/>
          </p15:clr>
        </p15:guide>
        <p15:guide id="5" orient="horz" pos="3793" userDrawn="1">
          <p15:clr>
            <a:srgbClr val="A4A3A4"/>
          </p15:clr>
        </p15:guide>
        <p15:guide id="6" pos="7151" userDrawn="1">
          <p15:clr>
            <a:srgbClr val="A4A3A4"/>
          </p15:clr>
        </p15:guide>
        <p15:guide id="7" orient="horz" userDrawn="1">
          <p15:clr>
            <a:srgbClr val="A4A3A4"/>
          </p15:clr>
        </p15:guide>
        <p15:guide id="8" orient="horz" pos="2160" userDrawn="1">
          <p15:clr>
            <a:srgbClr val="A4A3A4"/>
          </p15:clr>
        </p15:guide>
        <p15:guide id="9"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浩楠" initials="张" lastIdx="1" clrIdx="0">
    <p:extLst>
      <p:ext uri="{19B8F6BF-5375-455C-9EA6-DF929625EA0E}">
        <p15:presenceInfo xmlns:p15="http://schemas.microsoft.com/office/powerpoint/2012/main" userId="2467487e1e010e6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70504"/>
    <a:srgbClr val="F877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70" autoAdjust="0"/>
    <p:restoredTop sz="94221" autoAdjust="0"/>
  </p:normalViewPr>
  <p:slideViewPr>
    <p:cSldViewPr snapToGrid="0" snapToObjects="1">
      <p:cViewPr varScale="1">
        <p:scale>
          <a:sx n="81" d="100"/>
          <a:sy n="81" d="100"/>
        </p:scale>
        <p:origin x="898" y="48"/>
      </p:cViewPr>
      <p:guideLst>
        <p:guide orient="horz" pos="527"/>
        <p:guide pos="529"/>
        <p:guide orient="horz" pos="845"/>
        <p:guide orient="horz" pos="4065"/>
        <p:guide orient="horz" pos="3793"/>
        <p:guide pos="7151"/>
        <p:guide orient="horz"/>
        <p:guide orient="horz" pos="2160"/>
        <p:guide pos="3840"/>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90807E-AB48-46BD-B035-7970D285D0C5}" type="doc">
      <dgm:prSet loTypeId="urn:microsoft.com/office/officeart/2005/8/layout/hProcess11" loCatId="process" qsTypeId="urn:microsoft.com/office/officeart/2005/8/quickstyle/simple1" qsCatId="simple" csTypeId="urn:microsoft.com/office/officeart/2005/8/colors/accent0_2" csCatId="mainScheme" phldr="1"/>
      <dgm:spPr/>
      <dgm:t>
        <a:bodyPr/>
        <a:lstStyle/>
        <a:p>
          <a:endParaRPr lang="zh-CN" altLang="en-US"/>
        </a:p>
      </dgm:t>
    </dgm:pt>
    <dgm:pt modelId="{BF863C3A-9F85-428A-B146-75E3CFCFB459}">
      <dgm:prSet phldrT="[文本]" custT="1"/>
      <dgm:spPr/>
      <dgm:t>
        <a:bodyPr/>
        <a:lstStyle/>
        <a:p>
          <a:r>
            <a:rPr lang="zh-CN" altLang="en-US" sz="1600" b="1" dirty="0">
              <a:latin typeface="微软雅黑" panose="020B0503020204020204" pitchFamily="34" charset="-122"/>
              <a:ea typeface="微软雅黑" panose="020B0503020204020204" pitchFamily="34" charset="-122"/>
            </a:rPr>
            <a:t>子集挑选</a:t>
          </a:r>
        </a:p>
      </dgm:t>
    </dgm:pt>
    <dgm:pt modelId="{52D4765D-751E-48EE-8BDA-06EC29FD1C07}" type="parTrans" cxnId="{D1843D33-ACAE-4E43-B977-1ACD43D15598}">
      <dgm:prSet/>
      <dgm:spPr/>
      <dgm:t>
        <a:bodyPr/>
        <a:lstStyle/>
        <a:p>
          <a:endParaRPr lang="zh-CN" altLang="en-US"/>
        </a:p>
      </dgm:t>
    </dgm:pt>
    <dgm:pt modelId="{79CE5354-C122-43E0-B579-8BD568781F7F}" type="sibTrans" cxnId="{D1843D33-ACAE-4E43-B977-1ACD43D15598}">
      <dgm:prSet/>
      <dgm:spPr/>
      <dgm:t>
        <a:bodyPr/>
        <a:lstStyle/>
        <a:p>
          <a:endParaRPr lang="zh-CN" altLang="en-US"/>
        </a:p>
      </dgm:t>
    </dgm:pt>
    <dgm:pt modelId="{7872DCC4-62A6-439A-9A13-AE4778F88413}">
      <dgm:prSet phldrT="[文本]" custT="1"/>
      <dgm:spPr/>
      <dgm:t>
        <a:bodyPr/>
        <a:lstStyle/>
        <a:p>
          <a:pPr marL="0" lvl="0" indent="0" algn="ctr" defTabSz="711200">
            <a:lnSpc>
              <a:spcPct val="90000"/>
            </a:lnSpc>
            <a:spcBef>
              <a:spcPct val="0"/>
            </a:spcBef>
            <a:spcAft>
              <a:spcPct val="35000"/>
            </a:spcAft>
            <a:buNone/>
          </a:pPr>
          <a:r>
            <a:rPr lang="en-US" altLang="zh-CN" sz="1600" b="1" kern="120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RNNLM</a:t>
          </a:r>
          <a:r>
            <a:rPr lang="zh-CN" altLang="en-US" sz="1600" b="1" kern="120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搭建</a:t>
          </a:r>
        </a:p>
      </dgm:t>
    </dgm:pt>
    <dgm:pt modelId="{39CB6C17-653C-40AD-9A36-F5B0E7E9282B}" type="parTrans" cxnId="{1E7BDD57-DB59-4DA1-B5F5-AC53A6CECE41}">
      <dgm:prSet/>
      <dgm:spPr/>
      <dgm:t>
        <a:bodyPr/>
        <a:lstStyle/>
        <a:p>
          <a:endParaRPr lang="zh-CN" altLang="en-US"/>
        </a:p>
      </dgm:t>
    </dgm:pt>
    <dgm:pt modelId="{91262306-4842-4384-89D7-AA15E234718A}" type="sibTrans" cxnId="{1E7BDD57-DB59-4DA1-B5F5-AC53A6CECE41}">
      <dgm:prSet/>
      <dgm:spPr/>
      <dgm:t>
        <a:bodyPr/>
        <a:lstStyle/>
        <a:p>
          <a:endParaRPr lang="zh-CN" altLang="en-US"/>
        </a:p>
      </dgm:t>
    </dgm:pt>
    <dgm:pt modelId="{BE7B7600-0884-4AA8-A990-DCB34529419E}">
      <dgm:prSet phldrT="[文本]" custT="1"/>
      <dgm:spPr/>
      <dgm:t>
        <a:bodyPr/>
        <a:lstStyle/>
        <a:p>
          <a:pPr marL="0" lvl="0" indent="0" algn="ctr" defTabSz="711200">
            <a:lnSpc>
              <a:spcPct val="90000"/>
            </a:lnSpc>
            <a:spcBef>
              <a:spcPct val="0"/>
            </a:spcBef>
            <a:spcAft>
              <a:spcPct val="35000"/>
            </a:spcAft>
            <a:buNone/>
          </a:pPr>
          <a:r>
            <a:rPr lang="zh-CN" altLang="en-US" sz="1600" b="1" kern="120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特征抽取</a:t>
          </a:r>
        </a:p>
      </dgm:t>
    </dgm:pt>
    <dgm:pt modelId="{F8F95EBC-0BD9-4141-825C-AE4B5519530E}" type="parTrans" cxnId="{ABA5922C-ACCF-4BFE-A5B3-6D1DB101DDAB}">
      <dgm:prSet/>
      <dgm:spPr/>
      <dgm:t>
        <a:bodyPr/>
        <a:lstStyle/>
        <a:p>
          <a:endParaRPr lang="zh-CN" altLang="en-US"/>
        </a:p>
      </dgm:t>
    </dgm:pt>
    <dgm:pt modelId="{9FB44C73-5FF9-43CE-814A-3048527B9427}" type="sibTrans" cxnId="{ABA5922C-ACCF-4BFE-A5B3-6D1DB101DDAB}">
      <dgm:prSet/>
      <dgm:spPr/>
      <dgm:t>
        <a:bodyPr/>
        <a:lstStyle/>
        <a:p>
          <a:endParaRPr lang="zh-CN" altLang="en-US"/>
        </a:p>
      </dgm:t>
    </dgm:pt>
    <dgm:pt modelId="{4B0A1A7E-09AD-4AD1-9B1F-D2EB5CCAFB85}">
      <dgm:prSet custT="1"/>
      <dgm:spPr/>
      <dgm:t>
        <a:bodyPr/>
        <a:lstStyle/>
        <a:p>
          <a:pPr marL="0" lvl="0" indent="0" algn="ctr" defTabSz="711200">
            <a:lnSpc>
              <a:spcPct val="90000"/>
            </a:lnSpc>
            <a:spcBef>
              <a:spcPct val="0"/>
            </a:spcBef>
            <a:spcAft>
              <a:spcPct val="35000"/>
            </a:spcAft>
            <a:buNone/>
          </a:pPr>
          <a:r>
            <a:rPr lang="zh-CN" altLang="en-US" sz="1600" b="1" kern="120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模型选择</a:t>
          </a:r>
        </a:p>
      </dgm:t>
    </dgm:pt>
    <dgm:pt modelId="{B8C07931-70F0-41D8-B845-1CE800D06C97}" type="parTrans" cxnId="{4877011A-F92A-49FF-8D9B-A25848FF9388}">
      <dgm:prSet/>
      <dgm:spPr/>
      <dgm:t>
        <a:bodyPr/>
        <a:lstStyle/>
        <a:p>
          <a:endParaRPr lang="zh-CN" altLang="en-US"/>
        </a:p>
      </dgm:t>
    </dgm:pt>
    <dgm:pt modelId="{30D0C8AB-6346-466C-BF75-D32AA3971743}" type="sibTrans" cxnId="{4877011A-F92A-49FF-8D9B-A25848FF9388}">
      <dgm:prSet/>
      <dgm:spPr/>
      <dgm:t>
        <a:bodyPr/>
        <a:lstStyle/>
        <a:p>
          <a:endParaRPr lang="zh-CN" altLang="en-US"/>
        </a:p>
      </dgm:t>
    </dgm:pt>
    <dgm:pt modelId="{C7A6A27D-3ABD-4AD4-BF21-6B742EBBE591}">
      <dgm:prSet phldrT="[文本]" custT="1"/>
      <dgm:spPr/>
      <dgm:t>
        <a:bodyPr/>
        <a:lstStyle/>
        <a:p>
          <a:r>
            <a:rPr lang="zh-CN" altLang="en-US" sz="1600" b="1" kern="120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聚类</a:t>
          </a:r>
        </a:p>
      </dgm:t>
    </dgm:pt>
    <dgm:pt modelId="{52E5573C-E699-4953-A200-32D175E1CBD2}" type="parTrans" cxnId="{0EE78100-8031-4C3F-B818-564B84087BC5}">
      <dgm:prSet/>
      <dgm:spPr/>
      <dgm:t>
        <a:bodyPr/>
        <a:lstStyle/>
        <a:p>
          <a:endParaRPr lang="zh-CN" altLang="en-US"/>
        </a:p>
      </dgm:t>
    </dgm:pt>
    <dgm:pt modelId="{05358617-0B27-4881-AC60-6A9988E2B7D8}" type="sibTrans" cxnId="{0EE78100-8031-4C3F-B818-564B84087BC5}">
      <dgm:prSet/>
      <dgm:spPr/>
      <dgm:t>
        <a:bodyPr/>
        <a:lstStyle/>
        <a:p>
          <a:endParaRPr lang="zh-CN" altLang="en-US"/>
        </a:p>
      </dgm:t>
    </dgm:pt>
    <dgm:pt modelId="{DCE8ED81-10E5-4FA4-9248-88AB6C2FA1B6}" type="pres">
      <dgm:prSet presAssocID="{F190807E-AB48-46BD-B035-7970D285D0C5}" presName="Name0" presStyleCnt="0">
        <dgm:presLayoutVars>
          <dgm:dir/>
          <dgm:resizeHandles val="exact"/>
        </dgm:presLayoutVars>
      </dgm:prSet>
      <dgm:spPr/>
    </dgm:pt>
    <dgm:pt modelId="{902B444C-BC89-4E33-B495-00F5DE95F52E}" type="pres">
      <dgm:prSet presAssocID="{F190807E-AB48-46BD-B035-7970D285D0C5}" presName="arrow" presStyleLbl="bgShp" presStyleIdx="0" presStyleCnt="1"/>
      <dgm:spPr>
        <a:solidFill>
          <a:schemeClr val="bg2">
            <a:lumMod val="50000"/>
          </a:schemeClr>
        </a:solidFill>
      </dgm:spPr>
    </dgm:pt>
    <dgm:pt modelId="{D888DB50-8CFC-47A1-ADDF-107BB3FABA11}" type="pres">
      <dgm:prSet presAssocID="{F190807E-AB48-46BD-B035-7970D285D0C5}" presName="points" presStyleCnt="0"/>
      <dgm:spPr/>
    </dgm:pt>
    <dgm:pt modelId="{A15BDDE9-F459-47E2-BB75-44B9EF4A5C74}" type="pres">
      <dgm:prSet presAssocID="{BF863C3A-9F85-428A-B146-75E3CFCFB459}" presName="compositeA" presStyleCnt="0"/>
      <dgm:spPr/>
    </dgm:pt>
    <dgm:pt modelId="{853A8521-D283-4593-A028-68CC58B783BB}" type="pres">
      <dgm:prSet presAssocID="{BF863C3A-9F85-428A-B146-75E3CFCFB459}" presName="textA" presStyleLbl="revTx" presStyleIdx="0" presStyleCnt="5">
        <dgm:presLayoutVars>
          <dgm:bulletEnabled val="1"/>
        </dgm:presLayoutVars>
      </dgm:prSet>
      <dgm:spPr/>
    </dgm:pt>
    <dgm:pt modelId="{A2909611-8A00-4913-BDF5-BA962D3191B2}" type="pres">
      <dgm:prSet presAssocID="{BF863C3A-9F85-428A-B146-75E3CFCFB459}" presName="circleA" presStyleLbl="node1" presStyleIdx="0" presStyleCnt="5"/>
      <dgm:spPr/>
    </dgm:pt>
    <dgm:pt modelId="{A0282995-361B-4848-ACE7-7FE1028F0A16}" type="pres">
      <dgm:prSet presAssocID="{BF863C3A-9F85-428A-B146-75E3CFCFB459}" presName="spaceA" presStyleCnt="0"/>
      <dgm:spPr/>
    </dgm:pt>
    <dgm:pt modelId="{040A8EAC-4983-4EAA-B29B-48BA452D05E8}" type="pres">
      <dgm:prSet presAssocID="{79CE5354-C122-43E0-B579-8BD568781F7F}" presName="space" presStyleCnt="0"/>
      <dgm:spPr/>
    </dgm:pt>
    <dgm:pt modelId="{C7312726-0152-4FAC-82B3-E1F37D101608}" type="pres">
      <dgm:prSet presAssocID="{7872DCC4-62A6-439A-9A13-AE4778F88413}" presName="compositeB" presStyleCnt="0"/>
      <dgm:spPr/>
    </dgm:pt>
    <dgm:pt modelId="{E7D9B93F-CE16-44EF-8AEF-4794AB16F143}" type="pres">
      <dgm:prSet presAssocID="{7872DCC4-62A6-439A-9A13-AE4778F88413}" presName="textB" presStyleLbl="revTx" presStyleIdx="1" presStyleCnt="5">
        <dgm:presLayoutVars>
          <dgm:bulletEnabled val="1"/>
        </dgm:presLayoutVars>
      </dgm:prSet>
      <dgm:spPr/>
    </dgm:pt>
    <dgm:pt modelId="{14214603-8840-49F3-ACB4-F8CF3CE018AB}" type="pres">
      <dgm:prSet presAssocID="{7872DCC4-62A6-439A-9A13-AE4778F88413}" presName="circleB" presStyleLbl="node1" presStyleIdx="1" presStyleCnt="5" custLinFactNeighborX="-13632" custLinFactNeighborY="-440"/>
      <dgm:spPr/>
    </dgm:pt>
    <dgm:pt modelId="{18F46CD7-EBA3-49D8-ACDE-9BEC8E7CCF63}" type="pres">
      <dgm:prSet presAssocID="{7872DCC4-62A6-439A-9A13-AE4778F88413}" presName="spaceB" presStyleCnt="0"/>
      <dgm:spPr/>
    </dgm:pt>
    <dgm:pt modelId="{C47CA1EB-375C-42B9-8DCE-8E9CCE067929}" type="pres">
      <dgm:prSet presAssocID="{91262306-4842-4384-89D7-AA15E234718A}" presName="space" presStyleCnt="0"/>
      <dgm:spPr/>
    </dgm:pt>
    <dgm:pt modelId="{D0D1AFD4-B4D0-45DF-9521-5864EA7294D5}" type="pres">
      <dgm:prSet presAssocID="{BE7B7600-0884-4AA8-A990-DCB34529419E}" presName="compositeA" presStyleCnt="0"/>
      <dgm:spPr/>
    </dgm:pt>
    <dgm:pt modelId="{70F85BB0-6C28-474C-85AB-ABB45262E040}" type="pres">
      <dgm:prSet presAssocID="{BE7B7600-0884-4AA8-A990-DCB34529419E}" presName="textA" presStyleLbl="revTx" presStyleIdx="2" presStyleCnt="5">
        <dgm:presLayoutVars>
          <dgm:bulletEnabled val="1"/>
        </dgm:presLayoutVars>
      </dgm:prSet>
      <dgm:spPr/>
    </dgm:pt>
    <dgm:pt modelId="{9552BB81-120E-4792-8D5C-A2EE70CD0C15}" type="pres">
      <dgm:prSet presAssocID="{BE7B7600-0884-4AA8-A990-DCB34529419E}" presName="circleA" presStyleLbl="node1" presStyleIdx="2" presStyleCnt="5" custLinFactNeighborX="42190" custLinFactNeighborY="-3536"/>
      <dgm:spPr/>
    </dgm:pt>
    <dgm:pt modelId="{410F986B-32F6-4EA4-84C3-3F28E4C5AF51}" type="pres">
      <dgm:prSet presAssocID="{BE7B7600-0884-4AA8-A990-DCB34529419E}" presName="spaceA" presStyleCnt="0"/>
      <dgm:spPr/>
    </dgm:pt>
    <dgm:pt modelId="{C0FD4BB9-2958-44E3-9635-18330D824E0D}" type="pres">
      <dgm:prSet presAssocID="{9FB44C73-5FF9-43CE-814A-3048527B9427}" presName="space" presStyleCnt="0"/>
      <dgm:spPr/>
    </dgm:pt>
    <dgm:pt modelId="{FDF1E5C0-1C1B-4C7A-BEA4-49E82FB59E82}" type="pres">
      <dgm:prSet presAssocID="{C7A6A27D-3ABD-4AD4-BF21-6B742EBBE591}" presName="compositeB" presStyleCnt="0"/>
      <dgm:spPr/>
    </dgm:pt>
    <dgm:pt modelId="{9A891259-A992-4AAF-A391-E6E41B28CE99}" type="pres">
      <dgm:prSet presAssocID="{C7A6A27D-3ABD-4AD4-BF21-6B742EBBE591}" presName="textB" presStyleLbl="revTx" presStyleIdx="3" presStyleCnt="5">
        <dgm:presLayoutVars>
          <dgm:bulletEnabled val="1"/>
        </dgm:presLayoutVars>
      </dgm:prSet>
      <dgm:spPr/>
    </dgm:pt>
    <dgm:pt modelId="{E51475CA-49C9-40A9-A613-09104108BFA7}" type="pres">
      <dgm:prSet presAssocID="{C7A6A27D-3ABD-4AD4-BF21-6B742EBBE591}" presName="circleB" presStyleLbl="node1" presStyleIdx="3" presStyleCnt="5" custLinFactNeighborX="34081" custLinFactNeighborY="-440"/>
      <dgm:spPr/>
    </dgm:pt>
    <dgm:pt modelId="{6C03CCFC-7BC0-483C-A2FA-58AC5DB80BD9}" type="pres">
      <dgm:prSet presAssocID="{C7A6A27D-3ABD-4AD4-BF21-6B742EBBE591}" presName="spaceB" presStyleCnt="0"/>
      <dgm:spPr/>
    </dgm:pt>
    <dgm:pt modelId="{CF7A9DE3-4A8A-4A26-95FD-69E55D2766F2}" type="pres">
      <dgm:prSet presAssocID="{05358617-0B27-4881-AC60-6A9988E2B7D8}" presName="space" presStyleCnt="0"/>
      <dgm:spPr/>
    </dgm:pt>
    <dgm:pt modelId="{204F5DDC-7833-4C90-8E6A-4614CEF6AA39}" type="pres">
      <dgm:prSet presAssocID="{4B0A1A7E-09AD-4AD1-9B1F-D2EB5CCAFB85}" presName="compositeA" presStyleCnt="0"/>
      <dgm:spPr/>
    </dgm:pt>
    <dgm:pt modelId="{CB4AA2DC-F781-4D3C-B453-3116FD0A2D4E}" type="pres">
      <dgm:prSet presAssocID="{4B0A1A7E-09AD-4AD1-9B1F-D2EB5CCAFB85}" presName="textA" presStyleLbl="revTx" presStyleIdx="4" presStyleCnt="5" custLinFactNeighborX="4963">
        <dgm:presLayoutVars>
          <dgm:bulletEnabled val="1"/>
        </dgm:presLayoutVars>
      </dgm:prSet>
      <dgm:spPr/>
    </dgm:pt>
    <dgm:pt modelId="{B0F6C088-BA2D-4D46-96B1-7626359B49A3}" type="pres">
      <dgm:prSet presAssocID="{4B0A1A7E-09AD-4AD1-9B1F-D2EB5CCAFB85}" presName="circleA" presStyleLbl="node1" presStyleIdx="4" presStyleCnt="5" custLinFactNeighborX="17040" custLinFactNeighborY="-3535"/>
      <dgm:spPr/>
    </dgm:pt>
    <dgm:pt modelId="{212978F7-2511-4CD8-A498-D9858C0D43E7}" type="pres">
      <dgm:prSet presAssocID="{4B0A1A7E-09AD-4AD1-9B1F-D2EB5CCAFB85}" presName="spaceA" presStyleCnt="0"/>
      <dgm:spPr/>
    </dgm:pt>
  </dgm:ptLst>
  <dgm:cxnLst>
    <dgm:cxn modelId="{0EE78100-8031-4C3F-B818-564B84087BC5}" srcId="{F190807E-AB48-46BD-B035-7970D285D0C5}" destId="{C7A6A27D-3ABD-4AD4-BF21-6B742EBBE591}" srcOrd="3" destOrd="0" parTransId="{52E5573C-E699-4953-A200-32D175E1CBD2}" sibTransId="{05358617-0B27-4881-AC60-6A9988E2B7D8}"/>
    <dgm:cxn modelId="{1BF59C0D-E9FD-45FB-89C3-8DD1D511E3CA}" type="presOf" srcId="{4B0A1A7E-09AD-4AD1-9B1F-D2EB5CCAFB85}" destId="{CB4AA2DC-F781-4D3C-B453-3116FD0A2D4E}" srcOrd="0" destOrd="0" presId="urn:microsoft.com/office/officeart/2005/8/layout/hProcess11"/>
    <dgm:cxn modelId="{4877011A-F92A-49FF-8D9B-A25848FF9388}" srcId="{F190807E-AB48-46BD-B035-7970D285D0C5}" destId="{4B0A1A7E-09AD-4AD1-9B1F-D2EB5CCAFB85}" srcOrd="4" destOrd="0" parTransId="{B8C07931-70F0-41D8-B845-1CE800D06C97}" sibTransId="{30D0C8AB-6346-466C-BF75-D32AA3971743}"/>
    <dgm:cxn modelId="{D1C3BF22-1860-4BB4-8E48-593FCBB25FD5}" type="presOf" srcId="{BE7B7600-0884-4AA8-A990-DCB34529419E}" destId="{70F85BB0-6C28-474C-85AB-ABB45262E040}" srcOrd="0" destOrd="0" presId="urn:microsoft.com/office/officeart/2005/8/layout/hProcess11"/>
    <dgm:cxn modelId="{ABA5922C-ACCF-4BFE-A5B3-6D1DB101DDAB}" srcId="{F190807E-AB48-46BD-B035-7970D285D0C5}" destId="{BE7B7600-0884-4AA8-A990-DCB34529419E}" srcOrd="2" destOrd="0" parTransId="{F8F95EBC-0BD9-4141-825C-AE4B5519530E}" sibTransId="{9FB44C73-5FF9-43CE-814A-3048527B9427}"/>
    <dgm:cxn modelId="{D1843D33-ACAE-4E43-B977-1ACD43D15598}" srcId="{F190807E-AB48-46BD-B035-7970D285D0C5}" destId="{BF863C3A-9F85-428A-B146-75E3CFCFB459}" srcOrd="0" destOrd="0" parTransId="{52D4765D-751E-48EE-8BDA-06EC29FD1C07}" sibTransId="{79CE5354-C122-43E0-B579-8BD568781F7F}"/>
    <dgm:cxn modelId="{8C963966-3F62-4F52-A5F1-E4D80972C225}" type="presOf" srcId="{7872DCC4-62A6-439A-9A13-AE4778F88413}" destId="{E7D9B93F-CE16-44EF-8AEF-4794AB16F143}" srcOrd="0" destOrd="0" presId="urn:microsoft.com/office/officeart/2005/8/layout/hProcess11"/>
    <dgm:cxn modelId="{1E7BDD57-DB59-4DA1-B5F5-AC53A6CECE41}" srcId="{F190807E-AB48-46BD-B035-7970D285D0C5}" destId="{7872DCC4-62A6-439A-9A13-AE4778F88413}" srcOrd="1" destOrd="0" parTransId="{39CB6C17-653C-40AD-9A36-F5B0E7E9282B}" sibTransId="{91262306-4842-4384-89D7-AA15E234718A}"/>
    <dgm:cxn modelId="{3B77778B-22B2-4694-8503-B219AB717783}" type="presOf" srcId="{F190807E-AB48-46BD-B035-7970D285D0C5}" destId="{DCE8ED81-10E5-4FA4-9248-88AB6C2FA1B6}" srcOrd="0" destOrd="0" presId="urn:microsoft.com/office/officeart/2005/8/layout/hProcess11"/>
    <dgm:cxn modelId="{368B9E95-A12C-4BDB-9CD5-49A2C8EAEF1E}" type="presOf" srcId="{BF863C3A-9F85-428A-B146-75E3CFCFB459}" destId="{853A8521-D283-4593-A028-68CC58B783BB}" srcOrd="0" destOrd="0" presId="urn:microsoft.com/office/officeart/2005/8/layout/hProcess11"/>
    <dgm:cxn modelId="{BDC35BF8-3F5E-49AA-8F2A-919DC276A42F}" type="presOf" srcId="{C7A6A27D-3ABD-4AD4-BF21-6B742EBBE591}" destId="{9A891259-A992-4AAF-A391-E6E41B28CE99}" srcOrd="0" destOrd="0" presId="urn:microsoft.com/office/officeart/2005/8/layout/hProcess11"/>
    <dgm:cxn modelId="{E46BA8B8-B9C6-4A45-8E22-903358CF372B}" type="presParOf" srcId="{DCE8ED81-10E5-4FA4-9248-88AB6C2FA1B6}" destId="{902B444C-BC89-4E33-B495-00F5DE95F52E}" srcOrd="0" destOrd="0" presId="urn:microsoft.com/office/officeart/2005/8/layout/hProcess11"/>
    <dgm:cxn modelId="{EA87E772-C13B-4201-AB16-7B6AB99835B6}" type="presParOf" srcId="{DCE8ED81-10E5-4FA4-9248-88AB6C2FA1B6}" destId="{D888DB50-8CFC-47A1-ADDF-107BB3FABA11}" srcOrd="1" destOrd="0" presId="urn:microsoft.com/office/officeart/2005/8/layout/hProcess11"/>
    <dgm:cxn modelId="{9AE2ECD2-1F4A-4DD9-B126-3AB1CDD73B94}" type="presParOf" srcId="{D888DB50-8CFC-47A1-ADDF-107BB3FABA11}" destId="{A15BDDE9-F459-47E2-BB75-44B9EF4A5C74}" srcOrd="0" destOrd="0" presId="urn:microsoft.com/office/officeart/2005/8/layout/hProcess11"/>
    <dgm:cxn modelId="{4BB9CE5F-3265-45D2-87CD-C236BF7AA9A8}" type="presParOf" srcId="{A15BDDE9-F459-47E2-BB75-44B9EF4A5C74}" destId="{853A8521-D283-4593-A028-68CC58B783BB}" srcOrd="0" destOrd="0" presId="urn:microsoft.com/office/officeart/2005/8/layout/hProcess11"/>
    <dgm:cxn modelId="{48D4E030-7393-4613-9171-A706F363EBFE}" type="presParOf" srcId="{A15BDDE9-F459-47E2-BB75-44B9EF4A5C74}" destId="{A2909611-8A00-4913-BDF5-BA962D3191B2}" srcOrd="1" destOrd="0" presId="urn:microsoft.com/office/officeart/2005/8/layout/hProcess11"/>
    <dgm:cxn modelId="{94738A1D-8C26-45B4-942E-17F6462B121B}" type="presParOf" srcId="{A15BDDE9-F459-47E2-BB75-44B9EF4A5C74}" destId="{A0282995-361B-4848-ACE7-7FE1028F0A16}" srcOrd="2" destOrd="0" presId="urn:microsoft.com/office/officeart/2005/8/layout/hProcess11"/>
    <dgm:cxn modelId="{428D31EC-4547-4834-A4D1-014B372C6A5C}" type="presParOf" srcId="{D888DB50-8CFC-47A1-ADDF-107BB3FABA11}" destId="{040A8EAC-4983-4EAA-B29B-48BA452D05E8}" srcOrd="1" destOrd="0" presId="urn:microsoft.com/office/officeart/2005/8/layout/hProcess11"/>
    <dgm:cxn modelId="{174CB9F8-032F-4325-A1D1-762C866E8B37}" type="presParOf" srcId="{D888DB50-8CFC-47A1-ADDF-107BB3FABA11}" destId="{C7312726-0152-4FAC-82B3-E1F37D101608}" srcOrd="2" destOrd="0" presId="urn:microsoft.com/office/officeart/2005/8/layout/hProcess11"/>
    <dgm:cxn modelId="{E44626B7-8310-46A5-B26A-04EE09893221}" type="presParOf" srcId="{C7312726-0152-4FAC-82B3-E1F37D101608}" destId="{E7D9B93F-CE16-44EF-8AEF-4794AB16F143}" srcOrd="0" destOrd="0" presId="urn:microsoft.com/office/officeart/2005/8/layout/hProcess11"/>
    <dgm:cxn modelId="{DB37FAC0-C46C-44C2-B139-A10639660F78}" type="presParOf" srcId="{C7312726-0152-4FAC-82B3-E1F37D101608}" destId="{14214603-8840-49F3-ACB4-F8CF3CE018AB}" srcOrd="1" destOrd="0" presId="urn:microsoft.com/office/officeart/2005/8/layout/hProcess11"/>
    <dgm:cxn modelId="{9131124C-F479-49E0-887C-D705191B9D10}" type="presParOf" srcId="{C7312726-0152-4FAC-82B3-E1F37D101608}" destId="{18F46CD7-EBA3-49D8-ACDE-9BEC8E7CCF63}" srcOrd="2" destOrd="0" presId="urn:microsoft.com/office/officeart/2005/8/layout/hProcess11"/>
    <dgm:cxn modelId="{8BBE7C7F-4166-48CE-9DF8-48CD4B735097}" type="presParOf" srcId="{D888DB50-8CFC-47A1-ADDF-107BB3FABA11}" destId="{C47CA1EB-375C-42B9-8DCE-8E9CCE067929}" srcOrd="3" destOrd="0" presId="urn:microsoft.com/office/officeart/2005/8/layout/hProcess11"/>
    <dgm:cxn modelId="{0ADA744A-4CD1-4E2D-9D02-6D6CCAE0E8F7}" type="presParOf" srcId="{D888DB50-8CFC-47A1-ADDF-107BB3FABA11}" destId="{D0D1AFD4-B4D0-45DF-9521-5864EA7294D5}" srcOrd="4" destOrd="0" presId="urn:microsoft.com/office/officeart/2005/8/layout/hProcess11"/>
    <dgm:cxn modelId="{73EF6727-8A39-4BF2-B174-FB57D75FC747}" type="presParOf" srcId="{D0D1AFD4-B4D0-45DF-9521-5864EA7294D5}" destId="{70F85BB0-6C28-474C-85AB-ABB45262E040}" srcOrd="0" destOrd="0" presId="urn:microsoft.com/office/officeart/2005/8/layout/hProcess11"/>
    <dgm:cxn modelId="{83388BAE-574E-44F5-B4BE-41925E703A02}" type="presParOf" srcId="{D0D1AFD4-B4D0-45DF-9521-5864EA7294D5}" destId="{9552BB81-120E-4792-8D5C-A2EE70CD0C15}" srcOrd="1" destOrd="0" presId="urn:microsoft.com/office/officeart/2005/8/layout/hProcess11"/>
    <dgm:cxn modelId="{CD95D18D-5EAA-4376-8CD0-AD1BDA74EB6B}" type="presParOf" srcId="{D0D1AFD4-B4D0-45DF-9521-5864EA7294D5}" destId="{410F986B-32F6-4EA4-84C3-3F28E4C5AF51}" srcOrd="2" destOrd="0" presId="urn:microsoft.com/office/officeart/2005/8/layout/hProcess11"/>
    <dgm:cxn modelId="{588CC5D0-4468-4E83-BF8A-49A4EB8B81E7}" type="presParOf" srcId="{D888DB50-8CFC-47A1-ADDF-107BB3FABA11}" destId="{C0FD4BB9-2958-44E3-9635-18330D824E0D}" srcOrd="5" destOrd="0" presId="urn:microsoft.com/office/officeart/2005/8/layout/hProcess11"/>
    <dgm:cxn modelId="{83DB00AC-D55A-4775-870D-2DC1E533AB20}" type="presParOf" srcId="{D888DB50-8CFC-47A1-ADDF-107BB3FABA11}" destId="{FDF1E5C0-1C1B-4C7A-BEA4-49E82FB59E82}" srcOrd="6" destOrd="0" presId="urn:microsoft.com/office/officeart/2005/8/layout/hProcess11"/>
    <dgm:cxn modelId="{AEE247B9-0F5B-4804-842D-50255D7E62BC}" type="presParOf" srcId="{FDF1E5C0-1C1B-4C7A-BEA4-49E82FB59E82}" destId="{9A891259-A992-4AAF-A391-E6E41B28CE99}" srcOrd="0" destOrd="0" presId="urn:microsoft.com/office/officeart/2005/8/layout/hProcess11"/>
    <dgm:cxn modelId="{69C848F9-DF14-46A6-8167-483043E5EF5C}" type="presParOf" srcId="{FDF1E5C0-1C1B-4C7A-BEA4-49E82FB59E82}" destId="{E51475CA-49C9-40A9-A613-09104108BFA7}" srcOrd="1" destOrd="0" presId="urn:microsoft.com/office/officeart/2005/8/layout/hProcess11"/>
    <dgm:cxn modelId="{AC8623CE-E86E-42B2-80E4-B62CF790AD53}" type="presParOf" srcId="{FDF1E5C0-1C1B-4C7A-BEA4-49E82FB59E82}" destId="{6C03CCFC-7BC0-483C-A2FA-58AC5DB80BD9}" srcOrd="2" destOrd="0" presId="urn:microsoft.com/office/officeart/2005/8/layout/hProcess11"/>
    <dgm:cxn modelId="{D6E452CF-07EA-4488-93A3-A6DCF6AD0E48}" type="presParOf" srcId="{D888DB50-8CFC-47A1-ADDF-107BB3FABA11}" destId="{CF7A9DE3-4A8A-4A26-95FD-69E55D2766F2}" srcOrd="7" destOrd="0" presId="urn:microsoft.com/office/officeart/2005/8/layout/hProcess11"/>
    <dgm:cxn modelId="{08E49FC7-45FC-448D-A12B-835D1FDD591F}" type="presParOf" srcId="{D888DB50-8CFC-47A1-ADDF-107BB3FABA11}" destId="{204F5DDC-7833-4C90-8E6A-4614CEF6AA39}" srcOrd="8" destOrd="0" presId="urn:microsoft.com/office/officeart/2005/8/layout/hProcess11"/>
    <dgm:cxn modelId="{0488E50B-5DB0-4798-BDAA-747416B4D66C}" type="presParOf" srcId="{204F5DDC-7833-4C90-8E6A-4614CEF6AA39}" destId="{CB4AA2DC-F781-4D3C-B453-3116FD0A2D4E}" srcOrd="0" destOrd="0" presId="urn:microsoft.com/office/officeart/2005/8/layout/hProcess11"/>
    <dgm:cxn modelId="{F0CB3725-BB0D-40AC-AA21-653B4595E61F}" type="presParOf" srcId="{204F5DDC-7833-4C90-8E6A-4614CEF6AA39}" destId="{B0F6C088-BA2D-4D46-96B1-7626359B49A3}" srcOrd="1" destOrd="0" presId="urn:microsoft.com/office/officeart/2005/8/layout/hProcess11"/>
    <dgm:cxn modelId="{F7863E24-1ADD-4596-811A-26D54882A1FC}" type="presParOf" srcId="{204F5DDC-7833-4C90-8E6A-4614CEF6AA39}" destId="{212978F7-2511-4CD8-A498-D9858C0D43E7}" srcOrd="2" destOrd="0" presId="urn:microsoft.com/office/officeart/2005/8/layout/hProcess1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2B444C-BC89-4E33-B495-00F5DE95F52E}">
      <dsp:nvSpPr>
        <dsp:cNvPr id="0" name=""/>
        <dsp:cNvSpPr/>
      </dsp:nvSpPr>
      <dsp:spPr>
        <a:xfrm>
          <a:off x="0" y="670750"/>
          <a:ext cx="7513144" cy="894334"/>
        </a:xfrm>
        <a:prstGeom prst="notchedRightArrow">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853A8521-D283-4593-A028-68CC58B783BB}">
      <dsp:nvSpPr>
        <dsp:cNvPr id="0" name=""/>
        <dsp:cNvSpPr/>
      </dsp:nvSpPr>
      <dsp:spPr>
        <a:xfrm>
          <a:off x="2971" y="0"/>
          <a:ext cx="1299208" cy="894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子集挑选</a:t>
          </a:r>
        </a:p>
      </dsp:txBody>
      <dsp:txXfrm>
        <a:off x="2971" y="0"/>
        <a:ext cx="1299208" cy="894334"/>
      </dsp:txXfrm>
    </dsp:sp>
    <dsp:sp modelId="{A2909611-8A00-4913-BDF5-BA962D3191B2}">
      <dsp:nvSpPr>
        <dsp:cNvPr id="0" name=""/>
        <dsp:cNvSpPr/>
      </dsp:nvSpPr>
      <dsp:spPr>
        <a:xfrm>
          <a:off x="540784" y="1006125"/>
          <a:ext cx="223583" cy="223583"/>
        </a:xfrm>
        <a:prstGeom prst="ellips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D9B93F-CE16-44EF-8AEF-4794AB16F143}">
      <dsp:nvSpPr>
        <dsp:cNvPr id="0" name=""/>
        <dsp:cNvSpPr/>
      </dsp:nvSpPr>
      <dsp:spPr>
        <a:xfrm>
          <a:off x="1367140" y="1341501"/>
          <a:ext cx="1299208" cy="894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US" altLang="zh-CN" sz="1600" b="1" kern="120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RNNLM</a:t>
          </a:r>
          <a:r>
            <a:rPr lang="zh-CN" altLang="en-US" sz="1600" b="1" kern="120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搭建</a:t>
          </a:r>
        </a:p>
      </dsp:txBody>
      <dsp:txXfrm>
        <a:off x="1367140" y="1341501"/>
        <a:ext cx="1299208" cy="894334"/>
      </dsp:txXfrm>
    </dsp:sp>
    <dsp:sp modelId="{14214603-8840-49F3-ACB4-F8CF3CE018AB}">
      <dsp:nvSpPr>
        <dsp:cNvPr id="0" name=""/>
        <dsp:cNvSpPr/>
      </dsp:nvSpPr>
      <dsp:spPr>
        <a:xfrm>
          <a:off x="1874474" y="1005141"/>
          <a:ext cx="223583" cy="223583"/>
        </a:xfrm>
        <a:prstGeom prst="ellips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F85BB0-6C28-474C-85AB-ABB45262E040}">
      <dsp:nvSpPr>
        <dsp:cNvPr id="0" name=""/>
        <dsp:cNvSpPr/>
      </dsp:nvSpPr>
      <dsp:spPr>
        <a:xfrm>
          <a:off x="2731310" y="0"/>
          <a:ext cx="1299208" cy="894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zh-CN" altLang="en-US" sz="1600" b="1" kern="120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特征抽取</a:t>
          </a:r>
        </a:p>
      </dsp:txBody>
      <dsp:txXfrm>
        <a:off x="2731310" y="0"/>
        <a:ext cx="1299208" cy="894334"/>
      </dsp:txXfrm>
    </dsp:sp>
    <dsp:sp modelId="{9552BB81-120E-4792-8D5C-A2EE70CD0C15}">
      <dsp:nvSpPr>
        <dsp:cNvPr id="0" name=""/>
        <dsp:cNvSpPr/>
      </dsp:nvSpPr>
      <dsp:spPr>
        <a:xfrm>
          <a:off x="3363452" y="998219"/>
          <a:ext cx="223583" cy="223583"/>
        </a:xfrm>
        <a:prstGeom prst="ellips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891259-A992-4AAF-A391-E6E41B28CE99}">
      <dsp:nvSpPr>
        <dsp:cNvPr id="0" name=""/>
        <dsp:cNvSpPr/>
      </dsp:nvSpPr>
      <dsp:spPr>
        <a:xfrm>
          <a:off x="4095479" y="1341501"/>
          <a:ext cx="1299208" cy="894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zh-CN" altLang="en-US" sz="1600" b="1" kern="120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聚类</a:t>
          </a:r>
        </a:p>
      </dsp:txBody>
      <dsp:txXfrm>
        <a:off x="4095479" y="1341501"/>
        <a:ext cx="1299208" cy="894334"/>
      </dsp:txXfrm>
    </dsp:sp>
    <dsp:sp modelId="{E51475CA-49C9-40A9-A613-09104108BFA7}">
      <dsp:nvSpPr>
        <dsp:cNvPr id="0" name=""/>
        <dsp:cNvSpPr/>
      </dsp:nvSpPr>
      <dsp:spPr>
        <a:xfrm>
          <a:off x="4709491" y="1005141"/>
          <a:ext cx="223583" cy="223583"/>
        </a:xfrm>
        <a:prstGeom prst="ellips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4AA2DC-F781-4D3C-B453-3116FD0A2D4E}">
      <dsp:nvSpPr>
        <dsp:cNvPr id="0" name=""/>
        <dsp:cNvSpPr/>
      </dsp:nvSpPr>
      <dsp:spPr>
        <a:xfrm>
          <a:off x="5524128" y="0"/>
          <a:ext cx="1299208" cy="894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zh-CN" altLang="en-US" sz="1600" b="1" kern="120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模型选择</a:t>
          </a:r>
        </a:p>
      </dsp:txBody>
      <dsp:txXfrm>
        <a:off x="5524128" y="0"/>
        <a:ext cx="1299208" cy="894334"/>
      </dsp:txXfrm>
    </dsp:sp>
    <dsp:sp modelId="{B0F6C088-BA2D-4D46-96B1-7626359B49A3}">
      <dsp:nvSpPr>
        <dsp:cNvPr id="0" name=""/>
        <dsp:cNvSpPr/>
      </dsp:nvSpPr>
      <dsp:spPr>
        <a:xfrm>
          <a:off x="6035560" y="998222"/>
          <a:ext cx="223583" cy="223583"/>
        </a:xfrm>
        <a:prstGeom prst="ellips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A8DF2C-48CD-2F47-94CA-CD8AC056331B}" type="datetimeFigureOut">
              <a:rPr kumimoji="1" lang="zh-CN" altLang="en-US" smtClean="0"/>
              <a:t>2020/5/29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A7046-F370-CA44-A09C-93B5FDE04322}" type="slidenum">
              <a:rPr kumimoji="1" lang="zh-CN" altLang="en-US" smtClean="0"/>
              <a:t>‹#›</a:t>
            </a:fld>
            <a:endParaRPr kumimoji="1" lang="zh-CN" altLang="en-US"/>
          </a:p>
        </p:txBody>
      </p:sp>
    </p:spTree>
    <p:extLst>
      <p:ext uri="{BB962C8B-B14F-4D97-AF65-F5344CB8AC3E}">
        <p14:creationId xmlns:p14="http://schemas.microsoft.com/office/powerpoint/2010/main" val="95572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2</a:t>
            </a:fld>
            <a:endParaRPr kumimoji="1" lang="zh-CN" altLang="en-US"/>
          </a:p>
        </p:txBody>
      </p:sp>
    </p:spTree>
    <p:extLst>
      <p:ext uri="{BB962C8B-B14F-4D97-AF65-F5344CB8AC3E}">
        <p14:creationId xmlns:p14="http://schemas.microsoft.com/office/powerpoint/2010/main" val="1841081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3</a:t>
            </a:fld>
            <a:endParaRPr kumimoji="1" lang="zh-CN" altLang="en-US"/>
          </a:p>
        </p:txBody>
      </p:sp>
    </p:spTree>
    <p:extLst>
      <p:ext uri="{BB962C8B-B14F-4D97-AF65-F5344CB8AC3E}">
        <p14:creationId xmlns:p14="http://schemas.microsoft.com/office/powerpoint/2010/main" val="1036524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4</a:t>
            </a:fld>
            <a:endParaRPr kumimoji="1" lang="zh-CN" altLang="en-US"/>
          </a:p>
        </p:txBody>
      </p:sp>
    </p:spTree>
    <p:extLst>
      <p:ext uri="{BB962C8B-B14F-4D97-AF65-F5344CB8AC3E}">
        <p14:creationId xmlns:p14="http://schemas.microsoft.com/office/powerpoint/2010/main" val="410407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5</a:t>
            </a:fld>
            <a:endParaRPr kumimoji="1" lang="zh-CN" altLang="en-US"/>
          </a:p>
        </p:txBody>
      </p:sp>
    </p:spTree>
    <p:extLst>
      <p:ext uri="{BB962C8B-B14F-4D97-AF65-F5344CB8AC3E}">
        <p14:creationId xmlns:p14="http://schemas.microsoft.com/office/powerpoint/2010/main" val="3935038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6</a:t>
            </a:fld>
            <a:endParaRPr kumimoji="1" lang="zh-CN" altLang="en-US"/>
          </a:p>
        </p:txBody>
      </p:sp>
    </p:spTree>
    <p:extLst>
      <p:ext uri="{BB962C8B-B14F-4D97-AF65-F5344CB8AC3E}">
        <p14:creationId xmlns:p14="http://schemas.microsoft.com/office/powerpoint/2010/main" val="3996490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7</a:t>
            </a:fld>
            <a:endParaRPr kumimoji="1" lang="zh-CN" altLang="en-US"/>
          </a:p>
        </p:txBody>
      </p:sp>
    </p:spTree>
    <p:extLst>
      <p:ext uri="{BB962C8B-B14F-4D97-AF65-F5344CB8AC3E}">
        <p14:creationId xmlns:p14="http://schemas.microsoft.com/office/powerpoint/2010/main" val="2935422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8</a:t>
            </a:fld>
            <a:endParaRPr kumimoji="1" lang="zh-CN" altLang="en-US"/>
          </a:p>
        </p:txBody>
      </p:sp>
    </p:spTree>
    <p:extLst>
      <p:ext uri="{BB962C8B-B14F-4D97-AF65-F5344CB8AC3E}">
        <p14:creationId xmlns:p14="http://schemas.microsoft.com/office/powerpoint/2010/main" val="2371381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9</a:t>
            </a:fld>
            <a:endParaRPr kumimoji="1" lang="zh-CN" altLang="en-US"/>
          </a:p>
        </p:txBody>
      </p:sp>
    </p:spTree>
    <p:extLst>
      <p:ext uri="{BB962C8B-B14F-4D97-AF65-F5344CB8AC3E}">
        <p14:creationId xmlns:p14="http://schemas.microsoft.com/office/powerpoint/2010/main" val="154949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10</a:t>
            </a:fld>
            <a:endParaRPr kumimoji="1" lang="zh-CN" altLang="en-US"/>
          </a:p>
        </p:txBody>
      </p:sp>
    </p:spTree>
    <p:extLst>
      <p:ext uri="{BB962C8B-B14F-4D97-AF65-F5344CB8AC3E}">
        <p14:creationId xmlns:p14="http://schemas.microsoft.com/office/powerpoint/2010/main" val="49792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11</a:t>
            </a:fld>
            <a:endParaRPr kumimoji="1" lang="zh-CN" altLang="en-US"/>
          </a:p>
        </p:txBody>
      </p:sp>
    </p:spTree>
    <p:extLst>
      <p:ext uri="{BB962C8B-B14F-4D97-AF65-F5344CB8AC3E}">
        <p14:creationId xmlns:p14="http://schemas.microsoft.com/office/powerpoint/2010/main" val="708988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12</a:t>
            </a:fld>
            <a:endParaRPr kumimoji="1" lang="zh-CN" altLang="en-US"/>
          </a:p>
        </p:txBody>
      </p:sp>
    </p:spTree>
    <p:extLst>
      <p:ext uri="{BB962C8B-B14F-4D97-AF65-F5344CB8AC3E}">
        <p14:creationId xmlns:p14="http://schemas.microsoft.com/office/powerpoint/2010/main" val="3841287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13</a:t>
            </a:fld>
            <a:endParaRPr kumimoji="1" lang="zh-CN" altLang="en-US"/>
          </a:p>
        </p:txBody>
      </p:sp>
    </p:spTree>
    <p:extLst>
      <p:ext uri="{BB962C8B-B14F-4D97-AF65-F5344CB8AC3E}">
        <p14:creationId xmlns:p14="http://schemas.microsoft.com/office/powerpoint/2010/main" val="997536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14</a:t>
            </a:fld>
            <a:endParaRPr kumimoji="1" lang="zh-CN" altLang="en-US"/>
          </a:p>
        </p:txBody>
      </p:sp>
    </p:spTree>
    <p:extLst>
      <p:ext uri="{BB962C8B-B14F-4D97-AF65-F5344CB8AC3E}">
        <p14:creationId xmlns:p14="http://schemas.microsoft.com/office/powerpoint/2010/main" val="4056680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15</a:t>
            </a:fld>
            <a:endParaRPr kumimoji="1" lang="zh-CN" altLang="en-US"/>
          </a:p>
        </p:txBody>
      </p:sp>
    </p:spTree>
    <p:extLst>
      <p:ext uri="{BB962C8B-B14F-4D97-AF65-F5344CB8AC3E}">
        <p14:creationId xmlns:p14="http://schemas.microsoft.com/office/powerpoint/2010/main" val="37841231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16</a:t>
            </a:fld>
            <a:endParaRPr kumimoji="1" lang="zh-CN" altLang="en-US"/>
          </a:p>
        </p:txBody>
      </p:sp>
    </p:spTree>
    <p:extLst>
      <p:ext uri="{BB962C8B-B14F-4D97-AF65-F5344CB8AC3E}">
        <p14:creationId xmlns:p14="http://schemas.microsoft.com/office/powerpoint/2010/main" val="2266748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17</a:t>
            </a:fld>
            <a:endParaRPr kumimoji="1" lang="zh-CN" altLang="en-US"/>
          </a:p>
        </p:txBody>
      </p:sp>
    </p:spTree>
    <p:extLst>
      <p:ext uri="{BB962C8B-B14F-4D97-AF65-F5344CB8AC3E}">
        <p14:creationId xmlns:p14="http://schemas.microsoft.com/office/powerpoint/2010/main" val="39991396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18</a:t>
            </a:fld>
            <a:endParaRPr kumimoji="1" lang="zh-CN" altLang="en-US"/>
          </a:p>
        </p:txBody>
      </p:sp>
    </p:spTree>
    <p:extLst>
      <p:ext uri="{BB962C8B-B14F-4D97-AF65-F5344CB8AC3E}">
        <p14:creationId xmlns:p14="http://schemas.microsoft.com/office/powerpoint/2010/main" val="1491027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t>19</a:t>
            </a:fld>
            <a:endParaRPr kumimoji="1" lang="zh-CN" altLang="en-US"/>
          </a:p>
        </p:txBody>
      </p:sp>
    </p:spTree>
    <p:extLst>
      <p:ext uri="{BB962C8B-B14F-4D97-AF65-F5344CB8AC3E}">
        <p14:creationId xmlns:p14="http://schemas.microsoft.com/office/powerpoint/2010/main" val="41254798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08977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6019705"/>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2.jpg"/><Relationship Id="rId7" Type="http://schemas.openxmlformats.org/officeDocument/2006/relationships/diagramData" Target="../diagrams/data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11" Type="http://schemas.microsoft.com/office/2007/relationships/diagramDrawing" Target="../diagrams/drawing1.xml"/><Relationship Id="rId5" Type="http://schemas.openxmlformats.org/officeDocument/2006/relationships/image" Target="../media/image6.png"/><Relationship Id="rId10" Type="http://schemas.openxmlformats.org/officeDocument/2006/relationships/diagramColors" Target="../diagrams/colors1.xml"/><Relationship Id="rId4" Type="http://schemas.openxmlformats.org/officeDocument/2006/relationships/image" Target="../media/image5.png"/><Relationship Id="rId9"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9.jp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F607132F-F72A-B248-BEBC-89F2772C18DB}"/>
              </a:ext>
            </a:extLst>
          </p:cNvPr>
          <p:cNvGrpSpPr/>
          <p:nvPr/>
        </p:nvGrpSpPr>
        <p:grpSpPr>
          <a:xfrm>
            <a:off x="2285574" y="2503544"/>
            <a:ext cx="7558479" cy="1243337"/>
            <a:chOff x="2285574" y="2503544"/>
            <a:chExt cx="7558479" cy="1243337"/>
          </a:xfrm>
        </p:grpSpPr>
        <p:sp>
          <p:nvSpPr>
            <p:cNvPr id="4" name="文本框 3">
              <a:extLst>
                <a:ext uri="{FF2B5EF4-FFF2-40B4-BE49-F238E27FC236}">
                  <a16:creationId xmlns:a16="http://schemas.microsoft.com/office/drawing/2014/main" id="{BD0B50F8-6F71-244C-9CD0-8D90C1B78A8F}"/>
                </a:ext>
              </a:extLst>
            </p:cNvPr>
            <p:cNvSpPr txBox="1"/>
            <p:nvPr/>
          </p:nvSpPr>
          <p:spPr>
            <a:xfrm>
              <a:off x="3079793" y="2503544"/>
              <a:ext cx="6032421" cy="923330"/>
            </a:xfrm>
            <a:prstGeom prst="rect">
              <a:avLst/>
            </a:prstGeom>
            <a:noFill/>
          </p:spPr>
          <p:txBody>
            <a:bodyPr wrap="none" rtlCol="0">
              <a:spAutoFit/>
            </a:bodyPr>
            <a:lstStyle/>
            <a:p>
              <a:pPr algn="ctr"/>
              <a:r>
                <a:rPr kumimoji="1" lang="zh-CN" altLang="en-US" sz="5400" b="1" spc="300" dirty="0">
                  <a:ln w="9525">
                    <a:noFill/>
                  </a:ln>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Microsoft YaHei" panose="020B0503020204020204" pitchFamily="34" charset="-122"/>
                  <a:cs typeface="Arial" panose="020B0604020202020204" pitchFamily="34" charset="0"/>
                </a:rPr>
                <a:t>毕业论文期末答辩</a:t>
              </a:r>
            </a:p>
          </p:txBody>
        </p:sp>
        <p:sp>
          <p:nvSpPr>
            <p:cNvPr id="9" name="文本框 8">
              <a:extLst>
                <a:ext uri="{FF2B5EF4-FFF2-40B4-BE49-F238E27FC236}">
                  <a16:creationId xmlns:a16="http://schemas.microsoft.com/office/drawing/2014/main" id="{FB966D85-DAD5-4D46-88B4-CBCE2441B14D}"/>
                </a:ext>
              </a:extLst>
            </p:cNvPr>
            <p:cNvSpPr txBox="1"/>
            <p:nvPr/>
          </p:nvSpPr>
          <p:spPr>
            <a:xfrm>
              <a:off x="2285574" y="3331383"/>
              <a:ext cx="7558479" cy="415498"/>
            </a:xfrm>
            <a:prstGeom prst="rect">
              <a:avLst/>
            </a:prstGeom>
            <a:noFill/>
          </p:spPr>
          <p:txBody>
            <a:bodyPr wrap="none" rtlCol="0">
              <a:spAutoFit/>
            </a:bodyPr>
            <a:lstStyle/>
            <a:p>
              <a:pPr algn="ctr"/>
              <a:r>
                <a:rPr kumimoji="1" lang="en-US" altLang="zh-CN" sz="2100" spc="400" dirty="0">
                  <a:solidFill>
                    <a:schemeClr val="tx1">
                      <a:lumMod val="95000"/>
                      <a:lumOff val="5000"/>
                    </a:schemeClr>
                  </a:solidFill>
                  <a:latin typeface="Arial" panose="020B0604020202020204" pitchFamily="34" charset="0"/>
                  <a:ea typeface="Microsoft YaHei" panose="020B0503020204020204" pitchFamily="34" charset="-122"/>
                  <a:cs typeface="Arial" panose="020B0604020202020204" pitchFamily="34" charset="0"/>
                </a:rPr>
                <a:t>《</a:t>
              </a:r>
              <a:r>
                <a:rPr kumimoji="1" lang="zh-CN" altLang="en-US" sz="2100" spc="400" dirty="0">
                  <a:solidFill>
                    <a:schemeClr val="tx1">
                      <a:lumMod val="95000"/>
                      <a:lumOff val="5000"/>
                    </a:schemeClr>
                  </a:solidFill>
                  <a:latin typeface="Arial" panose="020B0604020202020204" pitchFamily="34" charset="0"/>
                  <a:ea typeface="Microsoft YaHei" panose="020B0503020204020204" pitchFamily="34" charset="-122"/>
                  <a:cs typeface="Arial" panose="020B0604020202020204" pitchFamily="34" charset="0"/>
                </a:rPr>
                <a:t>基于深度学习的自动机规范挖掘器的设计与实现</a:t>
              </a:r>
              <a:r>
                <a:rPr kumimoji="1" lang="en-US" altLang="zh-CN" sz="2100" spc="400" dirty="0">
                  <a:solidFill>
                    <a:schemeClr val="tx1">
                      <a:lumMod val="95000"/>
                      <a:lumOff val="5000"/>
                    </a:schemeClr>
                  </a:solidFill>
                  <a:latin typeface="Arial" panose="020B0604020202020204" pitchFamily="34" charset="0"/>
                  <a:ea typeface="Microsoft YaHei" panose="020B0503020204020204" pitchFamily="34" charset="-122"/>
                  <a:cs typeface="Arial" panose="020B0604020202020204" pitchFamily="34" charset="0"/>
                </a:rPr>
                <a:t>》</a:t>
              </a:r>
            </a:p>
          </p:txBody>
        </p:sp>
      </p:grpSp>
      <p:grpSp>
        <p:nvGrpSpPr>
          <p:cNvPr id="11" name="组合 10">
            <a:extLst>
              <a:ext uri="{FF2B5EF4-FFF2-40B4-BE49-F238E27FC236}">
                <a16:creationId xmlns:a16="http://schemas.microsoft.com/office/drawing/2014/main" id="{C158E0F3-6256-F644-A58F-EDD0735AF62A}"/>
              </a:ext>
            </a:extLst>
          </p:cNvPr>
          <p:cNvGrpSpPr/>
          <p:nvPr/>
        </p:nvGrpSpPr>
        <p:grpSpPr>
          <a:xfrm>
            <a:off x="0" y="79577"/>
            <a:ext cx="12192000" cy="3911656"/>
            <a:chOff x="0" y="79577"/>
            <a:chExt cx="12192000" cy="3911656"/>
          </a:xfrm>
        </p:grpSpPr>
        <p:pic>
          <p:nvPicPr>
            <p:cNvPr id="8" name="图片 7">
              <a:extLst>
                <a:ext uri="{FF2B5EF4-FFF2-40B4-BE49-F238E27FC236}">
                  <a16:creationId xmlns:a16="http://schemas.microsoft.com/office/drawing/2014/main" id="{40E6364D-C504-CE4D-A624-29D321C4017A}"/>
                </a:ext>
              </a:extLst>
            </p:cNvPr>
            <p:cNvPicPr>
              <a:picLocks noChangeAspect="1"/>
            </p:cNvPicPr>
            <p:nvPr/>
          </p:nvPicPr>
          <p:blipFill>
            <a:blip r:embed="rId3"/>
            <a:stretch>
              <a:fillRect/>
            </a:stretch>
          </p:blipFill>
          <p:spPr>
            <a:xfrm>
              <a:off x="5457713" y="1011739"/>
              <a:ext cx="1276573" cy="1125400"/>
            </a:xfrm>
            <a:prstGeom prst="rect">
              <a:avLst/>
            </a:prstGeom>
          </p:spPr>
        </p:pic>
        <p:pic>
          <p:nvPicPr>
            <p:cNvPr id="12" name="图片 11" descr="图片包含 游戏机, 物体, 钟表, 标志&#10;&#10;描述已自动生成">
              <a:extLst>
                <a:ext uri="{FF2B5EF4-FFF2-40B4-BE49-F238E27FC236}">
                  <a16:creationId xmlns:a16="http://schemas.microsoft.com/office/drawing/2014/main" id="{D4F94894-DA20-9B4C-921C-C088965EA70B}"/>
                </a:ext>
              </a:extLst>
            </p:cNvPr>
            <p:cNvPicPr>
              <a:picLocks noChangeAspect="1"/>
            </p:cNvPicPr>
            <p:nvPr/>
          </p:nvPicPr>
          <p:blipFill>
            <a:blip r:embed="rId4"/>
            <a:stretch>
              <a:fillRect/>
            </a:stretch>
          </p:blipFill>
          <p:spPr>
            <a:xfrm>
              <a:off x="4572686" y="79577"/>
              <a:ext cx="3046628" cy="615185"/>
            </a:xfrm>
            <a:prstGeom prst="rect">
              <a:avLst/>
            </a:prstGeom>
          </p:spPr>
        </p:pic>
        <p:cxnSp>
          <p:nvCxnSpPr>
            <p:cNvPr id="14" name="直线连接符 13">
              <a:extLst>
                <a:ext uri="{FF2B5EF4-FFF2-40B4-BE49-F238E27FC236}">
                  <a16:creationId xmlns:a16="http://schemas.microsoft.com/office/drawing/2014/main" id="{7F2D4315-2ADC-FF40-B7CA-36135AB34BA1}"/>
                </a:ext>
              </a:extLst>
            </p:cNvPr>
            <p:cNvCxnSpPr>
              <a:cxnSpLocks/>
            </p:cNvCxnSpPr>
            <p:nvPr/>
          </p:nvCxnSpPr>
          <p:spPr>
            <a:xfrm>
              <a:off x="0" y="3991233"/>
              <a:ext cx="12192000" cy="0"/>
            </a:xfrm>
            <a:prstGeom prst="line">
              <a:avLst/>
            </a:prstGeom>
            <a:ln w="57150">
              <a:gradFill>
                <a:gsLst>
                  <a:gs pos="0">
                    <a:schemeClr val="accent1">
                      <a:lumMod val="0"/>
                      <a:lumOff val="100000"/>
                      <a:alpha val="0"/>
                    </a:schemeClr>
                  </a:gs>
                  <a:gs pos="100000">
                    <a:schemeClr val="accent1">
                      <a:lumMod val="0"/>
                      <a:lumOff val="100000"/>
                      <a:alpha val="0"/>
                    </a:schemeClr>
                  </a:gs>
                  <a:gs pos="51000">
                    <a:srgbClr val="C00000">
                      <a:alpha val="88000"/>
                    </a:srgbClr>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310F0BB0-7264-C849-97A9-DC297BB1808D}"/>
              </a:ext>
            </a:extLst>
          </p:cNvPr>
          <p:cNvGrpSpPr/>
          <p:nvPr/>
        </p:nvGrpSpPr>
        <p:grpSpPr>
          <a:xfrm>
            <a:off x="4742135" y="4772657"/>
            <a:ext cx="2714145" cy="1212103"/>
            <a:chOff x="4742135" y="4772657"/>
            <a:chExt cx="2714145" cy="1212103"/>
          </a:xfrm>
        </p:grpSpPr>
        <p:sp>
          <p:nvSpPr>
            <p:cNvPr id="22" name="文本框 21">
              <a:extLst>
                <a:ext uri="{FF2B5EF4-FFF2-40B4-BE49-F238E27FC236}">
                  <a16:creationId xmlns:a16="http://schemas.microsoft.com/office/drawing/2014/main" id="{017FC6F7-49D7-B64C-B7F7-85BD7F5E49E5}"/>
                </a:ext>
              </a:extLst>
            </p:cNvPr>
            <p:cNvSpPr txBox="1"/>
            <p:nvPr/>
          </p:nvSpPr>
          <p:spPr>
            <a:xfrm>
              <a:off x="5306857" y="5707761"/>
              <a:ext cx="1659430" cy="276999"/>
            </a:xfrm>
            <a:prstGeom prst="rect">
              <a:avLst/>
            </a:prstGeom>
            <a:noFill/>
          </p:spPr>
          <p:txBody>
            <a:bodyPr wrap="none" rtlCol="0">
              <a:spAutoFit/>
            </a:bodyPr>
            <a:lstStyle/>
            <a:p>
              <a:pPr algn="ctr"/>
              <a:r>
                <a:rPr kumimoji="1" lang="en-US" altLang="zh-CN" sz="1200" spc="300" dirty="0">
                  <a:latin typeface="Arial" panose="020B0604020202020204" pitchFamily="34" charset="0"/>
                  <a:ea typeface="Microsoft YaHei" panose="020B0503020204020204" pitchFamily="34" charset="-122"/>
                  <a:cs typeface="Arial" panose="020B0604020202020204" pitchFamily="34" charset="0"/>
                </a:rPr>
                <a:t>2020</a:t>
              </a:r>
              <a:r>
                <a:rPr kumimoji="1" lang="zh-CN" altLang="en-US" sz="1200" spc="300" dirty="0">
                  <a:latin typeface="Arial" panose="020B0604020202020204" pitchFamily="34" charset="0"/>
                  <a:ea typeface="Microsoft YaHei" panose="020B0503020204020204" pitchFamily="34" charset="-122"/>
                  <a:cs typeface="Arial" panose="020B0604020202020204" pitchFamily="34" charset="0"/>
                </a:rPr>
                <a:t>年</a:t>
              </a:r>
              <a:r>
                <a:rPr kumimoji="1" lang="en-US" altLang="zh-CN" sz="1200" spc="300" dirty="0">
                  <a:latin typeface="Arial" panose="020B0604020202020204" pitchFamily="34" charset="0"/>
                  <a:ea typeface="Microsoft YaHei" panose="020B0503020204020204" pitchFamily="34" charset="-122"/>
                  <a:cs typeface="Arial" panose="020B0604020202020204" pitchFamily="34" charset="0"/>
                </a:rPr>
                <a:t>5</a:t>
              </a:r>
              <a:r>
                <a:rPr kumimoji="1" lang="zh-CN" altLang="en-US" sz="1200" spc="300" dirty="0">
                  <a:latin typeface="Arial" panose="020B0604020202020204" pitchFamily="34" charset="0"/>
                  <a:ea typeface="Microsoft YaHei" panose="020B0503020204020204" pitchFamily="34" charset="-122"/>
                  <a:cs typeface="Arial" panose="020B0604020202020204" pitchFamily="34" charset="0"/>
                </a:rPr>
                <a:t>月</a:t>
              </a:r>
              <a:r>
                <a:rPr kumimoji="1" lang="en-US" altLang="zh-CN" sz="1200" spc="300" dirty="0">
                  <a:latin typeface="Arial" panose="020B0604020202020204" pitchFamily="34" charset="0"/>
                  <a:ea typeface="Microsoft YaHei" panose="020B0503020204020204" pitchFamily="34" charset="-122"/>
                  <a:cs typeface="Arial" panose="020B0604020202020204" pitchFamily="34" charset="0"/>
                </a:rPr>
                <a:t>29</a:t>
              </a:r>
              <a:r>
                <a:rPr kumimoji="1" lang="zh-CN" altLang="en-US" sz="1200" spc="300" dirty="0">
                  <a:latin typeface="Arial" panose="020B0604020202020204" pitchFamily="34" charset="0"/>
                  <a:ea typeface="Microsoft YaHei" panose="020B0503020204020204" pitchFamily="34" charset="-122"/>
                  <a:cs typeface="Arial" panose="020B0604020202020204" pitchFamily="34" charset="0"/>
                </a:rPr>
                <a:t>日</a:t>
              </a:r>
            </a:p>
          </p:txBody>
        </p:sp>
        <p:sp>
          <p:nvSpPr>
            <p:cNvPr id="5" name="文本框 4">
              <a:extLst>
                <a:ext uri="{FF2B5EF4-FFF2-40B4-BE49-F238E27FC236}">
                  <a16:creationId xmlns:a16="http://schemas.microsoft.com/office/drawing/2014/main" id="{4E643C11-2D16-6E4B-8233-AE9AF3B0F0C4}"/>
                </a:ext>
              </a:extLst>
            </p:cNvPr>
            <p:cNvSpPr txBox="1"/>
            <p:nvPr/>
          </p:nvSpPr>
          <p:spPr>
            <a:xfrm>
              <a:off x="4799842" y="4772657"/>
              <a:ext cx="1146468" cy="338554"/>
            </a:xfrm>
            <a:prstGeom prst="rect">
              <a:avLst/>
            </a:prstGeom>
            <a:noFill/>
          </p:spPr>
          <p:txBody>
            <a:bodyPr wrap="none" rtlCol="0">
              <a:spAutoFit/>
            </a:bodyPr>
            <a:lstStyle/>
            <a:p>
              <a:pPr algn="ctr"/>
              <a:r>
                <a:rPr kumimoji="1" lang="zh-CN" altLang="en-US" sz="1600" spc="900" dirty="0">
                  <a:latin typeface="Arial" panose="020B0604020202020204" pitchFamily="34" charset="0"/>
                  <a:ea typeface="Microsoft YaHei" panose="020B0503020204020204" pitchFamily="34" charset="-122"/>
                  <a:cs typeface="Arial" panose="020B0604020202020204" pitchFamily="34" charset="0"/>
                </a:rPr>
                <a:t>汇报人</a:t>
              </a:r>
            </a:p>
          </p:txBody>
        </p:sp>
        <p:sp>
          <p:nvSpPr>
            <p:cNvPr id="6" name="文本框 5">
              <a:extLst>
                <a:ext uri="{FF2B5EF4-FFF2-40B4-BE49-F238E27FC236}">
                  <a16:creationId xmlns:a16="http://schemas.microsoft.com/office/drawing/2014/main" id="{A023C497-7C81-EF49-9B65-1E7958624FC7}"/>
                </a:ext>
              </a:extLst>
            </p:cNvPr>
            <p:cNvSpPr txBox="1"/>
            <p:nvPr/>
          </p:nvSpPr>
          <p:spPr>
            <a:xfrm>
              <a:off x="6296987" y="4772657"/>
              <a:ext cx="1159293" cy="338554"/>
            </a:xfrm>
            <a:prstGeom prst="rect">
              <a:avLst/>
            </a:prstGeom>
            <a:noFill/>
          </p:spPr>
          <p:txBody>
            <a:bodyPr wrap="none" rtlCol="0">
              <a:spAutoFit/>
            </a:bodyPr>
            <a:lstStyle/>
            <a:p>
              <a:pPr algn="ctr"/>
              <a:r>
                <a:rPr kumimoji="1" lang="zh-CN" altLang="en-US" sz="1600" spc="250" dirty="0">
                  <a:latin typeface="Arial" panose="020B0604020202020204" pitchFamily="34" charset="0"/>
                  <a:ea typeface="Microsoft YaHei" panose="020B0503020204020204" pitchFamily="34" charset="-122"/>
                  <a:cs typeface="Arial" panose="020B0604020202020204" pitchFamily="34" charset="0"/>
                </a:rPr>
                <a:t>指导老师</a:t>
              </a:r>
            </a:p>
          </p:txBody>
        </p:sp>
        <p:sp>
          <p:nvSpPr>
            <p:cNvPr id="19" name="文本框 18">
              <a:extLst>
                <a:ext uri="{FF2B5EF4-FFF2-40B4-BE49-F238E27FC236}">
                  <a16:creationId xmlns:a16="http://schemas.microsoft.com/office/drawing/2014/main" id="{298A6AA9-FA4C-E24A-8F91-118C9DCA131C}"/>
                </a:ext>
              </a:extLst>
            </p:cNvPr>
            <p:cNvSpPr txBox="1"/>
            <p:nvPr/>
          </p:nvSpPr>
          <p:spPr>
            <a:xfrm>
              <a:off x="4742135" y="5111211"/>
              <a:ext cx="1146468" cy="430887"/>
            </a:xfrm>
            <a:prstGeom prst="rect">
              <a:avLst/>
            </a:prstGeom>
            <a:noFill/>
          </p:spPr>
          <p:txBody>
            <a:bodyPr wrap="none" rtlCol="0">
              <a:spAutoFit/>
            </a:bodyPr>
            <a:lstStyle/>
            <a:p>
              <a:pPr algn="ctr"/>
              <a:r>
                <a:rPr kumimoji="1" lang="zh-CN" altLang="en-US" sz="2200" b="1" spc="300" dirty="0">
                  <a:latin typeface="Arial" panose="020B0604020202020204" pitchFamily="34" charset="0"/>
                  <a:ea typeface="Microsoft YaHei" panose="020B0503020204020204" pitchFamily="34" charset="-122"/>
                  <a:cs typeface="Arial" panose="020B0604020202020204" pitchFamily="34" charset="0"/>
                </a:rPr>
                <a:t>张浩楠</a:t>
              </a:r>
            </a:p>
          </p:txBody>
        </p:sp>
        <p:sp>
          <p:nvSpPr>
            <p:cNvPr id="20" name="文本框 19">
              <a:extLst>
                <a:ext uri="{FF2B5EF4-FFF2-40B4-BE49-F238E27FC236}">
                  <a16:creationId xmlns:a16="http://schemas.microsoft.com/office/drawing/2014/main" id="{B517E626-BC3E-9E4C-9372-F4FCE136DB28}"/>
                </a:ext>
              </a:extLst>
            </p:cNvPr>
            <p:cNvSpPr txBox="1"/>
            <p:nvPr/>
          </p:nvSpPr>
          <p:spPr>
            <a:xfrm>
              <a:off x="6463699" y="5111211"/>
              <a:ext cx="825867" cy="430887"/>
            </a:xfrm>
            <a:prstGeom prst="rect">
              <a:avLst/>
            </a:prstGeom>
            <a:noFill/>
          </p:spPr>
          <p:txBody>
            <a:bodyPr wrap="none" rtlCol="0">
              <a:spAutoFit/>
            </a:bodyPr>
            <a:lstStyle/>
            <a:p>
              <a:pPr algn="ctr"/>
              <a:r>
                <a:rPr kumimoji="1" lang="zh-CN" altLang="en-US" sz="2200" b="1" spc="300" dirty="0">
                  <a:latin typeface="Arial" panose="020B0604020202020204" pitchFamily="34" charset="0"/>
                  <a:ea typeface="Microsoft YaHei" panose="020B0503020204020204" pitchFamily="34" charset="-122"/>
                  <a:cs typeface="Arial" panose="020B0604020202020204" pitchFamily="34" charset="0"/>
                </a:rPr>
                <a:t>张南</a:t>
              </a:r>
            </a:p>
          </p:txBody>
        </p:sp>
        <p:cxnSp>
          <p:nvCxnSpPr>
            <p:cNvPr id="3" name="直线连接符 2">
              <a:extLst>
                <a:ext uri="{FF2B5EF4-FFF2-40B4-BE49-F238E27FC236}">
                  <a16:creationId xmlns:a16="http://schemas.microsoft.com/office/drawing/2014/main" id="{46560B19-AA89-BF41-867A-BE3305BF1E3B}"/>
                </a:ext>
              </a:extLst>
            </p:cNvPr>
            <p:cNvCxnSpPr>
              <a:cxnSpLocks/>
            </p:cNvCxnSpPr>
            <p:nvPr/>
          </p:nvCxnSpPr>
          <p:spPr>
            <a:xfrm flipH="1">
              <a:off x="6061727" y="5008857"/>
              <a:ext cx="149690" cy="20470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12155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A3BC5EAF-E44A-9C47-A4CE-586B80772A1A}"/>
              </a:ext>
            </a:extLst>
          </p:cNvPr>
          <p:cNvGrpSpPr/>
          <p:nvPr/>
        </p:nvGrpSpPr>
        <p:grpSpPr>
          <a:xfrm>
            <a:off x="0" y="-2"/>
            <a:ext cx="12192000" cy="6858003"/>
            <a:chOff x="0" y="-2"/>
            <a:chExt cx="12192000" cy="6858003"/>
          </a:xfrm>
        </p:grpSpPr>
        <p:sp>
          <p:nvSpPr>
            <p:cNvPr id="2" name="矩形 1">
              <a:extLst>
                <a:ext uri="{FF2B5EF4-FFF2-40B4-BE49-F238E27FC236}">
                  <a16:creationId xmlns:a16="http://schemas.microsoft.com/office/drawing/2014/main" id="{6BD02133-8632-214A-8C6D-079EA05E9E17}"/>
                </a:ext>
              </a:extLst>
            </p:cNvPr>
            <p:cNvSpPr/>
            <p:nvPr/>
          </p:nvSpPr>
          <p:spPr>
            <a:xfrm>
              <a:off x="0" y="-2"/>
              <a:ext cx="12192000" cy="1062679"/>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 name="矩形 2">
              <a:extLst>
                <a:ext uri="{FF2B5EF4-FFF2-40B4-BE49-F238E27FC236}">
                  <a16:creationId xmlns:a16="http://schemas.microsoft.com/office/drawing/2014/main" id="{CEC4C330-09CF-5748-9739-AD0CD2F5FBA4}"/>
                </a:ext>
              </a:extLst>
            </p:cNvPr>
            <p:cNvSpPr/>
            <p:nvPr/>
          </p:nvSpPr>
          <p:spPr>
            <a:xfrm>
              <a:off x="0" y="106267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 name="矩形 3">
              <a:extLst>
                <a:ext uri="{FF2B5EF4-FFF2-40B4-BE49-F238E27FC236}">
                  <a16:creationId xmlns:a16="http://schemas.microsoft.com/office/drawing/2014/main" id="{F47BC503-A19D-C94A-8143-369DB0C6F717}"/>
                </a:ext>
              </a:extLst>
            </p:cNvPr>
            <p:cNvSpPr/>
            <p:nvPr/>
          </p:nvSpPr>
          <p:spPr>
            <a:xfrm>
              <a:off x="0" y="6453336"/>
              <a:ext cx="12192000" cy="404665"/>
            </a:xfrm>
            <a:prstGeom prst="rect">
              <a:avLst/>
            </a:prstGeom>
            <a:gradFill>
              <a:gsLst>
                <a:gs pos="0">
                  <a:srgbClr val="C00000"/>
                </a:gs>
                <a:gs pos="100000">
                  <a:srgbClr val="C00000">
                    <a:alpha val="80000"/>
                    <a:lumMod val="94000"/>
                    <a:lumOff val="6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13" name="组合 12">
            <a:extLst>
              <a:ext uri="{FF2B5EF4-FFF2-40B4-BE49-F238E27FC236}">
                <a16:creationId xmlns:a16="http://schemas.microsoft.com/office/drawing/2014/main" id="{1C34E94A-3C86-DC4C-AA6F-6F686887FC65}"/>
              </a:ext>
            </a:extLst>
          </p:cNvPr>
          <p:cNvGrpSpPr/>
          <p:nvPr/>
        </p:nvGrpSpPr>
        <p:grpSpPr>
          <a:xfrm>
            <a:off x="734545" y="145241"/>
            <a:ext cx="1338828" cy="836924"/>
            <a:chOff x="734545" y="145241"/>
            <a:chExt cx="1338828" cy="836924"/>
          </a:xfrm>
        </p:grpSpPr>
        <p:sp>
          <p:nvSpPr>
            <p:cNvPr id="11" name="文本框 10">
              <a:extLst>
                <a:ext uri="{FF2B5EF4-FFF2-40B4-BE49-F238E27FC236}">
                  <a16:creationId xmlns:a16="http://schemas.microsoft.com/office/drawing/2014/main" id="{2847803D-B9BB-3042-9C9F-3AE5DAE98141}"/>
                </a:ext>
              </a:extLst>
            </p:cNvPr>
            <p:cNvSpPr txBox="1"/>
            <p:nvPr/>
          </p:nvSpPr>
          <p:spPr>
            <a:xfrm>
              <a:off x="734545" y="705166"/>
              <a:ext cx="1338828" cy="276999"/>
            </a:xfrm>
            <a:prstGeom prst="rect">
              <a:avLst/>
            </a:prstGeom>
            <a:noFill/>
            <a:ln>
              <a:noFill/>
            </a:ln>
          </p:spPr>
          <p:txBody>
            <a:bodyPr wrap="none" rtlCol="0">
              <a:spAutoFit/>
            </a:bodyPr>
            <a:lstStyle/>
            <a:p>
              <a:r>
                <a:rPr kumimoji="1" lang="en-US" altLang="zh-CN" sz="1200" b="1" spc="300" dirty="0">
                  <a:solidFill>
                    <a:schemeClr val="bg1">
                      <a:alpha val="38000"/>
                    </a:schemeClr>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CONTENTS</a:t>
              </a:r>
              <a:endParaRPr kumimoji="1" lang="zh-CN" altLang="en-US" sz="1200" b="1" spc="300" dirty="0">
                <a:solidFill>
                  <a:schemeClr val="bg1">
                    <a:alpha val="38000"/>
                  </a:schemeClr>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sp>
          <p:nvSpPr>
            <p:cNvPr id="8" name="文本框 7">
              <a:extLst>
                <a:ext uri="{FF2B5EF4-FFF2-40B4-BE49-F238E27FC236}">
                  <a16:creationId xmlns:a16="http://schemas.microsoft.com/office/drawing/2014/main" id="{A8713944-CFF2-C847-949E-B7125A265952}"/>
                </a:ext>
              </a:extLst>
            </p:cNvPr>
            <p:cNvSpPr txBox="1"/>
            <p:nvPr/>
          </p:nvSpPr>
          <p:spPr>
            <a:xfrm>
              <a:off x="734545" y="145241"/>
              <a:ext cx="1159292" cy="584775"/>
            </a:xfrm>
            <a:prstGeom prst="rect">
              <a:avLst/>
            </a:prstGeom>
            <a:noFill/>
          </p:spPr>
          <p:txBody>
            <a:bodyPr wrap="none" rtlCol="0">
              <a:spAutoFit/>
            </a:bodyPr>
            <a:lstStyle/>
            <a:p>
              <a:pPr algn="l"/>
              <a:r>
                <a:rPr kumimoji="1" lang="zh-CN" altLang="en-US" sz="3200" b="1" spc="6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目录</a:t>
              </a:r>
            </a:p>
          </p:txBody>
        </p:sp>
      </p:grpSp>
      <p:grpSp>
        <p:nvGrpSpPr>
          <p:cNvPr id="15" name="组合 14">
            <a:extLst>
              <a:ext uri="{FF2B5EF4-FFF2-40B4-BE49-F238E27FC236}">
                <a16:creationId xmlns:a16="http://schemas.microsoft.com/office/drawing/2014/main" id="{250A90FD-3A3E-C54D-B4E6-261C9863BE87}"/>
              </a:ext>
            </a:extLst>
          </p:cNvPr>
          <p:cNvGrpSpPr/>
          <p:nvPr/>
        </p:nvGrpSpPr>
        <p:grpSpPr>
          <a:xfrm>
            <a:off x="133400" y="303140"/>
            <a:ext cx="11901234" cy="6632796"/>
            <a:chOff x="133400" y="303140"/>
            <a:chExt cx="11901234" cy="6632796"/>
          </a:xfrm>
        </p:grpSpPr>
        <p:pic>
          <p:nvPicPr>
            <p:cNvPr id="5" name="图片 4">
              <a:extLst>
                <a:ext uri="{FF2B5EF4-FFF2-40B4-BE49-F238E27FC236}">
                  <a16:creationId xmlns:a16="http://schemas.microsoft.com/office/drawing/2014/main" id="{3C47248B-C5FF-9047-8E30-C7A825C252C7}"/>
                </a:ext>
              </a:extLst>
            </p:cNvPr>
            <p:cNvPicPr>
              <a:picLocks noChangeAspect="1"/>
            </p:cNvPicPr>
            <p:nvPr/>
          </p:nvPicPr>
          <p:blipFill>
            <a:blip r:embed="rId4" cstate="screen">
              <a:alphaModFix amt="70000"/>
              <a:extLst>
                <a:ext uri="{28A0092B-C50C-407E-A947-70E740481C1C}">
                  <a14:useLocalDpi xmlns:a14="http://schemas.microsoft.com/office/drawing/2010/main"/>
                </a:ext>
              </a:extLst>
            </a:blip>
            <a:stretch>
              <a:fillRect/>
            </a:stretch>
          </p:blipFill>
          <p:spPr>
            <a:xfrm>
              <a:off x="9840416" y="303140"/>
              <a:ext cx="2031325" cy="403124"/>
            </a:xfrm>
            <a:prstGeom prst="rect">
              <a:avLst/>
            </a:prstGeom>
          </p:spPr>
        </p:pic>
        <p:pic>
          <p:nvPicPr>
            <p:cNvPr id="10" name="图片 9">
              <a:extLst>
                <a:ext uri="{FF2B5EF4-FFF2-40B4-BE49-F238E27FC236}">
                  <a16:creationId xmlns:a16="http://schemas.microsoft.com/office/drawing/2014/main" id="{2C577222-289B-8241-9401-F98A4C7ECD1A}"/>
                </a:ext>
              </a:extLst>
            </p:cNvPr>
            <p:cNvPicPr>
              <a:picLocks noChangeAspect="1"/>
            </p:cNvPicPr>
            <p:nvPr/>
          </p:nvPicPr>
          <p:blipFill>
            <a:blip r:embed="rId5"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12" name="图片 11" descr="图片包含 游戏机, 画, 钟表&#10;&#10;描述已自动生成">
              <a:extLst>
                <a:ext uri="{FF2B5EF4-FFF2-40B4-BE49-F238E27FC236}">
                  <a16:creationId xmlns:a16="http://schemas.microsoft.com/office/drawing/2014/main" id="{1B807BCE-00EF-5B4E-A249-D671B3CC9BAB}"/>
                </a:ext>
              </a:extLst>
            </p:cNvPr>
            <p:cNvPicPr>
              <a:picLocks noChangeAspect="1"/>
            </p:cNvPicPr>
            <p:nvPr/>
          </p:nvPicPr>
          <p:blipFill>
            <a:blip r:embed="rId6"/>
            <a:stretch>
              <a:fillRect/>
            </a:stretch>
          </p:blipFill>
          <p:spPr>
            <a:xfrm>
              <a:off x="133400" y="6453336"/>
              <a:ext cx="2362200" cy="482600"/>
            </a:xfrm>
            <a:prstGeom prst="rect">
              <a:avLst/>
            </a:prstGeom>
          </p:spPr>
        </p:pic>
      </p:grpSp>
      <p:grpSp>
        <p:nvGrpSpPr>
          <p:cNvPr id="7" name="组合 6">
            <a:extLst>
              <a:ext uri="{FF2B5EF4-FFF2-40B4-BE49-F238E27FC236}">
                <a16:creationId xmlns:a16="http://schemas.microsoft.com/office/drawing/2014/main" id="{23E9BC69-FE5E-A14B-B895-A6A54C87C0EF}"/>
              </a:ext>
            </a:extLst>
          </p:cNvPr>
          <p:cNvGrpSpPr/>
          <p:nvPr/>
        </p:nvGrpSpPr>
        <p:grpSpPr>
          <a:xfrm>
            <a:off x="1839554" y="2090867"/>
            <a:ext cx="4078700" cy="929209"/>
            <a:chOff x="1782684" y="1907512"/>
            <a:chExt cx="4078700" cy="929209"/>
          </a:xfrm>
        </p:grpSpPr>
        <p:sp>
          <p:nvSpPr>
            <p:cNvPr id="16" name="文本框 15">
              <a:extLst>
                <a:ext uri="{FF2B5EF4-FFF2-40B4-BE49-F238E27FC236}">
                  <a16:creationId xmlns:a16="http://schemas.microsoft.com/office/drawing/2014/main" id="{246F4FD9-8966-BA4C-84EA-CE98ACBA2063}"/>
                </a:ext>
              </a:extLst>
            </p:cNvPr>
            <p:cNvSpPr txBox="1"/>
            <p:nvPr/>
          </p:nvSpPr>
          <p:spPr>
            <a:xfrm>
              <a:off x="2488701" y="2421223"/>
              <a:ext cx="2963026" cy="415498"/>
            </a:xfrm>
            <a:prstGeom prst="rect">
              <a:avLst/>
            </a:prstGeom>
            <a:noFill/>
          </p:spPr>
          <p:txBody>
            <a:bodyPr wrap="square" rtlCol="0">
              <a:spAutoFit/>
            </a:bodyPr>
            <a:lstStyle/>
            <a:p>
              <a:r>
                <a:rPr kumimoji="1" lang="en-US" altLang="zh-CN" sz="1050" spc="3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Research content and research steps</a:t>
              </a:r>
            </a:p>
          </p:txBody>
        </p:sp>
        <p:cxnSp>
          <p:nvCxnSpPr>
            <p:cNvPr id="24" name="直线连接符 23">
              <a:extLst>
                <a:ext uri="{FF2B5EF4-FFF2-40B4-BE49-F238E27FC236}">
                  <a16:creationId xmlns:a16="http://schemas.microsoft.com/office/drawing/2014/main" id="{5C88B0F8-9215-1D42-AE2D-C452A627CBB3}"/>
                </a:ext>
              </a:extLst>
            </p:cNvPr>
            <p:cNvCxnSpPr>
              <a:cxnSpLocks/>
            </p:cNvCxnSpPr>
            <p:nvPr/>
          </p:nvCxnSpPr>
          <p:spPr>
            <a:xfrm>
              <a:off x="2581925" y="2411568"/>
              <a:ext cx="2304256"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D0CFC7F9-079B-284A-82C1-5ED2F6B9837F}"/>
                </a:ext>
              </a:extLst>
            </p:cNvPr>
            <p:cNvGrpSpPr/>
            <p:nvPr/>
          </p:nvGrpSpPr>
          <p:grpSpPr>
            <a:xfrm>
              <a:off x="1782684" y="1978568"/>
              <a:ext cx="618022" cy="629497"/>
              <a:chOff x="1782684" y="1978568"/>
              <a:chExt cx="618022" cy="629497"/>
            </a:xfrm>
          </p:grpSpPr>
          <p:sp>
            <p:nvSpPr>
              <p:cNvPr id="21" name="圆角矩形 20">
                <a:extLst>
                  <a:ext uri="{FF2B5EF4-FFF2-40B4-BE49-F238E27FC236}">
                    <a16:creationId xmlns:a16="http://schemas.microsoft.com/office/drawing/2014/main" id="{08F89ADC-A191-464B-A24A-119E7B18CE42}"/>
                  </a:ext>
                </a:extLst>
              </p:cNvPr>
              <p:cNvSpPr/>
              <p:nvPr/>
            </p:nvSpPr>
            <p:spPr>
              <a:xfrm>
                <a:off x="1782684" y="1978568"/>
                <a:ext cx="556618" cy="556618"/>
              </a:xfrm>
              <a:prstGeom prst="roundRect">
                <a:avLst>
                  <a:gd name="adj" fmla="val 16419"/>
                </a:avLst>
              </a:prstGeom>
              <a:gradFill>
                <a:gsLst>
                  <a:gs pos="0">
                    <a:srgbClr val="C00000">
                      <a:alpha val="72000"/>
                    </a:srgbClr>
                  </a:gs>
                  <a:gs pos="100000">
                    <a:srgbClr val="C00000">
                      <a:alpha val="47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63" name="圆角矩形 62">
                <a:extLst>
                  <a:ext uri="{FF2B5EF4-FFF2-40B4-BE49-F238E27FC236}">
                    <a16:creationId xmlns:a16="http://schemas.microsoft.com/office/drawing/2014/main" id="{338C81F9-7DE5-9C41-B809-47E98CB52398}"/>
                  </a:ext>
                </a:extLst>
              </p:cNvPr>
              <p:cNvSpPr/>
              <p:nvPr/>
            </p:nvSpPr>
            <p:spPr>
              <a:xfrm>
                <a:off x="1844088" y="2051447"/>
                <a:ext cx="556618" cy="556618"/>
              </a:xfrm>
              <a:prstGeom prst="roundRect">
                <a:avLst>
                  <a:gd name="adj" fmla="val 16419"/>
                </a:avLst>
              </a:prstGeom>
              <a:gradFill>
                <a:gsLst>
                  <a:gs pos="0">
                    <a:srgbClr val="C00000">
                      <a:alpha val="40000"/>
                    </a:srgbClr>
                  </a:gs>
                  <a:gs pos="100000">
                    <a:srgbClr val="C00000">
                      <a:alpha val="1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17" name="文本框 16">
                <a:extLst>
                  <a:ext uri="{FF2B5EF4-FFF2-40B4-BE49-F238E27FC236}">
                    <a16:creationId xmlns:a16="http://schemas.microsoft.com/office/drawing/2014/main" id="{DF661169-A98A-874E-9FA9-09B6C73C61FD}"/>
                  </a:ext>
                </a:extLst>
              </p:cNvPr>
              <p:cNvSpPr txBox="1"/>
              <p:nvPr/>
            </p:nvSpPr>
            <p:spPr>
              <a:xfrm>
                <a:off x="1800411" y="2020525"/>
                <a:ext cx="527709" cy="461665"/>
              </a:xfrm>
              <a:prstGeom prst="rect">
                <a:avLst/>
              </a:prstGeom>
              <a:noFill/>
            </p:spPr>
            <p:txBody>
              <a:bodyPr wrap="none" rtlCol="0">
                <a:spAutoFit/>
              </a:bodyPr>
              <a:lstStyle/>
              <a:p>
                <a:pPr algn="l"/>
                <a:r>
                  <a:rPr kumimoji="1" lang="en-US" altLang="zh-CN" sz="2400" b="1" dirty="0">
                    <a:solidFill>
                      <a:schemeClr val="bg1"/>
                    </a:solidFill>
                    <a:latin typeface="Arial" panose="020B0604020202020204" pitchFamily="34" charset="0"/>
                    <a:ea typeface="Microsoft YaHei" panose="020B0503020204020204" pitchFamily="34" charset="-122"/>
                    <a:cs typeface="Arial" panose="020B0604020202020204" pitchFamily="34" charset="0"/>
                  </a:rPr>
                  <a:t>01</a:t>
                </a:r>
                <a:endParaRPr kumimoji="1" lang="zh-CN" altLang="en-US" sz="2400" b="1" dirty="0">
                  <a:solidFill>
                    <a:schemeClr val="bg1"/>
                  </a:solidFill>
                  <a:latin typeface="Arial" panose="020B0604020202020204" pitchFamily="34" charset="0"/>
                  <a:ea typeface="Microsoft YaHei" panose="020B0503020204020204" pitchFamily="34" charset="-122"/>
                  <a:cs typeface="Arial" panose="020B0604020202020204" pitchFamily="34" charset="0"/>
                </a:endParaRPr>
              </a:p>
            </p:txBody>
          </p:sp>
        </p:grpSp>
        <p:sp>
          <p:nvSpPr>
            <p:cNvPr id="14" name="文本框 13">
              <a:extLst>
                <a:ext uri="{FF2B5EF4-FFF2-40B4-BE49-F238E27FC236}">
                  <a16:creationId xmlns:a16="http://schemas.microsoft.com/office/drawing/2014/main" id="{726AA8C0-D8BF-E64A-91E5-07F740CE07F5}"/>
                </a:ext>
              </a:extLst>
            </p:cNvPr>
            <p:cNvSpPr txBox="1"/>
            <p:nvPr/>
          </p:nvSpPr>
          <p:spPr>
            <a:xfrm>
              <a:off x="2472988" y="1907512"/>
              <a:ext cx="3388396" cy="523220"/>
            </a:xfrm>
            <a:prstGeom prst="rect">
              <a:avLst/>
            </a:prstGeom>
            <a:noFill/>
          </p:spPr>
          <p:txBody>
            <a:bodyPr wrap="square" rtlCol="0">
              <a:spAutoFit/>
            </a:bodyPr>
            <a:lstStyle/>
            <a:p>
              <a:pPr algn="l"/>
              <a:r>
                <a:rPr kumimoji="1" lang="zh-CN" altLang="en-US" sz="2800" b="1" spc="300" dirty="0">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Microsoft YaHei" panose="020B0503020204020204" pitchFamily="34" charset="-122"/>
                  <a:cs typeface="Arial" panose="020B0604020202020204" pitchFamily="34" charset="0"/>
                </a:rPr>
                <a:t>研究内容</a:t>
              </a:r>
            </a:p>
          </p:txBody>
        </p:sp>
      </p:grpSp>
      <p:grpSp>
        <p:nvGrpSpPr>
          <p:cNvPr id="72" name="组合 71">
            <a:extLst>
              <a:ext uri="{FF2B5EF4-FFF2-40B4-BE49-F238E27FC236}">
                <a16:creationId xmlns:a16="http://schemas.microsoft.com/office/drawing/2014/main" id="{D3073815-07D9-9649-BB99-CF92E811318F}"/>
              </a:ext>
            </a:extLst>
          </p:cNvPr>
          <p:cNvGrpSpPr/>
          <p:nvPr/>
        </p:nvGrpSpPr>
        <p:grpSpPr>
          <a:xfrm>
            <a:off x="1821827" y="4380921"/>
            <a:ext cx="3519329" cy="767627"/>
            <a:chOff x="1782684" y="1907512"/>
            <a:chExt cx="3519329" cy="767627"/>
          </a:xfrm>
        </p:grpSpPr>
        <p:sp>
          <p:nvSpPr>
            <p:cNvPr id="73" name="文本框 72">
              <a:extLst>
                <a:ext uri="{FF2B5EF4-FFF2-40B4-BE49-F238E27FC236}">
                  <a16:creationId xmlns:a16="http://schemas.microsoft.com/office/drawing/2014/main" id="{A2411783-659B-424A-9F9A-1260083B83DD}"/>
                </a:ext>
              </a:extLst>
            </p:cNvPr>
            <p:cNvSpPr txBox="1"/>
            <p:nvPr/>
          </p:nvSpPr>
          <p:spPr>
            <a:xfrm>
              <a:off x="2488701" y="2421223"/>
              <a:ext cx="2813312" cy="253916"/>
            </a:xfrm>
            <a:prstGeom prst="rect">
              <a:avLst/>
            </a:prstGeom>
            <a:noFill/>
          </p:spPr>
          <p:txBody>
            <a:bodyPr wrap="square" rtlCol="0">
              <a:spAutoFit/>
            </a:bodyPr>
            <a:lstStyle/>
            <a:p>
              <a:pPr algn="l"/>
              <a:r>
                <a:rPr kumimoji="1" lang="en-US" altLang="zh-CN" sz="1050" spc="3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Main work</a:t>
              </a:r>
            </a:p>
          </p:txBody>
        </p:sp>
        <p:cxnSp>
          <p:nvCxnSpPr>
            <p:cNvPr id="74" name="直线连接符 73">
              <a:extLst>
                <a:ext uri="{FF2B5EF4-FFF2-40B4-BE49-F238E27FC236}">
                  <a16:creationId xmlns:a16="http://schemas.microsoft.com/office/drawing/2014/main" id="{3A3B7E3A-16AC-DE4B-8727-D5865AFC0B3F}"/>
                </a:ext>
              </a:extLst>
            </p:cNvPr>
            <p:cNvCxnSpPr>
              <a:cxnSpLocks/>
            </p:cNvCxnSpPr>
            <p:nvPr/>
          </p:nvCxnSpPr>
          <p:spPr>
            <a:xfrm>
              <a:off x="2581925" y="2411568"/>
              <a:ext cx="2304256"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5" name="组合 74">
              <a:extLst>
                <a:ext uri="{FF2B5EF4-FFF2-40B4-BE49-F238E27FC236}">
                  <a16:creationId xmlns:a16="http://schemas.microsoft.com/office/drawing/2014/main" id="{88427284-797A-3844-8F8F-A54F0A07D06C}"/>
                </a:ext>
              </a:extLst>
            </p:cNvPr>
            <p:cNvGrpSpPr/>
            <p:nvPr/>
          </p:nvGrpSpPr>
          <p:grpSpPr>
            <a:xfrm>
              <a:off x="1782684" y="1978568"/>
              <a:ext cx="618022" cy="629497"/>
              <a:chOff x="1782684" y="1978568"/>
              <a:chExt cx="618022" cy="629497"/>
            </a:xfrm>
          </p:grpSpPr>
          <p:sp>
            <p:nvSpPr>
              <p:cNvPr id="77" name="圆角矩形 76">
                <a:extLst>
                  <a:ext uri="{FF2B5EF4-FFF2-40B4-BE49-F238E27FC236}">
                    <a16:creationId xmlns:a16="http://schemas.microsoft.com/office/drawing/2014/main" id="{6CFFAE41-7E4A-7B48-A31C-3C6599D2A39D}"/>
                  </a:ext>
                </a:extLst>
              </p:cNvPr>
              <p:cNvSpPr/>
              <p:nvPr/>
            </p:nvSpPr>
            <p:spPr>
              <a:xfrm>
                <a:off x="1782684" y="1978568"/>
                <a:ext cx="556618" cy="556618"/>
              </a:xfrm>
              <a:prstGeom prst="roundRect">
                <a:avLst>
                  <a:gd name="adj" fmla="val 16419"/>
                </a:avLst>
              </a:prstGeom>
              <a:gradFill>
                <a:gsLst>
                  <a:gs pos="0">
                    <a:srgbClr val="C00000">
                      <a:alpha val="72000"/>
                    </a:srgbClr>
                  </a:gs>
                  <a:gs pos="100000">
                    <a:srgbClr val="C00000">
                      <a:alpha val="47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78" name="圆角矩形 77">
                <a:extLst>
                  <a:ext uri="{FF2B5EF4-FFF2-40B4-BE49-F238E27FC236}">
                    <a16:creationId xmlns:a16="http://schemas.microsoft.com/office/drawing/2014/main" id="{C6790460-5BDD-4745-BC65-46C448AC4589}"/>
                  </a:ext>
                </a:extLst>
              </p:cNvPr>
              <p:cNvSpPr/>
              <p:nvPr/>
            </p:nvSpPr>
            <p:spPr>
              <a:xfrm>
                <a:off x="1844088" y="2051447"/>
                <a:ext cx="556618" cy="556618"/>
              </a:xfrm>
              <a:prstGeom prst="roundRect">
                <a:avLst>
                  <a:gd name="adj" fmla="val 16419"/>
                </a:avLst>
              </a:prstGeom>
              <a:gradFill>
                <a:gsLst>
                  <a:gs pos="0">
                    <a:srgbClr val="C00000">
                      <a:alpha val="40000"/>
                    </a:srgbClr>
                  </a:gs>
                  <a:gs pos="100000">
                    <a:srgbClr val="C00000">
                      <a:alpha val="1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79" name="文本框 78">
                <a:extLst>
                  <a:ext uri="{FF2B5EF4-FFF2-40B4-BE49-F238E27FC236}">
                    <a16:creationId xmlns:a16="http://schemas.microsoft.com/office/drawing/2014/main" id="{D58ACABE-07D6-6448-BBBA-49498C3AA954}"/>
                  </a:ext>
                </a:extLst>
              </p:cNvPr>
              <p:cNvSpPr txBox="1"/>
              <p:nvPr/>
            </p:nvSpPr>
            <p:spPr>
              <a:xfrm>
                <a:off x="1800411" y="2020525"/>
                <a:ext cx="527709" cy="461665"/>
              </a:xfrm>
              <a:prstGeom prst="rect">
                <a:avLst/>
              </a:prstGeom>
              <a:noFill/>
            </p:spPr>
            <p:txBody>
              <a:bodyPr wrap="none" rtlCol="0">
                <a:spAutoFit/>
              </a:bodyPr>
              <a:lstStyle/>
              <a:p>
                <a:pPr algn="l"/>
                <a:r>
                  <a:rPr kumimoji="1" lang="en-US" altLang="zh-CN" sz="2400" b="1" dirty="0">
                    <a:solidFill>
                      <a:schemeClr val="bg1"/>
                    </a:solidFill>
                    <a:latin typeface="Arial" panose="020B0604020202020204" pitchFamily="34" charset="0"/>
                    <a:ea typeface="Microsoft YaHei" panose="020B0503020204020204" pitchFamily="34" charset="-122"/>
                    <a:cs typeface="Arial" panose="020B0604020202020204" pitchFamily="34" charset="0"/>
                  </a:rPr>
                  <a:t>03</a:t>
                </a:r>
                <a:endParaRPr kumimoji="1" lang="zh-CN" altLang="en-US" sz="2400" b="1" dirty="0">
                  <a:solidFill>
                    <a:schemeClr val="bg1"/>
                  </a:solidFill>
                  <a:latin typeface="Arial" panose="020B0604020202020204" pitchFamily="34" charset="0"/>
                  <a:ea typeface="Microsoft YaHei" panose="020B0503020204020204" pitchFamily="34" charset="-122"/>
                  <a:cs typeface="Arial" panose="020B0604020202020204" pitchFamily="34" charset="0"/>
                </a:endParaRPr>
              </a:p>
            </p:txBody>
          </p:sp>
        </p:grpSp>
        <p:sp>
          <p:nvSpPr>
            <p:cNvPr id="76" name="文本框 75">
              <a:extLst>
                <a:ext uri="{FF2B5EF4-FFF2-40B4-BE49-F238E27FC236}">
                  <a16:creationId xmlns:a16="http://schemas.microsoft.com/office/drawing/2014/main" id="{871C7755-5C7B-E948-BC39-15C3578E0437}"/>
                </a:ext>
              </a:extLst>
            </p:cNvPr>
            <p:cNvSpPr txBox="1"/>
            <p:nvPr/>
          </p:nvSpPr>
          <p:spPr>
            <a:xfrm>
              <a:off x="2472988" y="1907512"/>
              <a:ext cx="2757015" cy="523220"/>
            </a:xfrm>
            <a:prstGeom prst="rect">
              <a:avLst/>
            </a:prstGeom>
            <a:noFill/>
          </p:spPr>
          <p:txBody>
            <a:bodyPr wrap="square" rtlCol="0">
              <a:spAutoFit/>
            </a:bodyPr>
            <a:lstStyle/>
            <a:p>
              <a:pPr algn="l"/>
              <a:r>
                <a:rPr kumimoji="1" lang="zh-CN" altLang="en-US" sz="2800" b="1" spc="300" dirty="0">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Microsoft YaHei" panose="020B0503020204020204" pitchFamily="34" charset="-122"/>
                  <a:cs typeface="Arial" panose="020B0604020202020204" pitchFamily="34" charset="0"/>
                </a:rPr>
                <a:t>主要工作</a:t>
              </a:r>
            </a:p>
          </p:txBody>
        </p:sp>
      </p:grpSp>
      <p:grpSp>
        <p:nvGrpSpPr>
          <p:cNvPr id="104" name="组合 103">
            <a:extLst>
              <a:ext uri="{FF2B5EF4-FFF2-40B4-BE49-F238E27FC236}">
                <a16:creationId xmlns:a16="http://schemas.microsoft.com/office/drawing/2014/main" id="{863FE7CC-5959-894D-82CA-FF1C0B167D02}"/>
              </a:ext>
            </a:extLst>
          </p:cNvPr>
          <p:cNvGrpSpPr/>
          <p:nvPr/>
        </p:nvGrpSpPr>
        <p:grpSpPr>
          <a:xfrm>
            <a:off x="6603171" y="2031488"/>
            <a:ext cx="4196739" cy="759932"/>
            <a:chOff x="1782684" y="1907512"/>
            <a:chExt cx="4196739" cy="759932"/>
          </a:xfrm>
        </p:grpSpPr>
        <p:sp>
          <p:nvSpPr>
            <p:cNvPr id="105" name="文本框 104">
              <a:extLst>
                <a:ext uri="{FF2B5EF4-FFF2-40B4-BE49-F238E27FC236}">
                  <a16:creationId xmlns:a16="http://schemas.microsoft.com/office/drawing/2014/main" id="{446D2C2D-5626-D44A-AAA2-343C9C987917}"/>
                </a:ext>
              </a:extLst>
            </p:cNvPr>
            <p:cNvSpPr txBox="1"/>
            <p:nvPr/>
          </p:nvSpPr>
          <p:spPr>
            <a:xfrm>
              <a:off x="2488701" y="2421223"/>
              <a:ext cx="3490722" cy="246221"/>
            </a:xfrm>
            <a:prstGeom prst="rect">
              <a:avLst/>
            </a:prstGeom>
            <a:noFill/>
          </p:spPr>
          <p:txBody>
            <a:bodyPr wrap="square" rtlCol="0">
              <a:spAutoFit/>
            </a:bodyPr>
            <a:lstStyle/>
            <a:p>
              <a:r>
                <a:rPr kumimoji="1" lang="en-US" altLang="zh-CN" sz="1000" spc="3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Related Technology Introduction</a:t>
              </a:r>
            </a:p>
          </p:txBody>
        </p:sp>
        <p:cxnSp>
          <p:nvCxnSpPr>
            <p:cNvPr id="106" name="直线连接符 105">
              <a:extLst>
                <a:ext uri="{FF2B5EF4-FFF2-40B4-BE49-F238E27FC236}">
                  <a16:creationId xmlns:a16="http://schemas.microsoft.com/office/drawing/2014/main" id="{C6B78C72-37F7-6140-BB58-AB98EA38093B}"/>
                </a:ext>
              </a:extLst>
            </p:cNvPr>
            <p:cNvCxnSpPr>
              <a:cxnSpLocks/>
            </p:cNvCxnSpPr>
            <p:nvPr/>
          </p:nvCxnSpPr>
          <p:spPr>
            <a:xfrm>
              <a:off x="2581925" y="2411568"/>
              <a:ext cx="2304256"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7" name="组合 106">
              <a:extLst>
                <a:ext uri="{FF2B5EF4-FFF2-40B4-BE49-F238E27FC236}">
                  <a16:creationId xmlns:a16="http://schemas.microsoft.com/office/drawing/2014/main" id="{1D0683FF-9480-0349-AE36-D074AA27EFAA}"/>
                </a:ext>
              </a:extLst>
            </p:cNvPr>
            <p:cNvGrpSpPr/>
            <p:nvPr/>
          </p:nvGrpSpPr>
          <p:grpSpPr>
            <a:xfrm>
              <a:off x="1782684" y="1978568"/>
              <a:ext cx="618022" cy="629497"/>
              <a:chOff x="1782684" y="1978568"/>
              <a:chExt cx="618022" cy="629497"/>
            </a:xfrm>
          </p:grpSpPr>
          <p:sp>
            <p:nvSpPr>
              <p:cNvPr id="109" name="圆角矩形 108">
                <a:extLst>
                  <a:ext uri="{FF2B5EF4-FFF2-40B4-BE49-F238E27FC236}">
                    <a16:creationId xmlns:a16="http://schemas.microsoft.com/office/drawing/2014/main" id="{E7259CD3-68F4-AB4C-9951-648337676B08}"/>
                  </a:ext>
                </a:extLst>
              </p:cNvPr>
              <p:cNvSpPr/>
              <p:nvPr/>
            </p:nvSpPr>
            <p:spPr>
              <a:xfrm>
                <a:off x="1782684" y="1978568"/>
                <a:ext cx="556618" cy="556618"/>
              </a:xfrm>
              <a:prstGeom prst="roundRect">
                <a:avLst>
                  <a:gd name="adj" fmla="val 16419"/>
                </a:avLst>
              </a:prstGeom>
              <a:gradFill>
                <a:gsLst>
                  <a:gs pos="0">
                    <a:srgbClr val="C00000">
                      <a:alpha val="72000"/>
                    </a:srgbClr>
                  </a:gs>
                  <a:gs pos="100000">
                    <a:srgbClr val="C00000">
                      <a:alpha val="47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110" name="圆角矩形 109">
                <a:extLst>
                  <a:ext uri="{FF2B5EF4-FFF2-40B4-BE49-F238E27FC236}">
                    <a16:creationId xmlns:a16="http://schemas.microsoft.com/office/drawing/2014/main" id="{0230AFA5-B83E-FC41-A04F-4B529A4A69F3}"/>
                  </a:ext>
                </a:extLst>
              </p:cNvPr>
              <p:cNvSpPr/>
              <p:nvPr/>
            </p:nvSpPr>
            <p:spPr>
              <a:xfrm>
                <a:off x="1844088" y="2051447"/>
                <a:ext cx="556618" cy="556618"/>
              </a:xfrm>
              <a:prstGeom prst="roundRect">
                <a:avLst>
                  <a:gd name="adj" fmla="val 16419"/>
                </a:avLst>
              </a:prstGeom>
              <a:gradFill>
                <a:gsLst>
                  <a:gs pos="0">
                    <a:srgbClr val="C00000">
                      <a:alpha val="40000"/>
                    </a:srgbClr>
                  </a:gs>
                  <a:gs pos="100000">
                    <a:srgbClr val="C00000">
                      <a:alpha val="1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111" name="文本框 110">
                <a:extLst>
                  <a:ext uri="{FF2B5EF4-FFF2-40B4-BE49-F238E27FC236}">
                    <a16:creationId xmlns:a16="http://schemas.microsoft.com/office/drawing/2014/main" id="{3BF8D883-081A-7C49-954F-3603F55E224D}"/>
                  </a:ext>
                </a:extLst>
              </p:cNvPr>
              <p:cNvSpPr txBox="1"/>
              <p:nvPr/>
            </p:nvSpPr>
            <p:spPr>
              <a:xfrm>
                <a:off x="1800411" y="2020525"/>
                <a:ext cx="527709" cy="461665"/>
              </a:xfrm>
              <a:prstGeom prst="rect">
                <a:avLst/>
              </a:prstGeom>
              <a:noFill/>
            </p:spPr>
            <p:txBody>
              <a:bodyPr wrap="none" rtlCol="0">
                <a:spAutoFit/>
              </a:bodyPr>
              <a:lstStyle/>
              <a:p>
                <a:pPr algn="l"/>
                <a:r>
                  <a:rPr kumimoji="1" lang="en-US" altLang="zh-CN" sz="2400" b="1" dirty="0">
                    <a:solidFill>
                      <a:schemeClr val="bg1"/>
                    </a:solidFill>
                    <a:latin typeface="Arial" panose="020B0604020202020204" pitchFamily="34" charset="0"/>
                    <a:ea typeface="Microsoft YaHei" panose="020B0503020204020204" pitchFamily="34" charset="-122"/>
                    <a:cs typeface="Arial" panose="020B0604020202020204" pitchFamily="34" charset="0"/>
                  </a:rPr>
                  <a:t>02</a:t>
                </a:r>
                <a:endParaRPr kumimoji="1" lang="zh-CN" altLang="en-US" sz="2400" b="1" dirty="0">
                  <a:solidFill>
                    <a:schemeClr val="bg1"/>
                  </a:solidFill>
                  <a:latin typeface="Arial" panose="020B0604020202020204" pitchFamily="34" charset="0"/>
                  <a:ea typeface="Microsoft YaHei" panose="020B0503020204020204" pitchFamily="34" charset="-122"/>
                  <a:cs typeface="Arial" panose="020B0604020202020204" pitchFamily="34" charset="0"/>
                </a:endParaRPr>
              </a:p>
            </p:txBody>
          </p:sp>
        </p:grpSp>
        <p:sp>
          <p:nvSpPr>
            <p:cNvPr id="108" name="文本框 107">
              <a:extLst>
                <a:ext uri="{FF2B5EF4-FFF2-40B4-BE49-F238E27FC236}">
                  <a16:creationId xmlns:a16="http://schemas.microsoft.com/office/drawing/2014/main" id="{8588AF32-1BB0-1E46-8C46-41C216AF7AEB}"/>
                </a:ext>
              </a:extLst>
            </p:cNvPr>
            <p:cNvSpPr txBox="1"/>
            <p:nvPr/>
          </p:nvSpPr>
          <p:spPr>
            <a:xfrm>
              <a:off x="2472988" y="1907512"/>
              <a:ext cx="2757015" cy="523220"/>
            </a:xfrm>
            <a:prstGeom prst="rect">
              <a:avLst/>
            </a:prstGeom>
            <a:noFill/>
          </p:spPr>
          <p:txBody>
            <a:bodyPr wrap="square" rtlCol="0">
              <a:spAutoFit/>
            </a:bodyPr>
            <a:lstStyle/>
            <a:p>
              <a:pPr algn="l"/>
              <a:r>
                <a:rPr kumimoji="1" lang="zh-CN" altLang="en-US" sz="2800" b="1" spc="300" dirty="0">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Microsoft YaHei" panose="020B0503020204020204" pitchFamily="34" charset="-122"/>
                  <a:cs typeface="Arial" panose="020B0604020202020204" pitchFamily="34" charset="0"/>
                </a:rPr>
                <a:t>系统总体设计</a:t>
              </a:r>
            </a:p>
          </p:txBody>
        </p:sp>
      </p:grpSp>
      <p:grpSp>
        <p:nvGrpSpPr>
          <p:cNvPr id="112" name="组合 111">
            <a:extLst>
              <a:ext uri="{FF2B5EF4-FFF2-40B4-BE49-F238E27FC236}">
                <a16:creationId xmlns:a16="http://schemas.microsoft.com/office/drawing/2014/main" id="{374FEFC0-CFAE-F247-9FB0-3184403BF62F}"/>
              </a:ext>
            </a:extLst>
          </p:cNvPr>
          <p:cNvGrpSpPr/>
          <p:nvPr/>
        </p:nvGrpSpPr>
        <p:grpSpPr>
          <a:xfrm>
            <a:off x="6585444" y="4380921"/>
            <a:ext cx="4080991" cy="767627"/>
            <a:chOff x="1782684" y="1907512"/>
            <a:chExt cx="4080991" cy="767627"/>
          </a:xfrm>
        </p:grpSpPr>
        <p:sp>
          <p:nvSpPr>
            <p:cNvPr id="113" name="文本框 112">
              <a:extLst>
                <a:ext uri="{FF2B5EF4-FFF2-40B4-BE49-F238E27FC236}">
                  <a16:creationId xmlns:a16="http://schemas.microsoft.com/office/drawing/2014/main" id="{F65501E6-6294-3D4A-AEE5-8F514A52DC88}"/>
                </a:ext>
              </a:extLst>
            </p:cNvPr>
            <p:cNvSpPr txBox="1"/>
            <p:nvPr/>
          </p:nvSpPr>
          <p:spPr>
            <a:xfrm>
              <a:off x="2488700" y="2421223"/>
              <a:ext cx="3374975" cy="253916"/>
            </a:xfrm>
            <a:prstGeom prst="rect">
              <a:avLst/>
            </a:prstGeom>
            <a:noFill/>
          </p:spPr>
          <p:txBody>
            <a:bodyPr wrap="square" rtlCol="0">
              <a:spAutoFit/>
            </a:bodyPr>
            <a:lstStyle/>
            <a:p>
              <a:r>
                <a:rPr kumimoji="1" lang="en-US" altLang="zh-CN" sz="1050" spc="3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Result</a:t>
              </a:r>
            </a:p>
          </p:txBody>
        </p:sp>
        <p:cxnSp>
          <p:nvCxnSpPr>
            <p:cNvPr id="114" name="直线连接符 113">
              <a:extLst>
                <a:ext uri="{FF2B5EF4-FFF2-40B4-BE49-F238E27FC236}">
                  <a16:creationId xmlns:a16="http://schemas.microsoft.com/office/drawing/2014/main" id="{52B20EF4-26B8-D945-9025-478574F00E4F}"/>
                </a:ext>
              </a:extLst>
            </p:cNvPr>
            <p:cNvCxnSpPr>
              <a:cxnSpLocks/>
            </p:cNvCxnSpPr>
            <p:nvPr/>
          </p:nvCxnSpPr>
          <p:spPr>
            <a:xfrm>
              <a:off x="2581925" y="2411568"/>
              <a:ext cx="2304256"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5" name="组合 114">
              <a:extLst>
                <a:ext uri="{FF2B5EF4-FFF2-40B4-BE49-F238E27FC236}">
                  <a16:creationId xmlns:a16="http://schemas.microsoft.com/office/drawing/2014/main" id="{6362B162-4B97-054A-97D4-CD1BCDFD5A74}"/>
                </a:ext>
              </a:extLst>
            </p:cNvPr>
            <p:cNvGrpSpPr/>
            <p:nvPr/>
          </p:nvGrpSpPr>
          <p:grpSpPr>
            <a:xfrm>
              <a:off x="1782684" y="1978568"/>
              <a:ext cx="618022" cy="629497"/>
              <a:chOff x="1782684" y="1978568"/>
              <a:chExt cx="618022" cy="629497"/>
            </a:xfrm>
          </p:grpSpPr>
          <p:sp>
            <p:nvSpPr>
              <p:cNvPr id="117" name="圆角矩形 116">
                <a:extLst>
                  <a:ext uri="{FF2B5EF4-FFF2-40B4-BE49-F238E27FC236}">
                    <a16:creationId xmlns:a16="http://schemas.microsoft.com/office/drawing/2014/main" id="{4CA12C3B-FFF5-9047-9FAB-77DECDC7F39A}"/>
                  </a:ext>
                </a:extLst>
              </p:cNvPr>
              <p:cNvSpPr/>
              <p:nvPr/>
            </p:nvSpPr>
            <p:spPr>
              <a:xfrm>
                <a:off x="1782684" y="1978568"/>
                <a:ext cx="556618" cy="556618"/>
              </a:xfrm>
              <a:prstGeom prst="roundRect">
                <a:avLst>
                  <a:gd name="adj" fmla="val 16419"/>
                </a:avLst>
              </a:prstGeom>
              <a:gradFill>
                <a:gsLst>
                  <a:gs pos="0">
                    <a:srgbClr val="C00000">
                      <a:alpha val="72000"/>
                    </a:srgbClr>
                  </a:gs>
                  <a:gs pos="100000">
                    <a:srgbClr val="C00000">
                      <a:alpha val="47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118" name="圆角矩形 117">
                <a:extLst>
                  <a:ext uri="{FF2B5EF4-FFF2-40B4-BE49-F238E27FC236}">
                    <a16:creationId xmlns:a16="http://schemas.microsoft.com/office/drawing/2014/main" id="{CA019BA5-EFF0-4949-84DF-C976ED516DC3}"/>
                  </a:ext>
                </a:extLst>
              </p:cNvPr>
              <p:cNvSpPr/>
              <p:nvPr/>
            </p:nvSpPr>
            <p:spPr>
              <a:xfrm>
                <a:off x="1844088" y="2051447"/>
                <a:ext cx="556618" cy="556618"/>
              </a:xfrm>
              <a:prstGeom prst="roundRect">
                <a:avLst>
                  <a:gd name="adj" fmla="val 16419"/>
                </a:avLst>
              </a:prstGeom>
              <a:gradFill>
                <a:gsLst>
                  <a:gs pos="0">
                    <a:srgbClr val="C00000">
                      <a:alpha val="40000"/>
                    </a:srgbClr>
                  </a:gs>
                  <a:gs pos="100000">
                    <a:srgbClr val="C00000">
                      <a:alpha val="1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119" name="文本框 118">
                <a:extLst>
                  <a:ext uri="{FF2B5EF4-FFF2-40B4-BE49-F238E27FC236}">
                    <a16:creationId xmlns:a16="http://schemas.microsoft.com/office/drawing/2014/main" id="{3BFE4688-FBE8-F549-AC91-8EC4CCCF6505}"/>
                  </a:ext>
                </a:extLst>
              </p:cNvPr>
              <p:cNvSpPr txBox="1"/>
              <p:nvPr/>
            </p:nvSpPr>
            <p:spPr>
              <a:xfrm>
                <a:off x="1800411" y="2020525"/>
                <a:ext cx="527709" cy="461665"/>
              </a:xfrm>
              <a:prstGeom prst="rect">
                <a:avLst/>
              </a:prstGeom>
              <a:noFill/>
            </p:spPr>
            <p:txBody>
              <a:bodyPr wrap="none" rtlCol="0">
                <a:spAutoFit/>
              </a:bodyPr>
              <a:lstStyle/>
              <a:p>
                <a:pPr algn="l"/>
                <a:r>
                  <a:rPr kumimoji="1" lang="en-US" altLang="zh-CN" sz="2400" b="1" dirty="0">
                    <a:solidFill>
                      <a:schemeClr val="bg1"/>
                    </a:solidFill>
                    <a:latin typeface="Arial" panose="020B0604020202020204" pitchFamily="34" charset="0"/>
                    <a:ea typeface="Microsoft YaHei" panose="020B0503020204020204" pitchFamily="34" charset="-122"/>
                    <a:cs typeface="Arial" panose="020B0604020202020204" pitchFamily="34" charset="0"/>
                  </a:rPr>
                  <a:t>04</a:t>
                </a:r>
                <a:endParaRPr kumimoji="1" lang="zh-CN" altLang="en-US" sz="2400" b="1" dirty="0">
                  <a:solidFill>
                    <a:schemeClr val="bg1"/>
                  </a:solidFill>
                  <a:latin typeface="Arial" panose="020B0604020202020204" pitchFamily="34" charset="0"/>
                  <a:ea typeface="Microsoft YaHei" panose="020B0503020204020204" pitchFamily="34" charset="-122"/>
                  <a:cs typeface="Arial" panose="020B0604020202020204" pitchFamily="34" charset="0"/>
                </a:endParaRPr>
              </a:p>
            </p:txBody>
          </p:sp>
        </p:grpSp>
        <p:sp>
          <p:nvSpPr>
            <p:cNvPr id="116" name="文本框 115">
              <a:extLst>
                <a:ext uri="{FF2B5EF4-FFF2-40B4-BE49-F238E27FC236}">
                  <a16:creationId xmlns:a16="http://schemas.microsoft.com/office/drawing/2014/main" id="{DA22ED13-39E8-B24F-A5CE-41E4B2886B5A}"/>
                </a:ext>
              </a:extLst>
            </p:cNvPr>
            <p:cNvSpPr txBox="1"/>
            <p:nvPr/>
          </p:nvSpPr>
          <p:spPr>
            <a:xfrm>
              <a:off x="2472988" y="1907512"/>
              <a:ext cx="2757015" cy="523220"/>
            </a:xfrm>
            <a:prstGeom prst="rect">
              <a:avLst/>
            </a:prstGeom>
            <a:noFill/>
          </p:spPr>
          <p:txBody>
            <a:bodyPr wrap="square" rtlCol="0">
              <a:spAutoFit/>
            </a:bodyPr>
            <a:lstStyle/>
            <a:p>
              <a:pPr algn="l"/>
              <a:r>
                <a:rPr kumimoji="1" lang="zh-CN" altLang="en-US" sz="2800" b="1" spc="300" dirty="0">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Microsoft YaHei" panose="020B0503020204020204" pitchFamily="34" charset="-122"/>
                  <a:cs typeface="Arial" panose="020B0604020202020204" pitchFamily="34" charset="0"/>
                </a:rPr>
                <a:t>结论</a:t>
              </a:r>
            </a:p>
          </p:txBody>
        </p:sp>
      </p:grpSp>
    </p:spTree>
    <p:extLst>
      <p:ext uri="{BB962C8B-B14F-4D97-AF65-F5344CB8AC3E}">
        <p14:creationId xmlns:p14="http://schemas.microsoft.com/office/powerpoint/2010/main" val="189034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14D7DAC9-7C1A-9746-9669-031D3ABF7E49}"/>
              </a:ext>
            </a:extLst>
          </p:cNvPr>
          <p:cNvPicPr>
            <a:picLocks noChangeAspect="1"/>
          </p:cNvPicPr>
          <p:nvPr/>
        </p:nvPicPr>
        <p:blipFill rotWithShape="1">
          <a:blip r:embed="rId3">
            <a:alphaModFix amt="3000"/>
          </a:blip>
          <a:srcRect l="31594" r="24278" b="51573"/>
          <a:stretch/>
        </p:blipFill>
        <p:spPr>
          <a:xfrm>
            <a:off x="0" y="830209"/>
            <a:ext cx="6230698" cy="6027791"/>
          </a:xfrm>
          <a:prstGeom prst="rect">
            <a:avLst/>
          </a:prstGeom>
        </p:spPr>
      </p:pic>
      <p:grpSp>
        <p:nvGrpSpPr>
          <p:cNvPr id="2" name="组合 1">
            <a:extLst>
              <a:ext uri="{FF2B5EF4-FFF2-40B4-BE49-F238E27FC236}">
                <a16:creationId xmlns:a16="http://schemas.microsoft.com/office/drawing/2014/main" id="{B6825660-A491-8E4E-9EEE-33F277319B7E}"/>
              </a:ext>
            </a:extLst>
          </p:cNvPr>
          <p:cNvGrpSpPr/>
          <p:nvPr/>
        </p:nvGrpSpPr>
        <p:grpSpPr>
          <a:xfrm>
            <a:off x="569328" y="0"/>
            <a:ext cx="11622672" cy="6858000"/>
            <a:chOff x="569328" y="0"/>
            <a:chExt cx="11622672" cy="6858000"/>
          </a:xfrm>
        </p:grpSpPr>
        <p:sp>
          <p:nvSpPr>
            <p:cNvPr id="15" name="圆角矩形 14">
              <a:extLst>
                <a:ext uri="{FF2B5EF4-FFF2-40B4-BE49-F238E27FC236}">
                  <a16:creationId xmlns:a16="http://schemas.microsoft.com/office/drawing/2014/main" id="{7C442F01-4386-7A4E-927D-AA037FFABC10}"/>
                </a:ext>
              </a:extLst>
            </p:cNvPr>
            <p:cNvSpPr/>
            <p:nvPr/>
          </p:nvSpPr>
          <p:spPr>
            <a:xfrm>
              <a:off x="569328" y="399595"/>
              <a:ext cx="270460" cy="10840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pic>
          <p:nvPicPr>
            <p:cNvPr id="16" name="图片 15">
              <a:extLst>
                <a:ext uri="{FF2B5EF4-FFF2-40B4-BE49-F238E27FC236}">
                  <a16:creationId xmlns:a16="http://schemas.microsoft.com/office/drawing/2014/main" id="{BE335D21-03B3-B447-947B-CF04A6F75807}"/>
                </a:ext>
              </a:extLst>
            </p:cNvPr>
            <p:cNvPicPr>
              <a:picLocks noChangeAspect="1"/>
            </p:cNvPicPr>
            <p:nvPr/>
          </p:nvPicPr>
          <p:blipFill>
            <a:blip r:embed="rId4"/>
            <a:stretch>
              <a:fillRect/>
            </a:stretch>
          </p:blipFill>
          <p:spPr>
            <a:xfrm>
              <a:off x="7658100" y="0"/>
              <a:ext cx="4533900" cy="6858000"/>
            </a:xfrm>
            <a:prstGeom prst="rect">
              <a:avLst/>
            </a:prstGeom>
          </p:spPr>
        </p:pic>
        <p:grpSp>
          <p:nvGrpSpPr>
            <p:cNvPr id="32" name="组合 31">
              <a:extLst>
                <a:ext uri="{FF2B5EF4-FFF2-40B4-BE49-F238E27FC236}">
                  <a16:creationId xmlns:a16="http://schemas.microsoft.com/office/drawing/2014/main" id="{2E67E278-3BB9-8841-9961-71CDBA865AA0}"/>
                </a:ext>
              </a:extLst>
            </p:cNvPr>
            <p:cNvGrpSpPr/>
            <p:nvPr/>
          </p:nvGrpSpPr>
          <p:grpSpPr>
            <a:xfrm>
              <a:off x="6840499" y="0"/>
              <a:ext cx="1709136" cy="6858000"/>
              <a:chOff x="6840499" y="0"/>
              <a:chExt cx="1709136" cy="6858000"/>
            </a:xfrm>
          </p:grpSpPr>
          <p:sp>
            <p:nvSpPr>
              <p:cNvPr id="28" name="平行四边形 27">
                <a:extLst>
                  <a:ext uri="{FF2B5EF4-FFF2-40B4-BE49-F238E27FC236}">
                    <a16:creationId xmlns:a16="http://schemas.microsoft.com/office/drawing/2014/main" id="{44C7FCF7-082E-EC48-BE80-8991C787EBAC}"/>
                  </a:ext>
                </a:extLst>
              </p:cNvPr>
              <p:cNvSpPr/>
              <p:nvPr/>
            </p:nvSpPr>
            <p:spPr>
              <a:xfrm>
                <a:off x="7045271" y="0"/>
                <a:ext cx="1318220" cy="6858000"/>
              </a:xfrm>
              <a:prstGeom prst="parallelogram">
                <a:avLst>
                  <a:gd name="adj" fmla="val 43266"/>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0" name="平行四边形 29">
                <a:extLst>
                  <a:ext uri="{FF2B5EF4-FFF2-40B4-BE49-F238E27FC236}">
                    <a16:creationId xmlns:a16="http://schemas.microsoft.com/office/drawing/2014/main" id="{D84070CB-54E2-844B-B858-5449B55F06BB}"/>
                  </a:ext>
                </a:extLst>
              </p:cNvPr>
              <p:cNvSpPr/>
              <p:nvPr/>
            </p:nvSpPr>
            <p:spPr>
              <a:xfrm>
                <a:off x="6840499" y="0"/>
                <a:ext cx="1318220" cy="6858000"/>
              </a:xfrm>
              <a:prstGeom prst="parallelogram">
                <a:avLst>
                  <a:gd name="adj" fmla="val 43266"/>
                </a:avLst>
              </a:prstGeom>
              <a:solidFill>
                <a:srgbClr val="C0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1" name="平行四边形 30">
                <a:extLst>
                  <a:ext uri="{FF2B5EF4-FFF2-40B4-BE49-F238E27FC236}">
                    <a16:creationId xmlns:a16="http://schemas.microsoft.com/office/drawing/2014/main" id="{D1347707-DDF0-4645-A9AA-2BD9EB52E7B7}"/>
                  </a:ext>
                </a:extLst>
              </p:cNvPr>
              <p:cNvSpPr/>
              <p:nvPr/>
            </p:nvSpPr>
            <p:spPr>
              <a:xfrm>
                <a:off x="7231415" y="0"/>
                <a:ext cx="1318220" cy="6858000"/>
              </a:xfrm>
              <a:prstGeom prst="parallelogram">
                <a:avLst>
                  <a:gd name="adj" fmla="val 43266"/>
                </a:avLst>
              </a:prstGeom>
              <a:solidFill>
                <a:srgbClr val="C0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grpSp>
        <p:nvGrpSpPr>
          <p:cNvPr id="21" name="组合 20">
            <a:extLst>
              <a:ext uri="{FF2B5EF4-FFF2-40B4-BE49-F238E27FC236}">
                <a16:creationId xmlns:a16="http://schemas.microsoft.com/office/drawing/2014/main" id="{AD5D3A99-1F57-6B43-9C49-E6EE6505DB86}"/>
              </a:ext>
            </a:extLst>
          </p:cNvPr>
          <p:cNvGrpSpPr/>
          <p:nvPr/>
        </p:nvGrpSpPr>
        <p:grpSpPr>
          <a:xfrm>
            <a:off x="1245705" y="2399251"/>
            <a:ext cx="3718344" cy="2339102"/>
            <a:chOff x="1654599" y="2374005"/>
            <a:chExt cx="3718344" cy="2339102"/>
          </a:xfrm>
        </p:grpSpPr>
        <p:sp>
          <p:nvSpPr>
            <p:cNvPr id="22" name="文本框 21">
              <a:extLst>
                <a:ext uri="{FF2B5EF4-FFF2-40B4-BE49-F238E27FC236}">
                  <a16:creationId xmlns:a16="http://schemas.microsoft.com/office/drawing/2014/main" id="{30DFB76A-7DF7-FC47-9D0B-99283B3125B1}"/>
                </a:ext>
              </a:extLst>
            </p:cNvPr>
            <p:cNvSpPr txBox="1"/>
            <p:nvPr/>
          </p:nvSpPr>
          <p:spPr>
            <a:xfrm>
              <a:off x="1654599" y="2374005"/>
              <a:ext cx="2072555" cy="584775"/>
            </a:xfrm>
            <a:prstGeom prst="rect">
              <a:avLst/>
            </a:prstGeom>
            <a:noFill/>
          </p:spPr>
          <p:txBody>
            <a:bodyPr wrap="none" rtlCol="0">
              <a:spAutoFit/>
            </a:bodyPr>
            <a:lstStyle/>
            <a:p>
              <a:pPr algn="l"/>
              <a:r>
                <a:rPr kumimoji="1" lang="en-US" altLang="zh-CN" sz="3200" spc="300" dirty="0">
                  <a:gradFill>
                    <a:gsLst>
                      <a:gs pos="0">
                        <a:schemeClr val="tx1">
                          <a:lumMod val="95000"/>
                          <a:lumOff val="5000"/>
                        </a:schemeClr>
                      </a:gs>
                      <a:gs pos="100000">
                        <a:schemeClr val="tx1">
                          <a:lumMod val="50000"/>
                          <a:lumOff val="50000"/>
                        </a:schemeClr>
                      </a:gs>
                    </a:gsLst>
                    <a:lin ang="5400000" scaled="0"/>
                  </a:gradFill>
                  <a:latin typeface="Arial" panose="020B0604020202020204" pitchFamily="34" charset="0"/>
                  <a:ea typeface="Microsoft YaHei" panose="020B0503020204020204" pitchFamily="34" charset="-122"/>
                  <a:cs typeface="Arial" panose="020B0604020202020204" pitchFamily="34" charset="0"/>
                </a:rPr>
                <a:t>PART 01</a:t>
              </a:r>
              <a:endParaRPr kumimoji="1" lang="zh-CN" altLang="en-US" sz="3200" spc="300" dirty="0">
                <a:gradFill>
                  <a:gsLst>
                    <a:gs pos="0">
                      <a:schemeClr val="tx1">
                        <a:lumMod val="95000"/>
                        <a:lumOff val="5000"/>
                      </a:schemeClr>
                    </a:gs>
                    <a:gs pos="100000">
                      <a:schemeClr val="tx1">
                        <a:lumMod val="50000"/>
                        <a:lumOff val="50000"/>
                      </a:schemeClr>
                    </a:gs>
                  </a:gsLst>
                  <a:lin ang="5400000" scaled="0"/>
                </a:gradFill>
                <a:latin typeface="Arial" panose="020B0604020202020204" pitchFamily="34" charset="0"/>
                <a:ea typeface="Microsoft YaHei" panose="020B0503020204020204" pitchFamily="34" charset="-122"/>
                <a:cs typeface="Arial" panose="020B0604020202020204" pitchFamily="34" charset="0"/>
              </a:endParaRPr>
            </a:p>
          </p:txBody>
        </p:sp>
        <p:sp>
          <p:nvSpPr>
            <p:cNvPr id="23" name="文本框 22">
              <a:extLst>
                <a:ext uri="{FF2B5EF4-FFF2-40B4-BE49-F238E27FC236}">
                  <a16:creationId xmlns:a16="http://schemas.microsoft.com/office/drawing/2014/main" id="{F8CB3320-B46F-2C42-95A8-D920FED24137}"/>
                </a:ext>
              </a:extLst>
            </p:cNvPr>
            <p:cNvSpPr txBox="1"/>
            <p:nvPr/>
          </p:nvSpPr>
          <p:spPr>
            <a:xfrm>
              <a:off x="1654599" y="2958780"/>
              <a:ext cx="3108543" cy="923330"/>
            </a:xfrm>
            <a:prstGeom prst="rect">
              <a:avLst/>
            </a:prstGeom>
            <a:noFill/>
          </p:spPr>
          <p:txBody>
            <a:bodyPr wrap="none" rtlCol="0">
              <a:spAutoFit/>
            </a:bodyPr>
            <a:lstStyle/>
            <a:p>
              <a:pPr algn="l"/>
              <a:r>
                <a:rPr kumimoji="1" lang="zh-CN" altLang="en-US" sz="5400" b="1" spc="300" dirty="0">
                  <a:gradFill>
                    <a:gsLst>
                      <a:gs pos="0">
                        <a:srgbClr val="C00000"/>
                      </a:gs>
                      <a:gs pos="100000">
                        <a:srgbClr val="F87768"/>
                      </a:gs>
                    </a:gsLst>
                    <a:lin ang="5400000" scaled="0"/>
                  </a:gradFill>
                  <a:latin typeface="Arial" panose="020B0604020202020204" pitchFamily="34" charset="0"/>
                  <a:ea typeface="Microsoft YaHei" panose="020B0503020204020204" pitchFamily="34" charset="-122"/>
                  <a:cs typeface="Arial" panose="020B0604020202020204" pitchFamily="34" charset="0"/>
                </a:rPr>
                <a:t>研究内容</a:t>
              </a:r>
            </a:p>
          </p:txBody>
        </p:sp>
        <p:sp>
          <p:nvSpPr>
            <p:cNvPr id="24" name="文本框 23">
              <a:extLst>
                <a:ext uri="{FF2B5EF4-FFF2-40B4-BE49-F238E27FC236}">
                  <a16:creationId xmlns:a16="http://schemas.microsoft.com/office/drawing/2014/main" id="{C7A5035B-F791-A64C-9562-C7341A7C9346}"/>
                </a:ext>
              </a:extLst>
            </p:cNvPr>
            <p:cNvSpPr txBox="1"/>
            <p:nvPr/>
          </p:nvSpPr>
          <p:spPr>
            <a:xfrm>
              <a:off x="1693787" y="3882110"/>
              <a:ext cx="3679156" cy="830997"/>
            </a:xfrm>
            <a:prstGeom prst="rect">
              <a:avLst/>
            </a:prstGeom>
            <a:noFill/>
          </p:spPr>
          <p:txBody>
            <a:bodyPr wrap="square" rtlCol="0">
              <a:spAutoFit/>
            </a:bodyPr>
            <a:lstStyle/>
            <a:p>
              <a:r>
                <a:rPr kumimoji="1" lang="en-US" altLang="zh-CN" sz="2400" spc="3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Research content and research steps</a:t>
              </a:r>
            </a:p>
          </p:txBody>
        </p:sp>
      </p:grpSp>
    </p:spTree>
    <p:extLst>
      <p:ext uri="{BB962C8B-B14F-4D97-AF65-F5344CB8AC3E}">
        <p14:creationId xmlns:p14="http://schemas.microsoft.com/office/powerpoint/2010/main" val="946092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6374E659-06E0-4042-A6BE-6D6977EDB906}"/>
              </a:ext>
            </a:extLst>
          </p:cNvPr>
          <p:cNvGrpSpPr/>
          <p:nvPr/>
        </p:nvGrpSpPr>
        <p:grpSpPr>
          <a:xfrm>
            <a:off x="0" y="-1"/>
            <a:ext cx="12192000" cy="6858002"/>
            <a:chOff x="0" y="-1"/>
            <a:chExt cx="12192000" cy="6858002"/>
          </a:xfrm>
        </p:grpSpPr>
        <p:sp>
          <p:nvSpPr>
            <p:cNvPr id="17" name="矩形 16">
              <a:extLst>
                <a:ext uri="{FF2B5EF4-FFF2-40B4-BE49-F238E27FC236}">
                  <a16:creationId xmlns:a16="http://schemas.microsoft.com/office/drawing/2014/main" id="{0CC1B4B5-E5B8-2A43-9A48-2F89B549D080}"/>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18" name="矩形 17">
              <a:extLst>
                <a:ext uri="{FF2B5EF4-FFF2-40B4-BE49-F238E27FC236}">
                  <a16:creationId xmlns:a16="http://schemas.microsoft.com/office/drawing/2014/main" id="{D4F07EFB-540A-724B-9E1F-F818ED17200A}"/>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19" name="矩形 18">
              <a:extLst>
                <a:ext uri="{FF2B5EF4-FFF2-40B4-BE49-F238E27FC236}">
                  <a16:creationId xmlns:a16="http://schemas.microsoft.com/office/drawing/2014/main" id="{42ED7E07-E277-2E45-9597-D2C1BF897BF5}"/>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20" name="组合 19">
            <a:extLst>
              <a:ext uri="{FF2B5EF4-FFF2-40B4-BE49-F238E27FC236}">
                <a16:creationId xmlns:a16="http://schemas.microsoft.com/office/drawing/2014/main" id="{013B0796-67A9-7A4F-99B7-6AB9E5A66374}"/>
              </a:ext>
            </a:extLst>
          </p:cNvPr>
          <p:cNvGrpSpPr/>
          <p:nvPr/>
        </p:nvGrpSpPr>
        <p:grpSpPr>
          <a:xfrm>
            <a:off x="133400" y="140547"/>
            <a:ext cx="11901234" cy="6795389"/>
            <a:chOff x="133400" y="140547"/>
            <a:chExt cx="11901234" cy="6795389"/>
          </a:xfrm>
        </p:grpSpPr>
        <p:pic>
          <p:nvPicPr>
            <p:cNvPr id="21" name="图片 20">
              <a:extLst>
                <a:ext uri="{FF2B5EF4-FFF2-40B4-BE49-F238E27FC236}">
                  <a16:creationId xmlns:a16="http://schemas.microsoft.com/office/drawing/2014/main" id="{DB7E1B58-9D91-E647-98E1-D1BA4C6BE16A}"/>
                </a:ext>
              </a:extLst>
            </p:cNvPr>
            <p:cNvPicPr>
              <a:picLocks noChangeAspect="1"/>
            </p:cNvPicPr>
            <p:nvPr/>
          </p:nvPicPr>
          <p:blipFill>
            <a:blip r:embed="rId4"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22" name="图片 21">
              <a:extLst>
                <a:ext uri="{FF2B5EF4-FFF2-40B4-BE49-F238E27FC236}">
                  <a16:creationId xmlns:a16="http://schemas.microsoft.com/office/drawing/2014/main" id="{F093D6A0-9471-534D-8074-6AD08E477CDD}"/>
                </a:ext>
              </a:extLst>
            </p:cNvPr>
            <p:cNvPicPr>
              <a:picLocks noChangeAspect="1"/>
            </p:cNvPicPr>
            <p:nvPr/>
          </p:nvPicPr>
          <p:blipFill>
            <a:blip r:embed="rId5"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23" name="图片 22" descr="图片包含 游戏机, 画, 钟表&#10;&#10;描述已自动生成">
              <a:extLst>
                <a:ext uri="{FF2B5EF4-FFF2-40B4-BE49-F238E27FC236}">
                  <a16:creationId xmlns:a16="http://schemas.microsoft.com/office/drawing/2014/main" id="{93EED181-B044-3040-8B50-7E365D6E1D09}"/>
                </a:ext>
              </a:extLst>
            </p:cNvPr>
            <p:cNvPicPr>
              <a:picLocks noChangeAspect="1"/>
            </p:cNvPicPr>
            <p:nvPr/>
          </p:nvPicPr>
          <p:blipFill>
            <a:blip r:embed="rId6"/>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01</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572B192-1A8B-0944-BC5E-3183B0CBCBA6}"/>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研究内容</a:t>
            </a:r>
          </a:p>
        </p:txBody>
      </p:sp>
      <p:sp>
        <p:nvSpPr>
          <p:cNvPr id="13" name="矩形 12">
            <a:extLst>
              <a:ext uri="{FF2B5EF4-FFF2-40B4-BE49-F238E27FC236}">
                <a16:creationId xmlns:a16="http://schemas.microsoft.com/office/drawing/2014/main" id="{5F796594-9244-D142-B9A6-80F69C2EF2C2}"/>
              </a:ext>
            </a:extLst>
          </p:cNvPr>
          <p:cNvSpPr/>
          <p:nvPr/>
        </p:nvSpPr>
        <p:spPr>
          <a:xfrm>
            <a:off x="1101072" y="1953449"/>
            <a:ext cx="9989856" cy="3901774"/>
          </a:xfrm>
          <a:prstGeom prst="rect">
            <a:avLst/>
          </a:prstGeom>
        </p:spPr>
        <p:txBody>
          <a:bodyPr wrap="square">
            <a:spAutoFit/>
          </a:bodyPr>
          <a:lstStyle/>
          <a:p>
            <a:pPr indent="720000" algn="just" hangingPunct="0">
              <a:lnSpc>
                <a:spcPct val="130000"/>
              </a:lnSpc>
            </a:pPr>
            <a:r>
              <a:rPr lang="zh-CN" altLang="en-US"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代码框架和类库包含大量封装好的代码实现和繁多的功能，其通过应用程序编程接口（</a:t>
            </a:r>
            <a:r>
              <a:rPr lang="en-US" altLang="zh-CN"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APIs</a:t>
            </a:r>
            <a:r>
              <a:rPr lang="zh-CN" altLang="en-US"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）为用户提供重用或专门的功能。但是由于接口的具体实现对于用户来说属于“黑盒”属性，在接口调用过程中因为一些不知名的假设和需求，正确使用一些大型复杂的</a:t>
            </a:r>
            <a:r>
              <a:rPr lang="en-US" altLang="zh-CN"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API</a:t>
            </a:r>
            <a:r>
              <a:rPr lang="zh-CN" altLang="en-US"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可出现一系列问题。在过去的近十年里，很多研究团队开发出了很多技术来自动推断那些未被文档化记录的</a:t>
            </a:r>
            <a:r>
              <a:rPr lang="en-US" altLang="zh-CN"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APIs</a:t>
            </a:r>
            <a:r>
              <a:rPr lang="zh-CN" altLang="en-US"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属性。例如，通过挖掘函数调用序列的信息来检测那些不正常的输入序列；检测软件</a:t>
            </a:r>
            <a:r>
              <a:rPr lang="en-US" altLang="zh-CN"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bug</a:t>
            </a:r>
            <a:r>
              <a:rPr lang="zh-CN" altLang="en-US"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等。</a:t>
            </a:r>
            <a:endParaRPr lang="en-US" altLang="zh-CN"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endParaRPr>
          </a:p>
          <a:p>
            <a:pPr indent="720000" algn="just" hangingPunct="0">
              <a:lnSpc>
                <a:spcPct val="130000"/>
              </a:lnSpc>
            </a:pPr>
            <a:r>
              <a:rPr lang="zh-CN" altLang="en-US"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而且规范文档的编写需要花费开发人员大量的精力和时间；目前很多自动化方法被提出来帮助开发人员降低人工起草规范化文档的成本，其中包括有限状态自动机</a:t>
            </a:r>
            <a:r>
              <a:rPr lang="en-US" altLang="zh-CN"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(FSA)</a:t>
            </a:r>
            <a:r>
              <a:rPr lang="zh-CN" altLang="en-US"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，使用</a:t>
            </a:r>
            <a:r>
              <a:rPr lang="en-US" altLang="zh-CN"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FSA</a:t>
            </a:r>
            <a:r>
              <a:rPr lang="zh-CN" altLang="en-US"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来表达序列模式是一种很好的方法，但是生成的</a:t>
            </a:r>
            <a:r>
              <a:rPr lang="en-US" altLang="zh-CN"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FSA</a:t>
            </a:r>
            <a:r>
              <a:rPr lang="zh-CN" altLang="en-US"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模型精确度都不高。</a:t>
            </a:r>
            <a:endParaRPr lang="en-US" altLang="zh-CN"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endParaRPr>
          </a:p>
          <a:p>
            <a:pPr indent="720000" algn="just" hangingPunct="0">
              <a:lnSpc>
                <a:spcPct val="130000"/>
              </a:lnSpc>
            </a:pPr>
            <a:r>
              <a:rPr lang="zh-CN" altLang="en-US"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因此，能够提出一种基于</a:t>
            </a:r>
            <a:r>
              <a:rPr lang="en-US" altLang="zh-CN"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FSA</a:t>
            </a:r>
            <a:r>
              <a:rPr lang="zh-CN" altLang="en-US"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的规范挖掘算法，使得推断出的</a:t>
            </a:r>
            <a:r>
              <a:rPr lang="en-US" altLang="zh-CN"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FSA</a:t>
            </a:r>
            <a:r>
              <a:rPr lang="zh-CN" altLang="en-US" sz="16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模型精度能够更高，泛化能力更强，且不容易陷入过拟合等问题，是一项意义深远的工作；面对人工起草规范文档代价高昂的今天，自动化的规范挖掘方法显得尤为重要。</a:t>
            </a:r>
          </a:p>
        </p:txBody>
      </p:sp>
      <p:sp>
        <p:nvSpPr>
          <p:cNvPr id="14" name="文本框 13">
            <a:extLst>
              <a:ext uri="{FF2B5EF4-FFF2-40B4-BE49-F238E27FC236}">
                <a16:creationId xmlns:a16="http://schemas.microsoft.com/office/drawing/2014/main" id="{267E8ED8-D2DB-574E-92F9-BC2F3809A74D}"/>
              </a:ext>
            </a:extLst>
          </p:cNvPr>
          <p:cNvSpPr txBox="1"/>
          <p:nvPr/>
        </p:nvSpPr>
        <p:spPr>
          <a:xfrm>
            <a:off x="1415480" y="1372218"/>
            <a:ext cx="1569660" cy="461665"/>
          </a:xfrm>
          <a:prstGeom prst="rect">
            <a:avLst/>
          </a:prstGeom>
          <a:noFill/>
        </p:spPr>
        <p:txBody>
          <a:bodyPr wrap="none" rtlCol="0">
            <a:spAutoFit/>
          </a:bodyPr>
          <a:lstStyle/>
          <a:p>
            <a:pPr algn="l"/>
            <a:r>
              <a:rPr kumimoji="1" lang="zh-CN" altLang="en-US" sz="2400" b="1" spc="300" dirty="0">
                <a:gradFill>
                  <a:gsLst>
                    <a:gs pos="0">
                      <a:srgbClr val="C00000"/>
                    </a:gs>
                    <a:gs pos="100000">
                      <a:srgbClr val="C00000">
                        <a:lumMod val="59000"/>
                      </a:srgbClr>
                    </a:gs>
                  </a:gsLst>
                  <a:lin ang="5400000" scaled="1"/>
                </a:gradFill>
                <a:latin typeface="Arial" panose="020B0604020202020204" pitchFamily="34" charset="0"/>
                <a:ea typeface="Microsoft YaHei" panose="020B0503020204020204" pitchFamily="34" charset="-122"/>
                <a:cs typeface="Arial" panose="020B0604020202020204" pitchFamily="34" charset="0"/>
              </a:rPr>
              <a:t>研究内容</a:t>
            </a:r>
          </a:p>
        </p:txBody>
      </p:sp>
      <p:sp>
        <p:nvSpPr>
          <p:cNvPr id="15" name="圆角矩形 14">
            <a:extLst>
              <a:ext uri="{FF2B5EF4-FFF2-40B4-BE49-F238E27FC236}">
                <a16:creationId xmlns:a16="http://schemas.microsoft.com/office/drawing/2014/main" id="{B1F09C35-1E72-AF4C-B181-D991BC7A2FB8}"/>
              </a:ext>
            </a:extLst>
          </p:cNvPr>
          <p:cNvSpPr/>
          <p:nvPr/>
        </p:nvSpPr>
        <p:spPr>
          <a:xfrm>
            <a:off x="1128483" y="1487477"/>
            <a:ext cx="214989" cy="214989"/>
          </a:xfrm>
          <a:prstGeom prst="roundRect">
            <a:avLst/>
          </a:prstGeom>
          <a:gradFill>
            <a:gsLst>
              <a:gs pos="0">
                <a:srgbClr val="C00000"/>
              </a:gs>
              <a:gs pos="100000">
                <a:srgbClr val="C00000">
                  <a:lumMod val="5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9319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14D7DAC9-7C1A-9746-9669-031D3ABF7E49}"/>
              </a:ext>
            </a:extLst>
          </p:cNvPr>
          <p:cNvPicPr>
            <a:picLocks noChangeAspect="1"/>
          </p:cNvPicPr>
          <p:nvPr/>
        </p:nvPicPr>
        <p:blipFill rotWithShape="1">
          <a:blip r:embed="rId3">
            <a:alphaModFix amt="3000"/>
          </a:blip>
          <a:srcRect l="31594" r="24278" b="51573"/>
          <a:stretch/>
        </p:blipFill>
        <p:spPr>
          <a:xfrm>
            <a:off x="0" y="830209"/>
            <a:ext cx="6230698" cy="6027791"/>
          </a:xfrm>
          <a:prstGeom prst="rect">
            <a:avLst/>
          </a:prstGeom>
        </p:spPr>
      </p:pic>
      <p:grpSp>
        <p:nvGrpSpPr>
          <p:cNvPr id="2" name="组合 1">
            <a:extLst>
              <a:ext uri="{FF2B5EF4-FFF2-40B4-BE49-F238E27FC236}">
                <a16:creationId xmlns:a16="http://schemas.microsoft.com/office/drawing/2014/main" id="{B6825660-A491-8E4E-9EEE-33F277319B7E}"/>
              </a:ext>
            </a:extLst>
          </p:cNvPr>
          <p:cNvGrpSpPr/>
          <p:nvPr/>
        </p:nvGrpSpPr>
        <p:grpSpPr>
          <a:xfrm>
            <a:off x="569328" y="0"/>
            <a:ext cx="11622672" cy="6858000"/>
            <a:chOff x="569328" y="0"/>
            <a:chExt cx="11622672" cy="6858000"/>
          </a:xfrm>
        </p:grpSpPr>
        <p:sp>
          <p:nvSpPr>
            <p:cNvPr id="15" name="圆角矩形 14">
              <a:extLst>
                <a:ext uri="{FF2B5EF4-FFF2-40B4-BE49-F238E27FC236}">
                  <a16:creationId xmlns:a16="http://schemas.microsoft.com/office/drawing/2014/main" id="{7C442F01-4386-7A4E-927D-AA037FFABC10}"/>
                </a:ext>
              </a:extLst>
            </p:cNvPr>
            <p:cNvSpPr/>
            <p:nvPr/>
          </p:nvSpPr>
          <p:spPr>
            <a:xfrm>
              <a:off x="569328" y="399595"/>
              <a:ext cx="270460" cy="10840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pic>
          <p:nvPicPr>
            <p:cNvPr id="16" name="图片 15">
              <a:extLst>
                <a:ext uri="{FF2B5EF4-FFF2-40B4-BE49-F238E27FC236}">
                  <a16:creationId xmlns:a16="http://schemas.microsoft.com/office/drawing/2014/main" id="{BE335D21-03B3-B447-947B-CF04A6F75807}"/>
                </a:ext>
              </a:extLst>
            </p:cNvPr>
            <p:cNvPicPr>
              <a:picLocks noChangeAspect="1"/>
            </p:cNvPicPr>
            <p:nvPr/>
          </p:nvPicPr>
          <p:blipFill>
            <a:blip r:embed="rId4"/>
            <a:stretch>
              <a:fillRect/>
            </a:stretch>
          </p:blipFill>
          <p:spPr>
            <a:xfrm>
              <a:off x="7658100" y="0"/>
              <a:ext cx="4533900" cy="6858000"/>
            </a:xfrm>
            <a:prstGeom prst="rect">
              <a:avLst/>
            </a:prstGeom>
          </p:spPr>
        </p:pic>
        <p:grpSp>
          <p:nvGrpSpPr>
            <p:cNvPr id="32" name="组合 31">
              <a:extLst>
                <a:ext uri="{FF2B5EF4-FFF2-40B4-BE49-F238E27FC236}">
                  <a16:creationId xmlns:a16="http://schemas.microsoft.com/office/drawing/2014/main" id="{2E67E278-3BB9-8841-9961-71CDBA865AA0}"/>
                </a:ext>
              </a:extLst>
            </p:cNvPr>
            <p:cNvGrpSpPr/>
            <p:nvPr/>
          </p:nvGrpSpPr>
          <p:grpSpPr>
            <a:xfrm>
              <a:off x="6840499" y="0"/>
              <a:ext cx="1709136" cy="6858000"/>
              <a:chOff x="6840499" y="0"/>
              <a:chExt cx="1709136" cy="6858000"/>
            </a:xfrm>
          </p:grpSpPr>
          <p:sp>
            <p:nvSpPr>
              <p:cNvPr id="28" name="平行四边形 27">
                <a:extLst>
                  <a:ext uri="{FF2B5EF4-FFF2-40B4-BE49-F238E27FC236}">
                    <a16:creationId xmlns:a16="http://schemas.microsoft.com/office/drawing/2014/main" id="{44C7FCF7-082E-EC48-BE80-8991C787EBAC}"/>
                  </a:ext>
                </a:extLst>
              </p:cNvPr>
              <p:cNvSpPr/>
              <p:nvPr/>
            </p:nvSpPr>
            <p:spPr>
              <a:xfrm>
                <a:off x="7045271" y="0"/>
                <a:ext cx="1318220" cy="6858000"/>
              </a:xfrm>
              <a:prstGeom prst="parallelogram">
                <a:avLst>
                  <a:gd name="adj" fmla="val 43266"/>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0" name="平行四边形 29">
                <a:extLst>
                  <a:ext uri="{FF2B5EF4-FFF2-40B4-BE49-F238E27FC236}">
                    <a16:creationId xmlns:a16="http://schemas.microsoft.com/office/drawing/2014/main" id="{D84070CB-54E2-844B-B858-5449B55F06BB}"/>
                  </a:ext>
                </a:extLst>
              </p:cNvPr>
              <p:cNvSpPr/>
              <p:nvPr/>
            </p:nvSpPr>
            <p:spPr>
              <a:xfrm>
                <a:off x="6840499" y="0"/>
                <a:ext cx="1318220" cy="6858000"/>
              </a:xfrm>
              <a:prstGeom prst="parallelogram">
                <a:avLst>
                  <a:gd name="adj" fmla="val 43266"/>
                </a:avLst>
              </a:prstGeom>
              <a:solidFill>
                <a:srgbClr val="C0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1" name="平行四边形 30">
                <a:extLst>
                  <a:ext uri="{FF2B5EF4-FFF2-40B4-BE49-F238E27FC236}">
                    <a16:creationId xmlns:a16="http://schemas.microsoft.com/office/drawing/2014/main" id="{D1347707-DDF0-4645-A9AA-2BD9EB52E7B7}"/>
                  </a:ext>
                </a:extLst>
              </p:cNvPr>
              <p:cNvSpPr/>
              <p:nvPr/>
            </p:nvSpPr>
            <p:spPr>
              <a:xfrm>
                <a:off x="7231415" y="0"/>
                <a:ext cx="1318220" cy="6858000"/>
              </a:xfrm>
              <a:prstGeom prst="parallelogram">
                <a:avLst>
                  <a:gd name="adj" fmla="val 43266"/>
                </a:avLst>
              </a:prstGeom>
              <a:solidFill>
                <a:srgbClr val="C0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grpSp>
        <p:nvGrpSpPr>
          <p:cNvPr id="21" name="组合 20">
            <a:extLst>
              <a:ext uri="{FF2B5EF4-FFF2-40B4-BE49-F238E27FC236}">
                <a16:creationId xmlns:a16="http://schemas.microsoft.com/office/drawing/2014/main" id="{AD5D3A99-1F57-6B43-9C49-E6EE6505DB86}"/>
              </a:ext>
            </a:extLst>
          </p:cNvPr>
          <p:cNvGrpSpPr/>
          <p:nvPr/>
        </p:nvGrpSpPr>
        <p:grpSpPr>
          <a:xfrm>
            <a:off x="1245705" y="2399251"/>
            <a:ext cx="4570482" cy="1969770"/>
            <a:chOff x="1654599" y="2374005"/>
            <a:chExt cx="4570482" cy="1969770"/>
          </a:xfrm>
        </p:grpSpPr>
        <p:sp>
          <p:nvSpPr>
            <p:cNvPr id="22" name="文本框 21">
              <a:extLst>
                <a:ext uri="{FF2B5EF4-FFF2-40B4-BE49-F238E27FC236}">
                  <a16:creationId xmlns:a16="http://schemas.microsoft.com/office/drawing/2014/main" id="{30DFB76A-7DF7-FC47-9D0B-99283B3125B1}"/>
                </a:ext>
              </a:extLst>
            </p:cNvPr>
            <p:cNvSpPr txBox="1"/>
            <p:nvPr/>
          </p:nvSpPr>
          <p:spPr>
            <a:xfrm>
              <a:off x="1654599" y="2374005"/>
              <a:ext cx="2072555" cy="584775"/>
            </a:xfrm>
            <a:prstGeom prst="rect">
              <a:avLst/>
            </a:prstGeom>
            <a:noFill/>
          </p:spPr>
          <p:txBody>
            <a:bodyPr wrap="none" rtlCol="0">
              <a:spAutoFit/>
            </a:bodyPr>
            <a:lstStyle/>
            <a:p>
              <a:pPr algn="l"/>
              <a:r>
                <a:rPr kumimoji="1" lang="en-US" altLang="zh-CN" sz="3200" spc="300" dirty="0">
                  <a:gradFill>
                    <a:gsLst>
                      <a:gs pos="0">
                        <a:schemeClr val="tx1">
                          <a:lumMod val="95000"/>
                          <a:lumOff val="5000"/>
                        </a:schemeClr>
                      </a:gs>
                      <a:gs pos="100000">
                        <a:schemeClr val="tx1">
                          <a:lumMod val="50000"/>
                          <a:lumOff val="50000"/>
                        </a:schemeClr>
                      </a:gs>
                    </a:gsLst>
                    <a:lin ang="5400000" scaled="0"/>
                  </a:gradFill>
                  <a:latin typeface="Arial" panose="020B0604020202020204" pitchFamily="34" charset="0"/>
                  <a:ea typeface="Microsoft YaHei" panose="020B0503020204020204" pitchFamily="34" charset="-122"/>
                  <a:cs typeface="Arial" panose="020B0604020202020204" pitchFamily="34" charset="0"/>
                </a:rPr>
                <a:t>PART 02</a:t>
              </a:r>
              <a:endParaRPr kumimoji="1" lang="zh-CN" altLang="en-US" sz="3200" spc="300" dirty="0">
                <a:gradFill>
                  <a:gsLst>
                    <a:gs pos="0">
                      <a:schemeClr val="tx1">
                        <a:lumMod val="95000"/>
                        <a:lumOff val="5000"/>
                      </a:schemeClr>
                    </a:gs>
                    <a:gs pos="100000">
                      <a:schemeClr val="tx1">
                        <a:lumMod val="50000"/>
                        <a:lumOff val="50000"/>
                      </a:schemeClr>
                    </a:gs>
                  </a:gsLst>
                  <a:lin ang="5400000" scaled="0"/>
                </a:gradFill>
                <a:latin typeface="Arial" panose="020B0604020202020204" pitchFamily="34" charset="0"/>
                <a:ea typeface="Microsoft YaHei" panose="020B0503020204020204" pitchFamily="34" charset="-122"/>
                <a:cs typeface="Arial" panose="020B0604020202020204" pitchFamily="34" charset="0"/>
              </a:endParaRPr>
            </a:p>
          </p:txBody>
        </p:sp>
        <p:sp>
          <p:nvSpPr>
            <p:cNvPr id="23" name="文本框 22">
              <a:extLst>
                <a:ext uri="{FF2B5EF4-FFF2-40B4-BE49-F238E27FC236}">
                  <a16:creationId xmlns:a16="http://schemas.microsoft.com/office/drawing/2014/main" id="{F8CB3320-B46F-2C42-95A8-D920FED24137}"/>
                </a:ext>
              </a:extLst>
            </p:cNvPr>
            <p:cNvSpPr txBox="1"/>
            <p:nvPr/>
          </p:nvSpPr>
          <p:spPr>
            <a:xfrm>
              <a:off x="1654599" y="2958780"/>
              <a:ext cx="4570482" cy="923330"/>
            </a:xfrm>
            <a:prstGeom prst="rect">
              <a:avLst/>
            </a:prstGeom>
            <a:noFill/>
          </p:spPr>
          <p:txBody>
            <a:bodyPr wrap="none" rtlCol="0">
              <a:spAutoFit/>
            </a:bodyPr>
            <a:lstStyle/>
            <a:p>
              <a:pPr algn="l"/>
              <a:r>
                <a:rPr kumimoji="1" lang="zh-CN" altLang="en-US" sz="5400" b="1" spc="300" dirty="0">
                  <a:gradFill>
                    <a:gsLst>
                      <a:gs pos="0">
                        <a:srgbClr val="C00000"/>
                      </a:gs>
                      <a:gs pos="100000">
                        <a:srgbClr val="F87768"/>
                      </a:gs>
                    </a:gsLst>
                    <a:lin ang="5400000" scaled="0"/>
                  </a:gradFill>
                  <a:latin typeface="Arial" panose="020B0604020202020204" pitchFamily="34" charset="0"/>
                  <a:ea typeface="Microsoft YaHei" panose="020B0503020204020204" pitchFamily="34" charset="-122"/>
                  <a:cs typeface="Arial" panose="020B0604020202020204" pitchFamily="34" charset="0"/>
                </a:rPr>
                <a:t>系统总体设计</a:t>
              </a:r>
            </a:p>
          </p:txBody>
        </p:sp>
        <p:sp>
          <p:nvSpPr>
            <p:cNvPr id="24" name="文本框 23">
              <a:extLst>
                <a:ext uri="{FF2B5EF4-FFF2-40B4-BE49-F238E27FC236}">
                  <a16:creationId xmlns:a16="http://schemas.microsoft.com/office/drawing/2014/main" id="{C7A5035B-F791-A64C-9562-C7341A7C9346}"/>
                </a:ext>
              </a:extLst>
            </p:cNvPr>
            <p:cNvSpPr txBox="1"/>
            <p:nvPr/>
          </p:nvSpPr>
          <p:spPr>
            <a:xfrm>
              <a:off x="1693787" y="3882110"/>
              <a:ext cx="3679156" cy="461665"/>
            </a:xfrm>
            <a:prstGeom prst="rect">
              <a:avLst/>
            </a:prstGeom>
            <a:noFill/>
          </p:spPr>
          <p:txBody>
            <a:bodyPr wrap="square" rtlCol="0">
              <a:spAutoFit/>
            </a:bodyPr>
            <a:lstStyle/>
            <a:p>
              <a:r>
                <a:rPr kumimoji="1" lang="en-US" altLang="zh-CN" sz="2400" spc="3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System Design</a:t>
              </a:r>
            </a:p>
          </p:txBody>
        </p:sp>
      </p:grpSp>
    </p:spTree>
    <p:extLst>
      <p:ext uri="{BB962C8B-B14F-4D97-AF65-F5344CB8AC3E}">
        <p14:creationId xmlns:p14="http://schemas.microsoft.com/office/powerpoint/2010/main" val="2489317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674A73A9-4238-E043-853F-B3EC9E37B118}"/>
              </a:ext>
            </a:extLst>
          </p:cNvPr>
          <p:cNvGrpSpPr/>
          <p:nvPr/>
        </p:nvGrpSpPr>
        <p:grpSpPr>
          <a:xfrm>
            <a:off x="0" y="-1"/>
            <a:ext cx="12192000" cy="6858002"/>
            <a:chOff x="0" y="-1"/>
            <a:chExt cx="12192000" cy="6858002"/>
          </a:xfrm>
        </p:grpSpPr>
        <p:sp>
          <p:nvSpPr>
            <p:cNvPr id="19" name="矩形 18">
              <a:extLst>
                <a:ext uri="{FF2B5EF4-FFF2-40B4-BE49-F238E27FC236}">
                  <a16:creationId xmlns:a16="http://schemas.microsoft.com/office/drawing/2014/main" id="{89A8C7CB-5EA1-574F-8ADE-165230F9F3B3}"/>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20" name="矩形 19">
              <a:extLst>
                <a:ext uri="{FF2B5EF4-FFF2-40B4-BE49-F238E27FC236}">
                  <a16:creationId xmlns:a16="http://schemas.microsoft.com/office/drawing/2014/main" id="{9ECE9F6C-29FA-A24E-B054-26CD7FC9FF71}"/>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21" name="矩形 20">
              <a:extLst>
                <a:ext uri="{FF2B5EF4-FFF2-40B4-BE49-F238E27FC236}">
                  <a16:creationId xmlns:a16="http://schemas.microsoft.com/office/drawing/2014/main" id="{1649F275-D85E-2747-839D-32588B978B37}"/>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22" name="组合 21">
            <a:extLst>
              <a:ext uri="{FF2B5EF4-FFF2-40B4-BE49-F238E27FC236}">
                <a16:creationId xmlns:a16="http://schemas.microsoft.com/office/drawing/2014/main" id="{E6AFB905-39A0-F945-96F6-50E4EF4A74B5}"/>
              </a:ext>
            </a:extLst>
          </p:cNvPr>
          <p:cNvGrpSpPr/>
          <p:nvPr/>
        </p:nvGrpSpPr>
        <p:grpSpPr>
          <a:xfrm>
            <a:off x="133400" y="140547"/>
            <a:ext cx="11901234" cy="6795389"/>
            <a:chOff x="133400" y="140547"/>
            <a:chExt cx="11901234" cy="6795389"/>
          </a:xfrm>
        </p:grpSpPr>
        <p:pic>
          <p:nvPicPr>
            <p:cNvPr id="23" name="图片 22">
              <a:extLst>
                <a:ext uri="{FF2B5EF4-FFF2-40B4-BE49-F238E27FC236}">
                  <a16:creationId xmlns:a16="http://schemas.microsoft.com/office/drawing/2014/main" id="{56E3D430-1F56-0F45-8936-2EC2A05A8F7A}"/>
                </a:ext>
              </a:extLst>
            </p:cNvPr>
            <p:cNvPicPr>
              <a:picLocks noChangeAspect="1"/>
            </p:cNvPicPr>
            <p:nvPr/>
          </p:nvPicPr>
          <p:blipFill>
            <a:blip r:embed="rId4"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24" name="图片 23">
              <a:extLst>
                <a:ext uri="{FF2B5EF4-FFF2-40B4-BE49-F238E27FC236}">
                  <a16:creationId xmlns:a16="http://schemas.microsoft.com/office/drawing/2014/main" id="{BA91509D-7A12-5C4B-8F26-D88B51D4CCF0}"/>
                </a:ext>
              </a:extLst>
            </p:cNvPr>
            <p:cNvPicPr>
              <a:picLocks noChangeAspect="1"/>
            </p:cNvPicPr>
            <p:nvPr/>
          </p:nvPicPr>
          <p:blipFill>
            <a:blip r:embed="rId5"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29" name="图片 28" descr="图片包含 游戏机, 画, 钟表&#10;&#10;描述已自动生成">
              <a:extLst>
                <a:ext uri="{FF2B5EF4-FFF2-40B4-BE49-F238E27FC236}">
                  <a16:creationId xmlns:a16="http://schemas.microsoft.com/office/drawing/2014/main" id="{9318D15F-C0E1-F147-839D-4E714048D51A}"/>
                </a:ext>
              </a:extLst>
            </p:cNvPr>
            <p:cNvPicPr>
              <a:picLocks noChangeAspect="1"/>
            </p:cNvPicPr>
            <p:nvPr/>
          </p:nvPicPr>
          <p:blipFill>
            <a:blip r:embed="rId6"/>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02</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572B192-1A8B-0944-BC5E-3183B0CBCBA6}"/>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总体框图</a:t>
            </a:r>
          </a:p>
        </p:txBody>
      </p:sp>
      <p:sp>
        <p:nvSpPr>
          <p:cNvPr id="32" name="矩形 31">
            <a:extLst>
              <a:ext uri="{FF2B5EF4-FFF2-40B4-BE49-F238E27FC236}">
                <a16:creationId xmlns:a16="http://schemas.microsoft.com/office/drawing/2014/main" id="{1CF79A0C-2504-2A4E-9087-25A4F8A67730}"/>
              </a:ext>
            </a:extLst>
          </p:cNvPr>
          <p:cNvSpPr/>
          <p:nvPr/>
        </p:nvSpPr>
        <p:spPr>
          <a:xfrm>
            <a:off x="839416" y="1360556"/>
            <a:ext cx="10512798" cy="2277570"/>
          </a:xfrm>
          <a:prstGeom prst="rect">
            <a:avLst/>
          </a:prstGeom>
          <a:noFill/>
          <a:ln w="28575">
            <a:gradFill>
              <a:gsLst>
                <a:gs pos="10000">
                  <a:srgbClr val="C00000">
                    <a:alpha val="0"/>
                    <a:lumMod val="0"/>
                    <a:lumOff val="100000"/>
                  </a:srgbClr>
                </a:gs>
                <a:gs pos="0">
                  <a:srgbClr val="C00000"/>
                </a:gs>
                <a:gs pos="90000">
                  <a:srgbClr val="C00000">
                    <a:alpha val="0"/>
                    <a:lumMod val="0"/>
                    <a:lumOff val="100000"/>
                  </a:srgbClr>
                </a:gs>
                <a:gs pos="100000">
                  <a:srgbClr val="C00000"/>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77482E46-D1D8-654D-8A03-034C3AAB874C}"/>
              </a:ext>
            </a:extLst>
          </p:cNvPr>
          <p:cNvSpPr txBox="1"/>
          <p:nvPr/>
        </p:nvSpPr>
        <p:spPr>
          <a:xfrm>
            <a:off x="571161" y="3856946"/>
            <a:ext cx="1654620" cy="400110"/>
          </a:xfrm>
          <a:prstGeom prst="rect">
            <a:avLst/>
          </a:prstGeom>
          <a:noFill/>
        </p:spPr>
        <p:txBody>
          <a:bodyPr wrap="none" rtlCol="0">
            <a:spAutoFit/>
          </a:bodyPr>
          <a:lstStyle/>
          <a:p>
            <a:pPr algn="ctr"/>
            <a:r>
              <a:rPr kumimoji="1" lang="en-US" altLang="zh-CN"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1.</a:t>
            </a:r>
            <a:r>
              <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子集挑选</a:t>
            </a:r>
          </a:p>
        </p:txBody>
      </p:sp>
      <p:sp>
        <p:nvSpPr>
          <p:cNvPr id="15" name="矩形 14">
            <a:extLst>
              <a:ext uri="{FF2B5EF4-FFF2-40B4-BE49-F238E27FC236}">
                <a16:creationId xmlns:a16="http://schemas.microsoft.com/office/drawing/2014/main" id="{7C824EE7-1B23-2145-97EA-91ADA564E662}"/>
              </a:ext>
            </a:extLst>
          </p:cNvPr>
          <p:cNvSpPr/>
          <p:nvPr/>
        </p:nvSpPr>
        <p:spPr>
          <a:xfrm>
            <a:off x="859700" y="4301888"/>
            <a:ext cx="4782700" cy="1981248"/>
          </a:xfrm>
          <a:prstGeom prst="rect">
            <a:avLst/>
          </a:prstGeom>
        </p:spPr>
        <p:txBody>
          <a:bodyPr wrap="square">
            <a:spAutoFit/>
          </a:bodyPr>
          <a:lstStyle/>
          <a:p>
            <a:pPr algn="just" hangingPunct="0">
              <a:lnSpc>
                <a:spcPct val="130000"/>
              </a:lnSpc>
            </a:pPr>
            <a:r>
              <a:rPr lang="zh-CN" altLang="en-US" sz="1600" spc="300" dirty="0">
                <a:latin typeface="Arial" panose="020B0604020202020204" pitchFamily="34" charset="0"/>
                <a:ea typeface="Microsoft YaHei" panose="020B0503020204020204" pitchFamily="34" charset="-122"/>
                <a:cs typeface="Arial" panose="020B0604020202020204" pitchFamily="34" charset="0"/>
              </a:rPr>
              <a:t>     原始数据集庞大的数据量可以满足神经网络模型的训练，但在构建有限状态自动机（</a:t>
            </a:r>
            <a:r>
              <a:rPr lang="en-US" altLang="zh-CN" sz="1600" spc="300" dirty="0">
                <a:latin typeface="Arial" panose="020B0604020202020204" pitchFamily="34" charset="0"/>
                <a:ea typeface="Microsoft YaHei" panose="020B0503020204020204" pitchFamily="34" charset="-122"/>
                <a:cs typeface="Arial" panose="020B0604020202020204" pitchFamily="34" charset="0"/>
              </a:rPr>
              <a:t>FSA</a:t>
            </a:r>
            <a:r>
              <a:rPr lang="zh-CN" altLang="en-US" sz="1600" spc="300" dirty="0">
                <a:latin typeface="Arial" panose="020B0604020202020204" pitchFamily="34" charset="0"/>
                <a:ea typeface="Microsoft YaHei" panose="020B0503020204020204" pitchFamily="34" charset="-122"/>
                <a:cs typeface="Arial" panose="020B0604020202020204" pitchFamily="34" charset="0"/>
              </a:rPr>
              <a:t>）的其他方面，并不需要如此多的数据。因此，需要对训练数据进行采样，采样的子集需能够代表全部的训练数据集，覆盖了原始数据集中的所有共现方法对。</a:t>
            </a:r>
            <a:endParaRPr kumimoji="1" lang="zh-CN" altLang="en-US" sz="1600" spc="300" dirty="0">
              <a:latin typeface="Arial" panose="020B0604020202020204" pitchFamily="34" charset="0"/>
              <a:ea typeface="Microsoft YaHei" panose="020B0503020204020204" pitchFamily="34" charset="-122"/>
              <a:cs typeface="Arial" panose="020B0604020202020204" pitchFamily="34" charset="0"/>
            </a:endParaRPr>
          </a:p>
        </p:txBody>
      </p:sp>
      <p:sp>
        <p:nvSpPr>
          <p:cNvPr id="30" name="文本框 29">
            <a:extLst>
              <a:ext uri="{FF2B5EF4-FFF2-40B4-BE49-F238E27FC236}">
                <a16:creationId xmlns:a16="http://schemas.microsoft.com/office/drawing/2014/main" id="{D2198DD1-827B-1C49-9F89-9D42188A5798}"/>
              </a:ext>
            </a:extLst>
          </p:cNvPr>
          <p:cNvSpPr txBox="1"/>
          <p:nvPr/>
        </p:nvSpPr>
        <p:spPr>
          <a:xfrm>
            <a:off x="6273539" y="3856946"/>
            <a:ext cx="1595310" cy="400110"/>
          </a:xfrm>
          <a:prstGeom prst="rect">
            <a:avLst/>
          </a:prstGeom>
          <a:noFill/>
        </p:spPr>
        <p:txBody>
          <a:bodyPr wrap="none" rtlCol="0">
            <a:spAutoFit/>
          </a:bodyPr>
          <a:lstStyle/>
          <a:p>
            <a:pPr algn="ctr"/>
            <a:r>
              <a:rPr kumimoji="1" lang="en-US" altLang="zh-CN"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2.RNNLM</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endParaRPr>
          </a:p>
        </p:txBody>
      </p:sp>
      <p:sp>
        <p:nvSpPr>
          <p:cNvPr id="31" name="矩形 30">
            <a:extLst>
              <a:ext uri="{FF2B5EF4-FFF2-40B4-BE49-F238E27FC236}">
                <a16:creationId xmlns:a16="http://schemas.microsoft.com/office/drawing/2014/main" id="{DD0F140E-B477-1547-9883-D4EB512D3187}"/>
              </a:ext>
            </a:extLst>
          </p:cNvPr>
          <p:cNvSpPr/>
          <p:nvPr/>
        </p:nvSpPr>
        <p:spPr>
          <a:xfrm>
            <a:off x="6549601" y="4314615"/>
            <a:ext cx="4802613" cy="1981248"/>
          </a:xfrm>
          <a:prstGeom prst="rect">
            <a:avLst/>
          </a:prstGeom>
        </p:spPr>
        <p:txBody>
          <a:bodyPr wrap="square">
            <a:spAutoFit/>
          </a:bodyPr>
          <a:lstStyle/>
          <a:p>
            <a:pPr algn="just" hangingPunct="0">
              <a:lnSpc>
                <a:spcPct val="130000"/>
              </a:lnSpc>
            </a:pPr>
            <a:r>
              <a:rPr lang="zh-CN" altLang="en-US" sz="1600" spc="300" dirty="0">
                <a:latin typeface="Arial" panose="020B0604020202020204" pitchFamily="34" charset="0"/>
                <a:ea typeface="Microsoft YaHei" panose="020B0503020204020204" pitchFamily="34" charset="-122"/>
                <a:cs typeface="Arial" panose="020B0604020202020204" pitchFamily="34" charset="0"/>
              </a:rPr>
              <a:t>     基于递归神经网络的语言模型（</a:t>
            </a:r>
            <a:r>
              <a:rPr lang="en-US" altLang="zh-CN" sz="1600" spc="300" dirty="0">
                <a:latin typeface="Arial" panose="020B0604020202020204" pitchFamily="34" charset="0"/>
                <a:ea typeface="Microsoft YaHei" panose="020B0503020204020204" pitchFamily="34" charset="-122"/>
                <a:cs typeface="Arial" panose="020B0604020202020204" pitchFamily="34" charset="0"/>
              </a:rPr>
              <a:t>RNNLM</a:t>
            </a:r>
            <a:r>
              <a:rPr lang="zh-CN" altLang="en-US" sz="1600" spc="300" dirty="0">
                <a:latin typeface="Arial" panose="020B0604020202020204" pitchFamily="34" charset="0"/>
                <a:ea typeface="Microsoft YaHei" panose="020B0503020204020204" pitchFamily="34" charset="-122"/>
                <a:cs typeface="Arial" panose="020B0604020202020204" pitchFamily="34" charset="0"/>
              </a:rPr>
              <a:t>）是本次工作的实现重点，主要是对以前系统中的语言模型进行的改进和优化，将基于普通</a:t>
            </a:r>
            <a:r>
              <a:rPr lang="en-US" altLang="zh-CN" sz="1600" spc="300" dirty="0">
                <a:latin typeface="Arial" panose="020B0604020202020204" pitchFamily="34" charset="0"/>
                <a:ea typeface="Microsoft YaHei" panose="020B0503020204020204" pitchFamily="34" charset="-122"/>
                <a:cs typeface="Arial" panose="020B0604020202020204" pitchFamily="34" charset="0"/>
              </a:rPr>
              <a:t>RNN</a:t>
            </a:r>
            <a:r>
              <a:rPr lang="zh-CN" altLang="en-US" sz="1600" spc="300" dirty="0">
                <a:latin typeface="Arial" panose="020B0604020202020204" pitchFamily="34" charset="0"/>
                <a:ea typeface="Microsoft YaHei" panose="020B0503020204020204" pitchFamily="34" charset="-122"/>
                <a:cs typeface="Arial" panose="020B0604020202020204" pitchFamily="34" charset="0"/>
              </a:rPr>
              <a:t>的架构改写成基于编码器</a:t>
            </a:r>
            <a:r>
              <a:rPr lang="en-US" altLang="zh-CN" sz="1600" spc="300" dirty="0">
                <a:latin typeface="Arial" panose="020B0604020202020204" pitchFamily="34" charset="0"/>
                <a:ea typeface="Microsoft YaHei" panose="020B0503020204020204" pitchFamily="34" charset="-122"/>
                <a:cs typeface="Arial" panose="020B0604020202020204" pitchFamily="34" charset="0"/>
              </a:rPr>
              <a:t>-</a:t>
            </a:r>
            <a:r>
              <a:rPr lang="zh-CN" altLang="en-US" sz="1600" spc="300" dirty="0">
                <a:latin typeface="Arial" panose="020B0604020202020204" pitchFamily="34" charset="0"/>
                <a:ea typeface="Microsoft YaHei" panose="020B0503020204020204" pitchFamily="34" charset="-122"/>
                <a:cs typeface="Arial" panose="020B0604020202020204" pitchFamily="34" charset="0"/>
              </a:rPr>
              <a:t>解码器网络和注意力机制的结构，有效提升了</a:t>
            </a:r>
            <a:r>
              <a:rPr lang="en-US" altLang="zh-CN" sz="1600" spc="300" dirty="0">
                <a:latin typeface="Arial" panose="020B0604020202020204" pitchFamily="34" charset="0"/>
                <a:ea typeface="Microsoft YaHei" panose="020B0503020204020204" pitchFamily="34" charset="-122"/>
                <a:cs typeface="Arial" panose="020B0604020202020204" pitchFamily="34" charset="0"/>
              </a:rPr>
              <a:t>FSA</a:t>
            </a:r>
            <a:r>
              <a:rPr lang="zh-CN" altLang="en-US" sz="1600" spc="300" dirty="0">
                <a:latin typeface="Arial" panose="020B0604020202020204" pitchFamily="34" charset="0"/>
                <a:ea typeface="Microsoft YaHei" panose="020B0503020204020204" pitchFamily="34" charset="-122"/>
                <a:cs typeface="Arial" panose="020B0604020202020204" pitchFamily="34" charset="0"/>
              </a:rPr>
              <a:t>的精度和谐波平均值的分数。</a:t>
            </a:r>
            <a:endParaRPr kumimoji="1" lang="zh-CN" altLang="en-US" sz="1600" spc="300" dirty="0">
              <a:latin typeface="Arial" panose="020B0604020202020204" pitchFamily="34" charset="0"/>
              <a:ea typeface="Microsoft YaHei" panose="020B0503020204020204" pitchFamily="34" charset="-122"/>
              <a:cs typeface="Arial" panose="020B0604020202020204" pitchFamily="34" charset="0"/>
            </a:endParaRPr>
          </a:p>
        </p:txBody>
      </p:sp>
      <p:cxnSp>
        <p:nvCxnSpPr>
          <p:cNvPr id="25" name="直线连接符 24">
            <a:extLst>
              <a:ext uri="{FF2B5EF4-FFF2-40B4-BE49-F238E27FC236}">
                <a16:creationId xmlns:a16="http://schemas.microsoft.com/office/drawing/2014/main" id="{11085F69-44B9-4D4F-AFFE-19DA3E89AC6B}"/>
              </a:ext>
            </a:extLst>
          </p:cNvPr>
          <p:cNvCxnSpPr>
            <a:cxnSpLocks/>
          </p:cNvCxnSpPr>
          <p:nvPr/>
        </p:nvCxnSpPr>
        <p:spPr>
          <a:xfrm flipH="1">
            <a:off x="5962333" y="4851370"/>
            <a:ext cx="243840" cy="281354"/>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33" name="图示 32">
            <a:extLst>
              <a:ext uri="{FF2B5EF4-FFF2-40B4-BE49-F238E27FC236}">
                <a16:creationId xmlns:a16="http://schemas.microsoft.com/office/drawing/2014/main" id="{CA57A10C-175D-49FB-BE02-447AB6245A10}"/>
              </a:ext>
            </a:extLst>
          </p:cNvPr>
          <p:cNvGraphicFramePr/>
          <p:nvPr>
            <p:extLst>
              <p:ext uri="{D42A27DB-BD31-4B8C-83A1-F6EECF244321}">
                <p14:modId xmlns:p14="http://schemas.microsoft.com/office/powerpoint/2010/main" val="2253524459"/>
              </p:ext>
            </p:extLst>
          </p:nvPr>
        </p:nvGraphicFramePr>
        <p:xfrm>
          <a:off x="1885828" y="1382754"/>
          <a:ext cx="7513144" cy="223583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文本框 1">
            <a:extLst>
              <a:ext uri="{FF2B5EF4-FFF2-40B4-BE49-F238E27FC236}">
                <a16:creationId xmlns:a16="http://schemas.microsoft.com/office/drawing/2014/main" id="{61251ECB-4D17-4D27-A337-B8AD16C93334}"/>
              </a:ext>
            </a:extLst>
          </p:cNvPr>
          <p:cNvSpPr txBox="1"/>
          <p:nvPr/>
        </p:nvSpPr>
        <p:spPr>
          <a:xfrm>
            <a:off x="9577053" y="2138647"/>
            <a:ext cx="1279025" cy="670120"/>
          </a:xfrm>
          <a:prstGeom prst="rect">
            <a:avLst/>
          </a:prstGeom>
          <a:noFill/>
        </p:spPr>
        <p:txBody>
          <a:bodyPr wrap="square" rtlCol="0">
            <a:spAutoFit/>
          </a:bodyPr>
          <a:lstStyle/>
          <a:p>
            <a:pPr algn="ctr">
              <a:lnSpc>
                <a:spcPct val="130000"/>
              </a:lnSpc>
            </a:pPr>
            <a:r>
              <a:rPr kumimoji="1" lang="en-US" altLang="zh-CN" sz="3200" b="1" dirty="0">
                <a:latin typeface="微软雅黑" panose="020B0503020204020204" pitchFamily="34" charset="-122"/>
                <a:ea typeface="微软雅黑" panose="020B0503020204020204" pitchFamily="34" charset="-122"/>
              </a:rPr>
              <a:t>FSA</a:t>
            </a:r>
            <a:endParaRPr kumimoji="1"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35186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706F3D8F-FAAA-2140-B796-1157B4BE68D0}"/>
              </a:ext>
            </a:extLst>
          </p:cNvPr>
          <p:cNvGrpSpPr/>
          <p:nvPr/>
        </p:nvGrpSpPr>
        <p:grpSpPr>
          <a:xfrm>
            <a:off x="0" y="-1"/>
            <a:ext cx="12192000" cy="6858002"/>
            <a:chOff x="0" y="-1"/>
            <a:chExt cx="12192000" cy="6858002"/>
          </a:xfrm>
        </p:grpSpPr>
        <p:sp>
          <p:nvSpPr>
            <p:cNvPr id="41" name="矩形 40">
              <a:extLst>
                <a:ext uri="{FF2B5EF4-FFF2-40B4-BE49-F238E27FC236}">
                  <a16:creationId xmlns:a16="http://schemas.microsoft.com/office/drawing/2014/main" id="{91AEFDA7-4F58-8342-A9E1-CBBEDB06E01B}"/>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2" name="矩形 41">
              <a:extLst>
                <a:ext uri="{FF2B5EF4-FFF2-40B4-BE49-F238E27FC236}">
                  <a16:creationId xmlns:a16="http://schemas.microsoft.com/office/drawing/2014/main" id="{7519A2E4-7654-7049-8574-E43694ED98FB}"/>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3" name="矩形 42">
              <a:extLst>
                <a:ext uri="{FF2B5EF4-FFF2-40B4-BE49-F238E27FC236}">
                  <a16:creationId xmlns:a16="http://schemas.microsoft.com/office/drawing/2014/main" id="{3A78FB99-47D7-DA43-90CB-EBB967406AA4}"/>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44" name="组合 43">
            <a:extLst>
              <a:ext uri="{FF2B5EF4-FFF2-40B4-BE49-F238E27FC236}">
                <a16:creationId xmlns:a16="http://schemas.microsoft.com/office/drawing/2014/main" id="{77B7BD4A-0299-7142-A299-2C8531632FCA}"/>
              </a:ext>
            </a:extLst>
          </p:cNvPr>
          <p:cNvGrpSpPr/>
          <p:nvPr/>
        </p:nvGrpSpPr>
        <p:grpSpPr>
          <a:xfrm>
            <a:off x="133400" y="140547"/>
            <a:ext cx="11901234" cy="6795389"/>
            <a:chOff x="133400" y="140547"/>
            <a:chExt cx="11901234" cy="6795389"/>
          </a:xfrm>
        </p:grpSpPr>
        <p:pic>
          <p:nvPicPr>
            <p:cNvPr id="45" name="图片 44">
              <a:extLst>
                <a:ext uri="{FF2B5EF4-FFF2-40B4-BE49-F238E27FC236}">
                  <a16:creationId xmlns:a16="http://schemas.microsoft.com/office/drawing/2014/main" id="{5F8EFFCB-99B0-654F-8FED-0485190172FD}"/>
                </a:ext>
              </a:extLst>
            </p:cNvPr>
            <p:cNvPicPr>
              <a:picLocks noChangeAspect="1"/>
            </p:cNvPicPr>
            <p:nvPr/>
          </p:nvPicPr>
          <p:blipFill>
            <a:blip r:embed="rId4"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46" name="图片 45">
              <a:extLst>
                <a:ext uri="{FF2B5EF4-FFF2-40B4-BE49-F238E27FC236}">
                  <a16:creationId xmlns:a16="http://schemas.microsoft.com/office/drawing/2014/main" id="{93080F77-5917-384C-AFD1-66264B40DFAC}"/>
                </a:ext>
              </a:extLst>
            </p:cNvPr>
            <p:cNvPicPr>
              <a:picLocks noChangeAspect="1"/>
            </p:cNvPicPr>
            <p:nvPr/>
          </p:nvPicPr>
          <p:blipFill>
            <a:blip r:embed="rId5"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47" name="图片 46" descr="图片包含 游戏机, 画, 钟表&#10;&#10;描述已自动生成">
              <a:extLst>
                <a:ext uri="{FF2B5EF4-FFF2-40B4-BE49-F238E27FC236}">
                  <a16:creationId xmlns:a16="http://schemas.microsoft.com/office/drawing/2014/main" id="{FE29D0C4-9C03-A64C-8458-ED23D8D76224}"/>
                </a:ext>
              </a:extLst>
            </p:cNvPr>
            <p:cNvPicPr>
              <a:picLocks noChangeAspect="1"/>
            </p:cNvPicPr>
            <p:nvPr/>
          </p:nvPicPr>
          <p:blipFill>
            <a:blip r:embed="rId6"/>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02</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572B192-1A8B-0944-BC5E-3183B0CBCBA6}"/>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系统设计</a:t>
            </a:r>
          </a:p>
        </p:txBody>
      </p:sp>
      <p:grpSp>
        <p:nvGrpSpPr>
          <p:cNvPr id="8" name="组合 7">
            <a:extLst>
              <a:ext uri="{FF2B5EF4-FFF2-40B4-BE49-F238E27FC236}">
                <a16:creationId xmlns:a16="http://schemas.microsoft.com/office/drawing/2014/main" id="{B2893281-9E63-4745-90A4-1FDBFD5D5EDA}"/>
              </a:ext>
            </a:extLst>
          </p:cNvPr>
          <p:cNvGrpSpPr/>
          <p:nvPr/>
        </p:nvGrpSpPr>
        <p:grpSpPr>
          <a:xfrm>
            <a:off x="1314500" y="1069222"/>
            <a:ext cx="9953540" cy="1764708"/>
            <a:chOff x="1314500" y="1305501"/>
            <a:chExt cx="9953540" cy="1764708"/>
          </a:xfrm>
        </p:grpSpPr>
        <p:sp>
          <p:nvSpPr>
            <p:cNvPr id="14" name="文本框 13">
              <a:extLst>
                <a:ext uri="{FF2B5EF4-FFF2-40B4-BE49-F238E27FC236}">
                  <a16:creationId xmlns:a16="http://schemas.microsoft.com/office/drawing/2014/main" id="{124A3600-F159-B64D-BF63-4388A1F5289C}"/>
                </a:ext>
              </a:extLst>
            </p:cNvPr>
            <p:cNvSpPr txBox="1"/>
            <p:nvPr/>
          </p:nvSpPr>
          <p:spPr>
            <a:xfrm>
              <a:off x="1314500" y="1305501"/>
              <a:ext cx="1364476" cy="400110"/>
            </a:xfrm>
            <a:prstGeom prst="rect">
              <a:avLst/>
            </a:prstGeom>
            <a:noFill/>
          </p:spPr>
          <p:txBody>
            <a:bodyPr wrap="none" rtlCol="0">
              <a:spAutoFit/>
            </a:bodyPr>
            <a:lstStyle/>
            <a:p>
              <a:pPr algn="l"/>
              <a:r>
                <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特征抽取</a:t>
              </a:r>
            </a:p>
          </p:txBody>
        </p:sp>
        <p:sp>
          <p:nvSpPr>
            <p:cNvPr id="15" name="文本框 14">
              <a:extLst>
                <a:ext uri="{FF2B5EF4-FFF2-40B4-BE49-F238E27FC236}">
                  <a16:creationId xmlns:a16="http://schemas.microsoft.com/office/drawing/2014/main" id="{D9466586-F310-9842-BA43-4A3C75333F27}"/>
                </a:ext>
              </a:extLst>
            </p:cNvPr>
            <p:cNvSpPr txBox="1"/>
            <p:nvPr/>
          </p:nvSpPr>
          <p:spPr>
            <a:xfrm>
              <a:off x="1745304" y="1730868"/>
              <a:ext cx="9522736" cy="1339341"/>
            </a:xfrm>
            <a:prstGeom prst="rect">
              <a:avLst/>
            </a:prstGeom>
            <a:noFill/>
          </p:spPr>
          <p:txBody>
            <a:bodyPr wrap="square" rtlCol="0">
              <a:spAutoFit/>
            </a:bodyPr>
            <a:lstStyle/>
            <a:p>
              <a:pPr hangingPunct="0">
                <a:lnSpc>
                  <a:spcPct val="130000"/>
                </a:lnSpc>
              </a:pPr>
              <a:r>
                <a:rPr lang="zh-CN" altLang="en-US" sz="1600" spc="300" dirty="0">
                  <a:latin typeface="Arial" panose="020B0604020202020204" pitchFamily="34" charset="0"/>
                  <a:ea typeface="Microsoft YaHei" panose="020B0503020204020204" pitchFamily="34" charset="-122"/>
                  <a:cs typeface="Arial" panose="020B0604020202020204" pitchFamily="34" charset="0"/>
                </a:rPr>
                <a:t>将提取的方法序列输入训练好的</a:t>
              </a:r>
              <a:r>
                <a:rPr lang="en-US" altLang="zh-CN" sz="1600" spc="300" dirty="0">
                  <a:latin typeface="Arial" panose="020B0604020202020204" pitchFamily="34" charset="0"/>
                  <a:ea typeface="Microsoft YaHei" panose="020B0503020204020204" pitchFamily="34" charset="-122"/>
                  <a:cs typeface="Arial" panose="020B0604020202020204" pitchFamily="34" charset="0"/>
                </a:rPr>
                <a:t>RNNLM</a:t>
              </a:r>
              <a:r>
                <a:rPr lang="zh-CN" altLang="en-US" sz="1600" spc="300" dirty="0">
                  <a:latin typeface="Arial" panose="020B0604020202020204" pitchFamily="34" charset="0"/>
                  <a:ea typeface="Microsoft YaHei" panose="020B0503020204020204" pitchFamily="34" charset="-122"/>
                  <a:cs typeface="Arial" panose="020B0604020202020204" pitchFamily="34" charset="0"/>
                </a:rPr>
                <a:t>中，然后将输出的预测值存储起来，为后续的特征聚类做数据准备。对抽样的子集进行处理，可以构造一棵前缀树接收器（</a:t>
              </a:r>
              <a:r>
                <a:rPr lang="en-US" altLang="zh-CN" sz="1600" spc="300" dirty="0">
                  <a:latin typeface="Arial" panose="020B0604020202020204" pitchFamily="34" charset="0"/>
                  <a:ea typeface="Microsoft YaHei" panose="020B0503020204020204" pitchFamily="34" charset="-122"/>
                  <a:cs typeface="Arial" panose="020B0604020202020204" pitchFamily="34" charset="0"/>
                </a:rPr>
                <a:t>PTA</a:t>
              </a:r>
              <a:r>
                <a:rPr lang="zh-CN" altLang="en-US" sz="1600" spc="300" dirty="0">
                  <a:latin typeface="Arial" panose="020B0604020202020204" pitchFamily="34" charset="0"/>
                  <a:ea typeface="Microsoft YaHei" panose="020B0503020204020204" pitchFamily="34" charset="-122"/>
                  <a:cs typeface="Arial" panose="020B0604020202020204" pitchFamily="34" charset="0"/>
                </a:rPr>
                <a:t>）。前缀树接收器是一个树形的确定有限状态自动机（</a:t>
              </a:r>
              <a:r>
                <a:rPr lang="en-US" altLang="zh-CN" sz="1600" spc="300" dirty="0">
                  <a:latin typeface="Arial" panose="020B0604020202020204" pitchFamily="34" charset="0"/>
                  <a:ea typeface="Microsoft YaHei" panose="020B0503020204020204" pitchFamily="34" charset="-122"/>
                  <a:cs typeface="Arial" panose="020B0604020202020204" pitchFamily="34" charset="0"/>
                </a:rPr>
                <a:t>DFA</a:t>
              </a:r>
              <a:r>
                <a:rPr lang="zh-CN" altLang="en-US" sz="1600" spc="300" dirty="0">
                  <a:latin typeface="Arial" panose="020B0604020202020204" pitchFamily="34" charset="0"/>
                  <a:ea typeface="Microsoft YaHei" panose="020B0503020204020204" pitchFamily="34" charset="-122"/>
                  <a:cs typeface="Arial" panose="020B0604020202020204" pitchFamily="34" charset="0"/>
                </a:rPr>
                <a:t>），接受状态为叶子节点。</a:t>
              </a:r>
            </a:p>
            <a:p>
              <a:pPr hangingPunct="0">
                <a:lnSpc>
                  <a:spcPct val="130000"/>
                </a:lnSpc>
              </a:pPr>
              <a:endParaRPr kumimoji="1" lang="zh-CN" altLang="en-US" sz="1600" spc="300" dirty="0">
                <a:latin typeface="Arial" panose="020B0604020202020204" pitchFamily="34" charset="0"/>
                <a:ea typeface="Microsoft YaHei" panose="020B0503020204020204" pitchFamily="34" charset="-122"/>
                <a:cs typeface="Arial" panose="020B0604020202020204" pitchFamily="34" charset="0"/>
              </a:endParaRPr>
            </a:p>
          </p:txBody>
        </p:sp>
      </p:grpSp>
      <p:cxnSp>
        <p:nvCxnSpPr>
          <p:cNvPr id="16" name="直线连接符 15">
            <a:extLst>
              <a:ext uri="{FF2B5EF4-FFF2-40B4-BE49-F238E27FC236}">
                <a16:creationId xmlns:a16="http://schemas.microsoft.com/office/drawing/2014/main" id="{D8648111-DA66-0C4F-8D4E-74F9F9E79346}"/>
              </a:ext>
            </a:extLst>
          </p:cNvPr>
          <p:cNvCxnSpPr>
            <a:cxnSpLocks/>
          </p:cNvCxnSpPr>
          <p:nvPr/>
        </p:nvCxnSpPr>
        <p:spPr>
          <a:xfrm>
            <a:off x="1745304" y="2658763"/>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6606DF7B-4110-AE4F-95BF-E90F6A885CE4}"/>
              </a:ext>
            </a:extLst>
          </p:cNvPr>
          <p:cNvCxnSpPr>
            <a:cxnSpLocks/>
          </p:cNvCxnSpPr>
          <p:nvPr/>
        </p:nvCxnSpPr>
        <p:spPr>
          <a:xfrm>
            <a:off x="1745304" y="4318200"/>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8256CF7E-79CE-8548-963F-F522E21318B1}"/>
              </a:ext>
            </a:extLst>
          </p:cNvPr>
          <p:cNvGrpSpPr/>
          <p:nvPr/>
        </p:nvGrpSpPr>
        <p:grpSpPr>
          <a:xfrm>
            <a:off x="1314500" y="2817491"/>
            <a:ext cx="9953540" cy="1398502"/>
            <a:chOff x="1314500" y="3029910"/>
            <a:chExt cx="9953540" cy="1398502"/>
          </a:xfrm>
        </p:grpSpPr>
        <p:sp>
          <p:nvSpPr>
            <p:cNvPr id="32" name="文本框 31">
              <a:extLst>
                <a:ext uri="{FF2B5EF4-FFF2-40B4-BE49-F238E27FC236}">
                  <a16:creationId xmlns:a16="http://schemas.microsoft.com/office/drawing/2014/main" id="{F28C79B6-87B9-F64D-82BA-0F8633D102DF}"/>
                </a:ext>
              </a:extLst>
            </p:cNvPr>
            <p:cNvSpPr txBox="1"/>
            <p:nvPr/>
          </p:nvSpPr>
          <p:spPr>
            <a:xfrm>
              <a:off x="1314500" y="3029910"/>
              <a:ext cx="774571" cy="400110"/>
            </a:xfrm>
            <a:prstGeom prst="rect">
              <a:avLst/>
            </a:prstGeom>
            <a:noFill/>
          </p:spPr>
          <p:txBody>
            <a:bodyPr wrap="none" rtlCol="0">
              <a:spAutoFit/>
            </a:bodyPr>
            <a:lstStyle/>
            <a:p>
              <a:pPr algn="l"/>
              <a:r>
                <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聚类</a:t>
              </a:r>
            </a:p>
          </p:txBody>
        </p:sp>
        <p:sp>
          <p:nvSpPr>
            <p:cNvPr id="33" name="文本框 32">
              <a:extLst>
                <a:ext uri="{FF2B5EF4-FFF2-40B4-BE49-F238E27FC236}">
                  <a16:creationId xmlns:a16="http://schemas.microsoft.com/office/drawing/2014/main" id="{24D527AE-F715-484B-AD8A-811DE4F7D1C3}"/>
                </a:ext>
              </a:extLst>
            </p:cNvPr>
            <p:cNvSpPr txBox="1"/>
            <p:nvPr/>
          </p:nvSpPr>
          <p:spPr>
            <a:xfrm>
              <a:off x="1745304" y="3409159"/>
              <a:ext cx="9522736" cy="1019253"/>
            </a:xfrm>
            <a:prstGeom prst="rect">
              <a:avLst/>
            </a:prstGeom>
            <a:noFill/>
          </p:spPr>
          <p:txBody>
            <a:bodyPr wrap="square" rtlCol="0">
              <a:spAutoFit/>
            </a:bodyPr>
            <a:lstStyle/>
            <a:p>
              <a:pPr hangingPunct="0">
                <a:lnSpc>
                  <a:spcPct val="130000"/>
                </a:lnSpc>
              </a:pPr>
              <a:r>
                <a:rPr lang="zh-CN" altLang="en-US" sz="1600" spc="300" dirty="0">
                  <a:latin typeface="Arial" panose="020B0604020202020204" pitchFamily="34" charset="0"/>
                  <a:ea typeface="Microsoft YaHei" panose="020B0503020204020204" pitchFamily="34" charset="-122"/>
                  <a:cs typeface="Arial" panose="020B0604020202020204" pitchFamily="34" charset="0"/>
                </a:rPr>
                <a:t>聚类操作使用了抽取出来的特征，原本的系统实现使用了</a:t>
              </a:r>
              <a:r>
                <a:rPr lang="en-US" altLang="zh-CN" sz="1600" spc="300" dirty="0">
                  <a:latin typeface="Arial" panose="020B0604020202020204" pitchFamily="34" charset="0"/>
                  <a:ea typeface="Microsoft YaHei" panose="020B0503020204020204" pitchFamily="34" charset="-122"/>
                  <a:cs typeface="Arial" panose="020B0604020202020204" pitchFamily="34" charset="0"/>
                </a:rPr>
                <a:t>k-means</a:t>
              </a:r>
              <a:r>
                <a:rPr lang="zh-CN" altLang="en-US" sz="1600" spc="300" dirty="0">
                  <a:latin typeface="Arial" panose="020B0604020202020204" pitchFamily="34" charset="0"/>
                  <a:ea typeface="Microsoft YaHei" panose="020B0503020204020204" pitchFamily="34" charset="-122"/>
                  <a:cs typeface="Arial" panose="020B0604020202020204" pitchFamily="34" charset="0"/>
                </a:rPr>
                <a:t>、层次聚类两种算法来对前缀树接受器（</a:t>
              </a:r>
              <a:r>
                <a:rPr lang="en-US" altLang="zh-CN" sz="1600" spc="300" dirty="0">
                  <a:latin typeface="Arial" panose="020B0604020202020204" pitchFamily="34" charset="0"/>
                  <a:ea typeface="Microsoft YaHei" panose="020B0503020204020204" pitchFamily="34" charset="-122"/>
                  <a:cs typeface="Arial" panose="020B0604020202020204" pitchFamily="34" charset="0"/>
                </a:rPr>
                <a:t>PTA</a:t>
              </a:r>
              <a:r>
                <a:rPr lang="zh-CN" altLang="en-US" sz="1600" spc="300" dirty="0">
                  <a:latin typeface="Arial" panose="020B0604020202020204" pitchFamily="34" charset="0"/>
                  <a:ea typeface="Microsoft YaHei" panose="020B0503020204020204" pitchFamily="34" charset="-122"/>
                  <a:cs typeface="Arial" panose="020B0604020202020204" pitchFamily="34" charset="0"/>
                </a:rPr>
                <a:t>）的状态节点进行合并，本此工作在此基础上新增了不包含聚类参数的</a:t>
              </a:r>
              <a:r>
                <a:rPr lang="en-US" altLang="zh-CN" sz="1600" spc="300" dirty="0">
                  <a:latin typeface="Arial" panose="020B0604020202020204" pitchFamily="34" charset="0"/>
                  <a:ea typeface="Microsoft YaHei" panose="020B0503020204020204" pitchFamily="34" charset="-122"/>
                  <a:cs typeface="Arial" panose="020B0604020202020204" pitchFamily="34" charset="0"/>
                </a:rPr>
                <a:t>DBSCAN</a:t>
              </a:r>
              <a:r>
                <a:rPr lang="zh-CN" altLang="en-US" sz="1600" spc="300" dirty="0">
                  <a:latin typeface="Arial" panose="020B0604020202020204" pitchFamily="34" charset="0"/>
                  <a:ea typeface="Microsoft YaHei" panose="020B0503020204020204" pitchFamily="34" charset="-122"/>
                  <a:cs typeface="Arial" panose="020B0604020202020204" pitchFamily="34" charset="0"/>
                </a:rPr>
                <a:t>聚类算法来测试不同聚类算法对输出模型的影响。</a:t>
              </a:r>
              <a:endParaRPr kumimoji="1" lang="zh-CN" altLang="en-US" sz="1600" spc="300" dirty="0">
                <a:latin typeface="Arial" panose="020B0604020202020204" pitchFamily="34" charset="0"/>
                <a:ea typeface="Microsoft YaHei" panose="020B0503020204020204" pitchFamily="34" charset="-122"/>
                <a:cs typeface="Arial" panose="020B0604020202020204" pitchFamily="34" charset="0"/>
              </a:endParaRPr>
            </a:p>
          </p:txBody>
        </p:sp>
      </p:grpSp>
      <p:grpSp>
        <p:nvGrpSpPr>
          <p:cNvPr id="18" name="组合 17">
            <a:extLst>
              <a:ext uri="{FF2B5EF4-FFF2-40B4-BE49-F238E27FC236}">
                <a16:creationId xmlns:a16="http://schemas.microsoft.com/office/drawing/2014/main" id="{1FE14A62-07FD-8E45-8F19-49C426C9BA69}"/>
              </a:ext>
            </a:extLst>
          </p:cNvPr>
          <p:cNvGrpSpPr/>
          <p:nvPr/>
        </p:nvGrpSpPr>
        <p:grpSpPr>
          <a:xfrm>
            <a:off x="1314500" y="4565760"/>
            <a:ext cx="9866502" cy="1407215"/>
            <a:chOff x="1314500" y="4608892"/>
            <a:chExt cx="9866502" cy="1064518"/>
          </a:xfrm>
        </p:grpSpPr>
        <p:sp>
          <p:nvSpPr>
            <p:cNvPr id="38" name="文本框 37">
              <a:extLst>
                <a:ext uri="{FF2B5EF4-FFF2-40B4-BE49-F238E27FC236}">
                  <a16:creationId xmlns:a16="http://schemas.microsoft.com/office/drawing/2014/main" id="{D27E14A6-C072-8544-A580-F0C814B7AA02}"/>
                </a:ext>
              </a:extLst>
            </p:cNvPr>
            <p:cNvSpPr txBox="1"/>
            <p:nvPr/>
          </p:nvSpPr>
          <p:spPr>
            <a:xfrm>
              <a:off x="1314500" y="4608892"/>
              <a:ext cx="1364476" cy="400110"/>
            </a:xfrm>
            <a:prstGeom prst="rect">
              <a:avLst/>
            </a:prstGeom>
            <a:noFill/>
          </p:spPr>
          <p:txBody>
            <a:bodyPr wrap="none" rtlCol="0">
              <a:spAutoFit/>
            </a:bodyPr>
            <a:lstStyle/>
            <a:p>
              <a:pPr algn="l"/>
              <a:r>
                <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模型选择</a:t>
              </a:r>
            </a:p>
          </p:txBody>
        </p:sp>
        <p:sp>
          <p:nvSpPr>
            <p:cNvPr id="39" name="文本框 38">
              <a:extLst>
                <a:ext uri="{FF2B5EF4-FFF2-40B4-BE49-F238E27FC236}">
                  <a16:creationId xmlns:a16="http://schemas.microsoft.com/office/drawing/2014/main" id="{D97EB1E8-FE08-2741-BFD9-E3A405DAA814}"/>
                </a:ext>
              </a:extLst>
            </p:cNvPr>
            <p:cNvSpPr txBox="1"/>
            <p:nvPr/>
          </p:nvSpPr>
          <p:spPr>
            <a:xfrm>
              <a:off x="1658266" y="4972512"/>
              <a:ext cx="9522736" cy="700898"/>
            </a:xfrm>
            <a:prstGeom prst="rect">
              <a:avLst/>
            </a:prstGeom>
            <a:noFill/>
          </p:spPr>
          <p:txBody>
            <a:bodyPr wrap="square" rtlCol="0">
              <a:spAutoFit/>
            </a:bodyPr>
            <a:lstStyle/>
            <a:p>
              <a:pPr hangingPunct="0">
                <a:lnSpc>
                  <a:spcPct val="130000"/>
                </a:lnSpc>
              </a:pPr>
              <a:r>
                <a:rPr kumimoji="1" lang="zh-CN" altLang="en-US" sz="1600" spc="300" dirty="0">
                  <a:latin typeface="Arial" panose="020B0604020202020204" pitchFamily="34" charset="0"/>
                  <a:ea typeface="Microsoft YaHei" panose="020B0503020204020204" pitchFamily="34" charset="-122"/>
                  <a:cs typeface="Arial" panose="020B0604020202020204" pitchFamily="34" charset="0"/>
                </a:rPr>
                <a:t>最后，使用前人提出的一种算法计算每个自动机的精度和召回率并计算调和平均值</a:t>
              </a:r>
              <a:r>
                <a:rPr kumimoji="1" lang="en-US" altLang="zh-CN" sz="1600" spc="300" dirty="0">
                  <a:latin typeface="Arial" panose="020B0604020202020204" pitchFamily="34" charset="0"/>
                  <a:ea typeface="Microsoft YaHei" panose="020B0503020204020204" pitchFamily="34" charset="-122"/>
                  <a:cs typeface="Arial" panose="020B0604020202020204" pitchFamily="34" charset="0"/>
                </a:rPr>
                <a:t>F-score</a:t>
              </a:r>
              <a:r>
                <a:rPr kumimoji="1" lang="zh-CN" altLang="en-US" sz="1600" spc="300" dirty="0">
                  <a:latin typeface="Arial" panose="020B0604020202020204" pitchFamily="34" charset="0"/>
                  <a:ea typeface="Microsoft YaHei" panose="020B0503020204020204" pitchFamily="34" charset="-122"/>
                  <a:cs typeface="Arial" panose="020B0604020202020204" pitchFamily="34" charset="0"/>
                </a:rPr>
                <a:t>，选择</a:t>
              </a:r>
              <a:r>
                <a:rPr kumimoji="1" lang="en-US" altLang="zh-CN" sz="1600" spc="300" dirty="0">
                  <a:latin typeface="Arial" panose="020B0604020202020204" pitchFamily="34" charset="0"/>
                  <a:ea typeface="Microsoft YaHei" panose="020B0503020204020204" pitchFamily="34" charset="-122"/>
                  <a:cs typeface="Arial" panose="020B0604020202020204" pitchFamily="34" charset="0"/>
                </a:rPr>
                <a:t>F</a:t>
              </a:r>
              <a:r>
                <a:rPr kumimoji="1" lang="zh-CN" altLang="en-US" sz="1600" spc="300" dirty="0">
                  <a:latin typeface="Arial" panose="020B0604020202020204" pitchFamily="34" charset="0"/>
                  <a:ea typeface="Microsoft YaHei" panose="020B0503020204020204" pitchFamily="34" charset="-122"/>
                  <a:cs typeface="Arial" panose="020B0604020202020204" pitchFamily="34" charset="0"/>
                </a:rPr>
                <a:t>分数最高的模型作为算法的输出。</a:t>
              </a:r>
            </a:p>
          </p:txBody>
        </p:sp>
      </p:grpSp>
    </p:spTree>
    <p:extLst>
      <p:ext uri="{BB962C8B-B14F-4D97-AF65-F5344CB8AC3E}">
        <p14:creationId xmlns:p14="http://schemas.microsoft.com/office/powerpoint/2010/main" val="1702924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14D7DAC9-7C1A-9746-9669-031D3ABF7E49}"/>
              </a:ext>
            </a:extLst>
          </p:cNvPr>
          <p:cNvPicPr>
            <a:picLocks noChangeAspect="1"/>
          </p:cNvPicPr>
          <p:nvPr/>
        </p:nvPicPr>
        <p:blipFill rotWithShape="1">
          <a:blip r:embed="rId3">
            <a:alphaModFix amt="3000"/>
          </a:blip>
          <a:srcRect l="31594" r="24278" b="51573"/>
          <a:stretch/>
        </p:blipFill>
        <p:spPr>
          <a:xfrm>
            <a:off x="0" y="830209"/>
            <a:ext cx="6230698" cy="6027791"/>
          </a:xfrm>
          <a:prstGeom prst="rect">
            <a:avLst/>
          </a:prstGeom>
        </p:spPr>
      </p:pic>
      <p:grpSp>
        <p:nvGrpSpPr>
          <p:cNvPr id="2" name="组合 1">
            <a:extLst>
              <a:ext uri="{FF2B5EF4-FFF2-40B4-BE49-F238E27FC236}">
                <a16:creationId xmlns:a16="http://schemas.microsoft.com/office/drawing/2014/main" id="{B6825660-A491-8E4E-9EEE-33F277319B7E}"/>
              </a:ext>
            </a:extLst>
          </p:cNvPr>
          <p:cNvGrpSpPr/>
          <p:nvPr/>
        </p:nvGrpSpPr>
        <p:grpSpPr>
          <a:xfrm>
            <a:off x="663596" y="-641023"/>
            <a:ext cx="11622672" cy="6858000"/>
            <a:chOff x="569328" y="0"/>
            <a:chExt cx="11622672" cy="6858000"/>
          </a:xfrm>
        </p:grpSpPr>
        <p:sp>
          <p:nvSpPr>
            <p:cNvPr id="15" name="圆角矩形 14">
              <a:extLst>
                <a:ext uri="{FF2B5EF4-FFF2-40B4-BE49-F238E27FC236}">
                  <a16:creationId xmlns:a16="http://schemas.microsoft.com/office/drawing/2014/main" id="{7C442F01-4386-7A4E-927D-AA037FFABC10}"/>
                </a:ext>
              </a:extLst>
            </p:cNvPr>
            <p:cNvSpPr/>
            <p:nvPr/>
          </p:nvSpPr>
          <p:spPr>
            <a:xfrm>
              <a:off x="569328" y="399595"/>
              <a:ext cx="270460" cy="10840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pic>
          <p:nvPicPr>
            <p:cNvPr id="16" name="图片 15">
              <a:extLst>
                <a:ext uri="{FF2B5EF4-FFF2-40B4-BE49-F238E27FC236}">
                  <a16:creationId xmlns:a16="http://schemas.microsoft.com/office/drawing/2014/main" id="{BE335D21-03B3-B447-947B-CF04A6F75807}"/>
                </a:ext>
              </a:extLst>
            </p:cNvPr>
            <p:cNvPicPr>
              <a:picLocks noChangeAspect="1"/>
            </p:cNvPicPr>
            <p:nvPr/>
          </p:nvPicPr>
          <p:blipFill>
            <a:blip r:embed="rId4"/>
            <a:stretch>
              <a:fillRect/>
            </a:stretch>
          </p:blipFill>
          <p:spPr>
            <a:xfrm>
              <a:off x="7658100" y="0"/>
              <a:ext cx="4533900" cy="6858000"/>
            </a:xfrm>
            <a:prstGeom prst="rect">
              <a:avLst/>
            </a:prstGeom>
          </p:spPr>
        </p:pic>
        <p:grpSp>
          <p:nvGrpSpPr>
            <p:cNvPr id="32" name="组合 31">
              <a:extLst>
                <a:ext uri="{FF2B5EF4-FFF2-40B4-BE49-F238E27FC236}">
                  <a16:creationId xmlns:a16="http://schemas.microsoft.com/office/drawing/2014/main" id="{2E67E278-3BB9-8841-9961-71CDBA865AA0}"/>
                </a:ext>
              </a:extLst>
            </p:cNvPr>
            <p:cNvGrpSpPr/>
            <p:nvPr/>
          </p:nvGrpSpPr>
          <p:grpSpPr>
            <a:xfrm>
              <a:off x="6840499" y="0"/>
              <a:ext cx="1709136" cy="6858000"/>
              <a:chOff x="6840499" y="0"/>
              <a:chExt cx="1709136" cy="6858000"/>
            </a:xfrm>
          </p:grpSpPr>
          <p:sp>
            <p:nvSpPr>
              <p:cNvPr id="28" name="平行四边形 27">
                <a:extLst>
                  <a:ext uri="{FF2B5EF4-FFF2-40B4-BE49-F238E27FC236}">
                    <a16:creationId xmlns:a16="http://schemas.microsoft.com/office/drawing/2014/main" id="{44C7FCF7-082E-EC48-BE80-8991C787EBAC}"/>
                  </a:ext>
                </a:extLst>
              </p:cNvPr>
              <p:cNvSpPr/>
              <p:nvPr/>
            </p:nvSpPr>
            <p:spPr>
              <a:xfrm>
                <a:off x="7045271" y="0"/>
                <a:ext cx="1318220" cy="6858000"/>
              </a:xfrm>
              <a:prstGeom prst="parallelogram">
                <a:avLst>
                  <a:gd name="adj" fmla="val 43266"/>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0" name="平行四边形 29">
                <a:extLst>
                  <a:ext uri="{FF2B5EF4-FFF2-40B4-BE49-F238E27FC236}">
                    <a16:creationId xmlns:a16="http://schemas.microsoft.com/office/drawing/2014/main" id="{D84070CB-54E2-844B-B858-5449B55F06BB}"/>
                  </a:ext>
                </a:extLst>
              </p:cNvPr>
              <p:cNvSpPr/>
              <p:nvPr/>
            </p:nvSpPr>
            <p:spPr>
              <a:xfrm>
                <a:off x="6840499" y="0"/>
                <a:ext cx="1318220" cy="6858000"/>
              </a:xfrm>
              <a:prstGeom prst="parallelogram">
                <a:avLst>
                  <a:gd name="adj" fmla="val 43266"/>
                </a:avLst>
              </a:prstGeom>
              <a:solidFill>
                <a:srgbClr val="C0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1" name="平行四边形 30">
                <a:extLst>
                  <a:ext uri="{FF2B5EF4-FFF2-40B4-BE49-F238E27FC236}">
                    <a16:creationId xmlns:a16="http://schemas.microsoft.com/office/drawing/2014/main" id="{D1347707-DDF0-4645-A9AA-2BD9EB52E7B7}"/>
                  </a:ext>
                </a:extLst>
              </p:cNvPr>
              <p:cNvSpPr/>
              <p:nvPr/>
            </p:nvSpPr>
            <p:spPr>
              <a:xfrm>
                <a:off x="7231415" y="0"/>
                <a:ext cx="1318220" cy="6858000"/>
              </a:xfrm>
              <a:prstGeom prst="parallelogram">
                <a:avLst>
                  <a:gd name="adj" fmla="val 43266"/>
                </a:avLst>
              </a:prstGeom>
              <a:solidFill>
                <a:srgbClr val="C0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grpSp>
        <p:nvGrpSpPr>
          <p:cNvPr id="21" name="组合 20">
            <a:extLst>
              <a:ext uri="{FF2B5EF4-FFF2-40B4-BE49-F238E27FC236}">
                <a16:creationId xmlns:a16="http://schemas.microsoft.com/office/drawing/2014/main" id="{AD5D3A99-1F57-6B43-9C49-E6EE6505DB86}"/>
              </a:ext>
            </a:extLst>
          </p:cNvPr>
          <p:cNvGrpSpPr/>
          <p:nvPr/>
        </p:nvGrpSpPr>
        <p:grpSpPr>
          <a:xfrm>
            <a:off x="1245705" y="2399251"/>
            <a:ext cx="3718344" cy="1969770"/>
            <a:chOff x="1654599" y="2374005"/>
            <a:chExt cx="3718344" cy="1969770"/>
          </a:xfrm>
        </p:grpSpPr>
        <p:sp>
          <p:nvSpPr>
            <p:cNvPr id="22" name="文本框 21">
              <a:extLst>
                <a:ext uri="{FF2B5EF4-FFF2-40B4-BE49-F238E27FC236}">
                  <a16:creationId xmlns:a16="http://schemas.microsoft.com/office/drawing/2014/main" id="{30DFB76A-7DF7-FC47-9D0B-99283B3125B1}"/>
                </a:ext>
              </a:extLst>
            </p:cNvPr>
            <p:cNvSpPr txBox="1"/>
            <p:nvPr/>
          </p:nvSpPr>
          <p:spPr>
            <a:xfrm>
              <a:off x="1654599" y="2374005"/>
              <a:ext cx="2072555" cy="584775"/>
            </a:xfrm>
            <a:prstGeom prst="rect">
              <a:avLst/>
            </a:prstGeom>
            <a:noFill/>
          </p:spPr>
          <p:txBody>
            <a:bodyPr wrap="none" rtlCol="0">
              <a:spAutoFit/>
            </a:bodyPr>
            <a:lstStyle/>
            <a:p>
              <a:pPr algn="l"/>
              <a:r>
                <a:rPr kumimoji="1" lang="en-US" altLang="zh-CN" sz="3200" spc="300" dirty="0">
                  <a:gradFill>
                    <a:gsLst>
                      <a:gs pos="0">
                        <a:schemeClr val="tx1">
                          <a:lumMod val="95000"/>
                          <a:lumOff val="5000"/>
                        </a:schemeClr>
                      </a:gs>
                      <a:gs pos="100000">
                        <a:schemeClr val="tx1">
                          <a:lumMod val="50000"/>
                          <a:lumOff val="50000"/>
                        </a:schemeClr>
                      </a:gs>
                    </a:gsLst>
                    <a:lin ang="5400000" scaled="0"/>
                  </a:gradFill>
                  <a:latin typeface="Arial" panose="020B0604020202020204" pitchFamily="34" charset="0"/>
                  <a:ea typeface="Microsoft YaHei" panose="020B0503020204020204" pitchFamily="34" charset="-122"/>
                  <a:cs typeface="Arial" panose="020B0604020202020204" pitchFamily="34" charset="0"/>
                </a:rPr>
                <a:t>PART 03</a:t>
              </a:r>
              <a:endParaRPr kumimoji="1" lang="zh-CN" altLang="en-US" sz="3200" spc="300" dirty="0">
                <a:gradFill>
                  <a:gsLst>
                    <a:gs pos="0">
                      <a:schemeClr val="tx1">
                        <a:lumMod val="95000"/>
                        <a:lumOff val="5000"/>
                      </a:schemeClr>
                    </a:gs>
                    <a:gs pos="100000">
                      <a:schemeClr val="tx1">
                        <a:lumMod val="50000"/>
                        <a:lumOff val="50000"/>
                      </a:schemeClr>
                    </a:gs>
                  </a:gsLst>
                  <a:lin ang="5400000" scaled="0"/>
                </a:gradFill>
                <a:latin typeface="Arial" panose="020B0604020202020204" pitchFamily="34" charset="0"/>
                <a:ea typeface="Microsoft YaHei" panose="020B0503020204020204" pitchFamily="34" charset="-122"/>
                <a:cs typeface="Arial" panose="020B0604020202020204" pitchFamily="34" charset="0"/>
              </a:endParaRPr>
            </a:p>
          </p:txBody>
        </p:sp>
        <p:sp>
          <p:nvSpPr>
            <p:cNvPr id="23" name="文本框 22">
              <a:extLst>
                <a:ext uri="{FF2B5EF4-FFF2-40B4-BE49-F238E27FC236}">
                  <a16:creationId xmlns:a16="http://schemas.microsoft.com/office/drawing/2014/main" id="{F8CB3320-B46F-2C42-95A8-D920FED24137}"/>
                </a:ext>
              </a:extLst>
            </p:cNvPr>
            <p:cNvSpPr txBox="1"/>
            <p:nvPr/>
          </p:nvSpPr>
          <p:spPr>
            <a:xfrm>
              <a:off x="1654599" y="2958780"/>
              <a:ext cx="3108543" cy="923330"/>
            </a:xfrm>
            <a:prstGeom prst="rect">
              <a:avLst/>
            </a:prstGeom>
            <a:noFill/>
          </p:spPr>
          <p:txBody>
            <a:bodyPr wrap="none" rtlCol="0">
              <a:spAutoFit/>
            </a:bodyPr>
            <a:lstStyle/>
            <a:p>
              <a:pPr algn="l"/>
              <a:r>
                <a:rPr kumimoji="1" lang="zh-CN" altLang="en-US" sz="5400" b="1" spc="300" dirty="0">
                  <a:gradFill>
                    <a:gsLst>
                      <a:gs pos="0">
                        <a:srgbClr val="C00000"/>
                      </a:gs>
                      <a:gs pos="100000">
                        <a:srgbClr val="F87768"/>
                      </a:gs>
                    </a:gsLst>
                    <a:lin ang="5400000" scaled="0"/>
                  </a:gradFill>
                  <a:latin typeface="Arial" panose="020B0604020202020204" pitchFamily="34" charset="0"/>
                  <a:ea typeface="Microsoft YaHei" panose="020B0503020204020204" pitchFamily="34" charset="-122"/>
                  <a:cs typeface="Arial" panose="020B0604020202020204" pitchFamily="34" charset="0"/>
                </a:rPr>
                <a:t>主要工作</a:t>
              </a:r>
            </a:p>
          </p:txBody>
        </p:sp>
        <p:sp>
          <p:nvSpPr>
            <p:cNvPr id="24" name="文本框 23">
              <a:extLst>
                <a:ext uri="{FF2B5EF4-FFF2-40B4-BE49-F238E27FC236}">
                  <a16:creationId xmlns:a16="http://schemas.microsoft.com/office/drawing/2014/main" id="{C7A5035B-F791-A64C-9562-C7341A7C9346}"/>
                </a:ext>
              </a:extLst>
            </p:cNvPr>
            <p:cNvSpPr txBox="1"/>
            <p:nvPr/>
          </p:nvSpPr>
          <p:spPr>
            <a:xfrm>
              <a:off x="1693787" y="3882110"/>
              <a:ext cx="3679156" cy="461665"/>
            </a:xfrm>
            <a:prstGeom prst="rect">
              <a:avLst/>
            </a:prstGeom>
            <a:noFill/>
          </p:spPr>
          <p:txBody>
            <a:bodyPr wrap="square" rtlCol="0">
              <a:spAutoFit/>
            </a:bodyPr>
            <a:lstStyle/>
            <a:p>
              <a:r>
                <a:rPr kumimoji="1" lang="en-US" altLang="zh-CN" sz="2400" spc="3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Main</a:t>
              </a:r>
              <a:r>
                <a:rPr kumimoji="1" lang="zh-CN" altLang="en-US" sz="2400" spc="3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 </a:t>
              </a:r>
              <a:r>
                <a:rPr kumimoji="1" lang="en-US" altLang="zh-CN" sz="2400" spc="3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work</a:t>
              </a:r>
            </a:p>
          </p:txBody>
        </p:sp>
      </p:grpSp>
    </p:spTree>
    <p:extLst>
      <p:ext uri="{BB962C8B-B14F-4D97-AF65-F5344CB8AC3E}">
        <p14:creationId xmlns:p14="http://schemas.microsoft.com/office/powerpoint/2010/main" val="3711467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5764AC4C-310C-9D4F-9D34-C3E507D471D5}"/>
              </a:ext>
            </a:extLst>
          </p:cNvPr>
          <p:cNvGrpSpPr/>
          <p:nvPr/>
        </p:nvGrpSpPr>
        <p:grpSpPr>
          <a:xfrm>
            <a:off x="0" y="-1"/>
            <a:ext cx="12192000" cy="6858002"/>
            <a:chOff x="0" y="-1"/>
            <a:chExt cx="12192000" cy="6858002"/>
          </a:xfrm>
        </p:grpSpPr>
        <p:sp>
          <p:nvSpPr>
            <p:cNvPr id="33" name="矩形 32">
              <a:extLst>
                <a:ext uri="{FF2B5EF4-FFF2-40B4-BE49-F238E27FC236}">
                  <a16:creationId xmlns:a16="http://schemas.microsoft.com/office/drawing/2014/main" id="{B0230E22-1052-7642-936B-BFF622310839}"/>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a:extLst>
                <a:ext uri="{FF2B5EF4-FFF2-40B4-BE49-F238E27FC236}">
                  <a16:creationId xmlns:a16="http://schemas.microsoft.com/office/drawing/2014/main" id="{9C6EEA5B-AEA5-EA42-A3C5-57B297FE0F43}"/>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a:extLst>
                <a:ext uri="{FF2B5EF4-FFF2-40B4-BE49-F238E27FC236}">
                  <a16:creationId xmlns:a16="http://schemas.microsoft.com/office/drawing/2014/main" id="{9DA6CDC3-5920-8243-86F7-45E7D6E93966}"/>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a:extLst>
              <a:ext uri="{FF2B5EF4-FFF2-40B4-BE49-F238E27FC236}">
                <a16:creationId xmlns:a16="http://schemas.microsoft.com/office/drawing/2014/main" id="{BB3070EB-A178-0043-8951-DFEBB23816C3}"/>
              </a:ext>
            </a:extLst>
          </p:cNvPr>
          <p:cNvGrpSpPr/>
          <p:nvPr/>
        </p:nvGrpSpPr>
        <p:grpSpPr>
          <a:xfrm>
            <a:off x="133400" y="140547"/>
            <a:ext cx="11901234" cy="6795389"/>
            <a:chOff x="133400" y="140547"/>
            <a:chExt cx="11901234" cy="6795389"/>
          </a:xfrm>
        </p:grpSpPr>
        <p:pic>
          <p:nvPicPr>
            <p:cNvPr id="37" name="图片 36">
              <a:extLst>
                <a:ext uri="{FF2B5EF4-FFF2-40B4-BE49-F238E27FC236}">
                  <a16:creationId xmlns:a16="http://schemas.microsoft.com/office/drawing/2014/main" id="{EDEAA4D0-2783-604C-989E-9E54569E9E60}"/>
                </a:ext>
              </a:extLst>
            </p:cNvPr>
            <p:cNvPicPr>
              <a:picLocks noChangeAspect="1"/>
            </p:cNvPicPr>
            <p:nvPr/>
          </p:nvPicPr>
          <p:blipFill>
            <a:blip r:embed="rId4"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38" name="图片 37">
              <a:extLst>
                <a:ext uri="{FF2B5EF4-FFF2-40B4-BE49-F238E27FC236}">
                  <a16:creationId xmlns:a16="http://schemas.microsoft.com/office/drawing/2014/main" id="{6EC0FC72-6BB8-2B4C-BBA0-DABE496C5D70}"/>
                </a:ext>
              </a:extLst>
            </p:cNvPr>
            <p:cNvPicPr>
              <a:picLocks noChangeAspect="1"/>
            </p:cNvPicPr>
            <p:nvPr/>
          </p:nvPicPr>
          <p:blipFill>
            <a:blip r:embed="rId5"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39" name="图片 38" descr="图片包含 游戏机, 画, 钟表&#10;&#10;描述已自动生成">
              <a:extLst>
                <a:ext uri="{FF2B5EF4-FFF2-40B4-BE49-F238E27FC236}">
                  <a16:creationId xmlns:a16="http://schemas.microsoft.com/office/drawing/2014/main" id="{4FE70AEA-61AA-5640-9A27-1DC1E326C860}"/>
                </a:ext>
              </a:extLst>
            </p:cNvPr>
            <p:cNvPicPr>
              <a:picLocks noChangeAspect="1"/>
            </p:cNvPicPr>
            <p:nvPr/>
          </p:nvPicPr>
          <p:blipFill>
            <a:blip r:embed="rId6"/>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572B192-1A8B-0944-BC5E-3183B0CBCBA6}"/>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主要工作</a:t>
            </a:r>
          </a:p>
        </p:txBody>
      </p:sp>
      <p:grpSp>
        <p:nvGrpSpPr>
          <p:cNvPr id="19" name="组合 18">
            <a:extLst>
              <a:ext uri="{FF2B5EF4-FFF2-40B4-BE49-F238E27FC236}">
                <a16:creationId xmlns:a16="http://schemas.microsoft.com/office/drawing/2014/main" id="{DEF29208-D68F-D242-878C-99CAB935073C}"/>
              </a:ext>
            </a:extLst>
          </p:cNvPr>
          <p:cNvGrpSpPr/>
          <p:nvPr/>
        </p:nvGrpSpPr>
        <p:grpSpPr>
          <a:xfrm>
            <a:off x="4382423" y="1845445"/>
            <a:ext cx="3408244" cy="3833035"/>
            <a:chOff x="4211431" y="2875852"/>
            <a:chExt cx="3747532" cy="2839011"/>
          </a:xfrm>
        </p:grpSpPr>
        <p:sp>
          <p:nvSpPr>
            <p:cNvPr id="15" name="矩形 14">
              <a:extLst>
                <a:ext uri="{FF2B5EF4-FFF2-40B4-BE49-F238E27FC236}">
                  <a16:creationId xmlns:a16="http://schemas.microsoft.com/office/drawing/2014/main" id="{97FBEE85-7A33-CE46-8583-E626135BA015}"/>
                </a:ext>
              </a:extLst>
            </p:cNvPr>
            <p:cNvSpPr/>
            <p:nvPr/>
          </p:nvSpPr>
          <p:spPr>
            <a:xfrm>
              <a:off x="4211431" y="2875852"/>
              <a:ext cx="3747532" cy="2839011"/>
            </a:xfrm>
            <a:prstGeom prst="rect">
              <a:avLst/>
            </a:prstGeom>
            <a:solidFill>
              <a:schemeClr val="bg1"/>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21" name="圆角矩形 20">
              <a:extLst>
                <a:ext uri="{FF2B5EF4-FFF2-40B4-BE49-F238E27FC236}">
                  <a16:creationId xmlns:a16="http://schemas.microsoft.com/office/drawing/2014/main" id="{F276F402-317E-6D41-9CF2-A79A9AEABB41}"/>
                </a:ext>
              </a:extLst>
            </p:cNvPr>
            <p:cNvSpPr/>
            <p:nvPr/>
          </p:nvSpPr>
          <p:spPr>
            <a:xfrm>
              <a:off x="5180918" y="2979716"/>
              <a:ext cx="1747350" cy="434021"/>
            </a:xfrm>
            <a:prstGeom prst="roundRect">
              <a:avLst>
                <a:gd name="adj" fmla="val 50000"/>
              </a:avLst>
            </a:prstGeom>
            <a:gradFill>
              <a:gsLst>
                <a:gs pos="0">
                  <a:srgbClr val="C00000"/>
                </a:gs>
                <a:gs pos="100000">
                  <a:srgbClr val="C00000">
                    <a:lumMod val="85000"/>
                    <a:lumOff val="15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22" name="文本框 21">
              <a:extLst>
                <a:ext uri="{FF2B5EF4-FFF2-40B4-BE49-F238E27FC236}">
                  <a16:creationId xmlns:a16="http://schemas.microsoft.com/office/drawing/2014/main" id="{72C6A1A3-F419-E744-A632-E098DAEAFF32}"/>
                </a:ext>
              </a:extLst>
            </p:cNvPr>
            <p:cNvSpPr txBox="1"/>
            <p:nvPr/>
          </p:nvSpPr>
          <p:spPr>
            <a:xfrm>
              <a:off x="5313943" y="3029177"/>
              <a:ext cx="1445970" cy="268288"/>
            </a:xfrm>
            <a:prstGeom prst="rect">
              <a:avLst/>
            </a:prstGeom>
            <a:noFill/>
          </p:spPr>
          <p:txBody>
            <a:bodyPr wrap="square" rtlCol="0">
              <a:spAutoFit/>
            </a:bodyPr>
            <a:lstStyle/>
            <a:p>
              <a:pPr algn="ctr">
                <a:lnSpc>
                  <a:spcPct val="130000"/>
                </a:lnSpc>
              </a:pPr>
              <a:r>
                <a:rPr kumimoji="1" lang="en-US" altLang="zh-CN" sz="1400" spc="300" dirty="0">
                  <a:solidFill>
                    <a:schemeClr val="bg1"/>
                  </a:solidFill>
                  <a:latin typeface="Arial" panose="020B0604020202020204" pitchFamily="34" charset="0"/>
                  <a:ea typeface="Microsoft YaHei" panose="020B0503020204020204" pitchFamily="34" charset="-122"/>
                  <a:cs typeface="Arial" panose="020B0604020202020204" pitchFamily="34" charset="0"/>
                </a:rPr>
                <a:t>Seq2seq</a:t>
              </a:r>
              <a:endParaRPr kumimoji="1" lang="zh-CN" altLang="en-US" sz="1400" spc="300" dirty="0">
                <a:solidFill>
                  <a:schemeClr val="bg1"/>
                </a:solidFill>
                <a:latin typeface="Arial" panose="020B0604020202020204" pitchFamily="34" charset="0"/>
                <a:ea typeface="Microsoft YaHei" panose="020B0503020204020204" pitchFamily="34" charset="-122"/>
                <a:cs typeface="Arial" panose="020B0604020202020204" pitchFamily="34" charset="0"/>
              </a:endParaRPr>
            </a:p>
          </p:txBody>
        </p:sp>
        <p:sp>
          <p:nvSpPr>
            <p:cNvPr id="23" name="矩形 22">
              <a:extLst>
                <a:ext uri="{FF2B5EF4-FFF2-40B4-BE49-F238E27FC236}">
                  <a16:creationId xmlns:a16="http://schemas.microsoft.com/office/drawing/2014/main" id="{659D6BA8-4A6D-4844-B866-AF103C06D152}"/>
                </a:ext>
              </a:extLst>
            </p:cNvPr>
            <p:cNvSpPr/>
            <p:nvPr/>
          </p:nvSpPr>
          <p:spPr>
            <a:xfrm>
              <a:off x="4256780" y="3502118"/>
              <a:ext cx="3595625" cy="2117734"/>
            </a:xfrm>
            <a:prstGeom prst="rect">
              <a:avLst/>
            </a:prstGeom>
          </p:spPr>
          <p:txBody>
            <a:bodyPr wrap="square">
              <a:spAutoFit/>
            </a:bodyPr>
            <a:lstStyle/>
            <a:p>
              <a:pPr algn="just" hangingPunct="0">
                <a:lnSpc>
                  <a:spcPct val="130000"/>
                </a:lnSpc>
              </a:pPr>
              <a:r>
                <a:rPr lang="zh-CN" altLang="en-US"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      </a:t>
              </a:r>
              <a:r>
                <a:rPr lang="en-US" altLang="zh-CN"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seq2seq</a:t>
              </a:r>
              <a:r>
                <a:rPr lang="zh-CN" altLang="en-US"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是一个编码器</a:t>
              </a:r>
              <a:r>
                <a:rPr lang="en-US" altLang="zh-CN"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a:t>
              </a:r>
              <a:r>
                <a:rPr lang="zh-CN" altLang="en-US"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解码器结构的网络，它的输入是一个序列，输出也是一个序列。编码器中将一个可变长度的序列变为固定长度的向量表达，解码器再将这个固定长度的向量变成可变长度的目标序列。在本次模型训练过程中，编码器和解码器所使用的序列是同一个方法序列，因此模型在预测时，输入一个方法，那么输出是一组概率向量，表示的是该方法后下一个调用方法的概率值。</a:t>
              </a:r>
              <a:endParaRPr lang="zh-CN" altLang="en-US" sz="1200" spc="300" dirty="0">
                <a:latin typeface="Arial" panose="020B0604020202020204" pitchFamily="34" charset="0"/>
                <a:ea typeface="Microsoft YaHei" panose="020B0503020204020204" pitchFamily="34" charset="-122"/>
                <a:cs typeface="Arial" panose="020B0604020202020204" pitchFamily="34" charset="0"/>
              </a:endParaRPr>
            </a:p>
          </p:txBody>
        </p:sp>
        <p:sp>
          <p:nvSpPr>
            <p:cNvPr id="24" name="矩形 23">
              <a:extLst>
                <a:ext uri="{FF2B5EF4-FFF2-40B4-BE49-F238E27FC236}">
                  <a16:creationId xmlns:a16="http://schemas.microsoft.com/office/drawing/2014/main" id="{FF841166-A0FF-4A46-9306-6C4B74BCF7B2}"/>
                </a:ext>
              </a:extLst>
            </p:cNvPr>
            <p:cNvSpPr/>
            <p:nvPr/>
          </p:nvSpPr>
          <p:spPr>
            <a:xfrm>
              <a:off x="4211431" y="5657305"/>
              <a:ext cx="3747532" cy="50270"/>
            </a:xfrm>
            <a:prstGeom prst="rect">
              <a:avLst/>
            </a:prstGeom>
            <a:gradFill>
              <a:gsLst>
                <a:gs pos="0">
                  <a:srgbClr val="C00000"/>
                </a:gs>
                <a:gs pos="100000">
                  <a:srgbClr val="C00000">
                    <a:lumMod val="85000"/>
                    <a:lumOff val="15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grpSp>
      <p:grpSp>
        <p:nvGrpSpPr>
          <p:cNvPr id="20" name="组合 19">
            <a:extLst>
              <a:ext uri="{FF2B5EF4-FFF2-40B4-BE49-F238E27FC236}">
                <a16:creationId xmlns:a16="http://schemas.microsoft.com/office/drawing/2014/main" id="{C5BFF242-5F26-3B40-B449-B68E4B737CE1}"/>
              </a:ext>
            </a:extLst>
          </p:cNvPr>
          <p:cNvGrpSpPr/>
          <p:nvPr/>
        </p:nvGrpSpPr>
        <p:grpSpPr>
          <a:xfrm>
            <a:off x="8217260" y="1842079"/>
            <a:ext cx="3131042" cy="3877524"/>
            <a:chOff x="8428865" y="2850526"/>
            <a:chExt cx="3200596" cy="2743201"/>
          </a:xfrm>
        </p:grpSpPr>
        <p:sp>
          <p:nvSpPr>
            <p:cNvPr id="16" name="矩形 15">
              <a:extLst>
                <a:ext uri="{FF2B5EF4-FFF2-40B4-BE49-F238E27FC236}">
                  <a16:creationId xmlns:a16="http://schemas.microsoft.com/office/drawing/2014/main" id="{7CF92383-5E22-464F-A043-0FA1EEF68F4A}"/>
                </a:ext>
              </a:extLst>
            </p:cNvPr>
            <p:cNvSpPr/>
            <p:nvPr/>
          </p:nvSpPr>
          <p:spPr>
            <a:xfrm>
              <a:off x="8429756" y="2850526"/>
              <a:ext cx="3199705" cy="2714108"/>
            </a:xfrm>
            <a:prstGeom prst="rect">
              <a:avLst/>
            </a:prstGeom>
            <a:solidFill>
              <a:schemeClr val="bg1"/>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25" name="圆角矩形 24">
              <a:extLst>
                <a:ext uri="{FF2B5EF4-FFF2-40B4-BE49-F238E27FC236}">
                  <a16:creationId xmlns:a16="http://schemas.microsoft.com/office/drawing/2014/main" id="{CFB2E5A7-9899-F547-8726-F473285CE867}"/>
                </a:ext>
              </a:extLst>
            </p:cNvPr>
            <p:cNvSpPr/>
            <p:nvPr/>
          </p:nvSpPr>
          <p:spPr>
            <a:xfrm>
              <a:off x="9398952" y="2935566"/>
              <a:ext cx="1353397" cy="414564"/>
            </a:xfrm>
            <a:prstGeom prst="roundRect">
              <a:avLst>
                <a:gd name="adj" fmla="val 50000"/>
              </a:avLst>
            </a:prstGeom>
            <a:gradFill>
              <a:gsLst>
                <a:gs pos="0">
                  <a:srgbClr val="C00000"/>
                </a:gs>
                <a:gs pos="100000">
                  <a:srgbClr val="C00000">
                    <a:lumMod val="85000"/>
                    <a:lumOff val="15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29" name="文本框 28">
              <a:extLst>
                <a:ext uri="{FF2B5EF4-FFF2-40B4-BE49-F238E27FC236}">
                  <a16:creationId xmlns:a16="http://schemas.microsoft.com/office/drawing/2014/main" id="{B9AC21DD-B7BA-2A4C-8D5B-9F720DD1F9B2}"/>
                </a:ext>
              </a:extLst>
            </p:cNvPr>
            <p:cNvSpPr txBox="1"/>
            <p:nvPr/>
          </p:nvSpPr>
          <p:spPr>
            <a:xfrm>
              <a:off x="9434506" y="2995484"/>
              <a:ext cx="1331162" cy="357216"/>
            </a:xfrm>
            <a:prstGeom prst="rect">
              <a:avLst/>
            </a:prstGeom>
            <a:noFill/>
          </p:spPr>
          <p:txBody>
            <a:bodyPr wrap="square" rtlCol="0">
              <a:spAutoFit/>
            </a:bodyPr>
            <a:lstStyle/>
            <a:p>
              <a:pPr algn="ctr">
                <a:lnSpc>
                  <a:spcPct val="130000"/>
                </a:lnSpc>
              </a:pPr>
              <a:r>
                <a:rPr kumimoji="1" lang="en-US" altLang="zh-CN" sz="1400" spc="300" dirty="0">
                  <a:solidFill>
                    <a:schemeClr val="bg1"/>
                  </a:solidFill>
                  <a:latin typeface="Arial" panose="020B0604020202020204" pitchFamily="34" charset="0"/>
                  <a:ea typeface="Microsoft YaHei" panose="020B0503020204020204" pitchFamily="34" charset="-122"/>
                  <a:cs typeface="Arial" panose="020B0604020202020204" pitchFamily="34" charset="0"/>
                </a:rPr>
                <a:t>Attention</a:t>
              </a:r>
              <a:endParaRPr kumimoji="1" lang="zh-CN" altLang="en-US" sz="1400" spc="300" dirty="0">
                <a:solidFill>
                  <a:schemeClr val="bg1"/>
                </a:solidFill>
                <a:latin typeface="Arial" panose="020B0604020202020204" pitchFamily="34" charset="0"/>
                <a:ea typeface="Microsoft YaHei" panose="020B0503020204020204" pitchFamily="34" charset="-122"/>
                <a:cs typeface="Arial" panose="020B0604020202020204" pitchFamily="34" charset="0"/>
              </a:endParaRPr>
            </a:p>
          </p:txBody>
        </p:sp>
        <p:sp>
          <p:nvSpPr>
            <p:cNvPr id="30" name="矩形 29">
              <a:extLst>
                <a:ext uri="{FF2B5EF4-FFF2-40B4-BE49-F238E27FC236}">
                  <a16:creationId xmlns:a16="http://schemas.microsoft.com/office/drawing/2014/main" id="{CD98C2F5-69F6-4045-A7DC-1A03660E0141}"/>
                </a:ext>
              </a:extLst>
            </p:cNvPr>
            <p:cNvSpPr/>
            <p:nvPr/>
          </p:nvSpPr>
          <p:spPr>
            <a:xfrm>
              <a:off x="8526233" y="3391696"/>
              <a:ext cx="3004969" cy="2202031"/>
            </a:xfrm>
            <a:prstGeom prst="rect">
              <a:avLst/>
            </a:prstGeom>
          </p:spPr>
          <p:txBody>
            <a:bodyPr wrap="square">
              <a:spAutoFit/>
            </a:bodyPr>
            <a:lstStyle/>
            <a:p>
              <a:pPr algn="just" hangingPunct="0">
                <a:lnSpc>
                  <a:spcPct val="130000"/>
                </a:lnSpc>
              </a:pPr>
              <a:r>
                <a:rPr lang="zh-CN" altLang="en-US"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注意力机制和</a:t>
              </a:r>
              <a:r>
                <a:rPr lang="en-US" altLang="zh-CN"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seq2seq</a:t>
              </a:r>
              <a:r>
                <a:rPr lang="zh-CN" altLang="en-US"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组合使用，对本文后续工作产生了很大的帮助，显著提高了模型的</a:t>
              </a:r>
              <a:r>
                <a:rPr lang="en-US" altLang="zh-CN"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F</a:t>
              </a:r>
              <a:r>
                <a:rPr lang="zh-CN" altLang="en-US"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分数。不同于寻常的</a:t>
              </a:r>
              <a:r>
                <a:rPr lang="en-US" altLang="zh-CN"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seq2seq</a:t>
              </a:r>
              <a:r>
                <a:rPr lang="zh-CN" altLang="en-US"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模型对每个输入向量都保持相同的权重，</a:t>
              </a:r>
              <a:r>
                <a:rPr lang="en-US" altLang="zh-CN"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attention</a:t>
              </a:r>
              <a:r>
                <a:rPr lang="zh-CN" altLang="en-US"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对给定的输入方法序列</a:t>
              </a:r>
              <a:r>
                <a:rPr lang="en-US" altLang="zh-CN"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[x1,x2..,xn]</a:t>
              </a:r>
              <a:r>
                <a:rPr lang="zh-CN" altLang="en-US"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中的每个时间步采用不同的权重值来体现输入</a:t>
              </a:r>
              <a:r>
                <a:rPr lang="en-US" altLang="zh-CN" sz="1200" spc="300" dirty="0" err="1">
                  <a:solidFill>
                    <a:srgbClr val="313131"/>
                  </a:solidFill>
                  <a:latin typeface="Arial" panose="020B0604020202020204" pitchFamily="34" charset="0"/>
                  <a:ea typeface="Microsoft YaHei" panose="020B0503020204020204" pitchFamily="34" charset="-122"/>
                  <a:cs typeface="Arial" panose="020B0604020202020204" pitchFamily="34" charset="0"/>
                </a:rPr>
                <a:t>xt</a:t>
              </a:r>
              <a:r>
                <a:rPr lang="zh-CN" altLang="en-US" sz="1200" spc="300" dirty="0">
                  <a:solidFill>
                    <a:srgbClr val="313131"/>
                  </a:solidFill>
                  <a:latin typeface="Arial" panose="020B0604020202020204" pitchFamily="34" charset="0"/>
                  <a:ea typeface="Microsoft YaHei" panose="020B0503020204020204" pitchFamily="34" charset="-122"/>
                  <a:cs typeface="Arial" panose="020B0604020202020204" pitchFamily="34" charset="0"/>
                </a:rPr>
                <a:t>对此刻输出的影响因子大小，使得输出序列只“关注”对它有用的那些信息，从而对不那么重要的信息进行忽略。</a:t>
              </a:r>
              <a:endParaRPr lang="zh-CN" altLang="en-US" sz="1200" spc="300" dirty="0">
                <a:latin typeface="Arial" panose="020B0604020202020204" pitchFamily="34" charset="0"/>
                <a:ea typeface="Microsoft YaHei" panose="020B0503020204020204" pitchFamily="34" charset="-122"/>
                <a:cs typeface="Arial" panose="020B0604020202020204" pitchFamily="34" charset="0"/>
              </a:endParaRPr>
            </a:p>
          </p:txBody>
        </p:sp>
        <p:sp>
          <p:nvSpPr>
            <p:cNvPr id="31" name="矩形 30">
              <a:extLst>
                <a:ext uri="{FF2B5EF4-FFF2-40B4-BE49-F238E27FC236}">
                  <a16:creationId xmlns:a16="http://schemas.microsoft.com/office/drawing/2014/main" id="{43DD5258-17F1-B740-8B43-6EB04D12AD2E}"/>
                </a:ext>
              </a:extLst>
            </p:cNvPr>
            <p:cNvSpPr/>
            <p:nvPr/>
          </p:nvSpPr>
          <p:spPr>
            <a:xfrm>
              <a:off x="8428865" y="5518915"/>
              <a:ext cx="3199705" cy="45719"/>
            </a:xfrm>
            <a:prstGeom prst="rect">
              <a:avLst/>
            </a:prstGeom>
            <a:gradFill>
              <a:gsLst>
                <a:gs pos="0">
                  <a:srgbClr val="C00000"/>
                </a:gs>
                <a:gs pos="100000">
                  <a:srgbClr val="C00000">
                    <a:lumMod val="85000"/>
                    <a:lumOff val="15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grpSp>
      <p:grpSp>
        <p:nvGrpSpPr>
          <p:cNvPr id="48" name="组合 47">
            <a:extLst>
              <a:ext uri="{FF2B5EF4-FFF2-40B4-BE49-F238E27FC236}">
                <a16:creationId xmlns:a16="http://schemas.microsoft.com/office/drawing/2014/main" id="{5B4032D8-9EF4-7C40-88E4-EDD414591C49}"/>
              </a:ext>
            </a:extLst>
          </p:cNvPr>
          <p:cNvGrpSpPr/>
          <p:nvPr/>
        </p:nvGrpSpPr>
        <p:grpSpPr>
          <a:xfrm>
            <a:off x="858214" y="1813043"/>
            <a:ext cx="3131041" cy="3836400"/>
            <a:chOff x="953909" y="2922522"/>
            <a:chExt cx="3131041" cy="2655125"/>
          </a:xfrm>
        </p:grpSpPr>
        <p:sp>
          <p:nvSpPr>
            <p:cNvPr id="42" name="矩形 41">
              <a:extLst>
                <a:ext uri="{FF2B5EF4-FFF2-40B4-BE49-F238E27FC236}">
                  <a16:creationId xmlns:a16="http://schemas.microsoft.com/office/drawing/2014/main" id="{02EEA8BF-0447-E149-896D-829647E7FFDF}"/>
                </a:ext>
              </a:extLst>
            </p:cNvPr>
            <p:cNvSpPr/>
            <p:nvPr/>
          </p:nvSpPr>
          <p:spPr>
            <a:xfrm>
              <a:off x="954780" y="2922522"/>
              <a:ext cx="3130170" cy="2655125"/>
            </a:xfrm>
            <a:prstGeom prst="rect">
              <a:avLst/>
            </a:prstGeom>
            <a:solidFill>
              <a:schemeClr val="bg1"/>
            </a:solidFill>
            <a:ln>
              <a:noFill/>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44" name="圆角矩形 43">
              <a:extLst>
                <a:ext uri="{FF2B5EF4-FFF2-40B4-BE49-F238E27FC236}">
                  <a16:creationId xmlns:a16="http://schemas.microsoft.com/office/drawing/2014/main" id="{0FF17BAA-2DF3-B246-A308-B9A119F732FE}"/>
                </a:ext>
              </a:extLst>
            </p:cNvPr>
            <p:cNvSpPr/>
            <p:nvPr/>
          </p:nvSpPr>
          <p:spPr>
            <a:xfrm>
              <a:off x="1548824" y="3043289"/>
              <a:ext cx="1744698" cy="405722"/>
            </a:xfrm>
            <a:prstGeom prst="roundRect">
              <a:avLst>
                <a:gd name="adj" fmla="val 50000"/>
              </a:avLst>
            </a:prstGeom>
            <a:gradFill>
              <a:gsLst>
                <a:gs pos="0">
                  <a:srgbClr val="C00000"/>
                </a:gs>
                <a:gs pos="100000">
                  <a:srgbClr val="C00000">
                    <a:lumMod val="85000"/>
                    <a:lumOff val="15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sp>
          <p:nvSpPr>
            <p:cNvPr id="45" name="文本框 44">
              <a:extLst>
                <a:ext uri="{FF2B5EF4-FFF2-40B4-BE49-F238E27FC236}">
                  <a16:creationId xmlns:a16="http://schemas.microsoft.com/office/drawing/2014/main" id="{133DF411-554D-7547-92CF-B7CFCF48DA48}"/>
                </a:ext>
              </a:extLst>
            </p:cNvPr>
            <p:cNvSpPr txBox="1"/>
            <p:nvPr/>
          </p:nvSpPr>
          <p:spPr>
            <a:xfrm>
              <a:off x="1723772" y="3105776"/>
              <a:ext cx="1436611" cy="343235"/>
            </a:xfrm>
            <a:prstGeom prst="rect">
              <a:avLst/>
            </a:prstGeom>
            <a:noFill/>
          </p:spPr>
          <p:txBody>
            <a:bodyPr wrap="square" rtlCol="0">
              <a:spAutoFit/>
            </a:bodyPr>
            <a:lstStyle/>
            <a:p>
              <a:pPr algn="ctr">
                <a:lnSpc>
                  <a:spcPct val="130000"/>
                </a:lnSpc>
              </a:pPr>
              <a:r>
                <a:rPr kumimoji="1" lang="en-US" altLang="zh-CN" sz="1400" spc="300" dirty="0">
                  <a:solidFill>
                    <a:schemeClr val="bg1"/>
                  </a:solidFill>
                  <a:latin typeface="Arial" panose="020B0604020202020204" pitchFamily="34" charset="0"/>
                  <a:ea typeface="Microsoft YaHei" panose="020B0503020204020204" pitchFamily="34" charset="-122"/>
                  <a:cs typeface="Arial" panose="020B0604020202020204" pitchFamily="34" charset="0"/>
                </a:rPr>
                <a:t>Embedding</a:t>
              </a:r>
              <a:endParaRPr kumimoji="1" lang="zh-CN" altLang="en-US" sz="1400" spc="300" dirty="0">
                <a:solidFill>
                  <a:schemeClr val="bg1"/>
                </a:solidFill>
                <a:latin typeface="Arial" panose="020B0604020202020204" pitchFamily="34" charset="0"/>
                <a:ea typeface="Microsoft YaHei" panose="020B0503020204020204" pitchFamily="34" charset="-122"/>
                <a:cs typeface="Arial" panose="020B0604020202020204" pitchFamily="34" charset="0"/>
              </a:endParaRPr>
            </a:p>
          </p:txBody>
        </p:sp>
        <p:sp>
          <p:nvSpPr>
            <p:cNvPr id="46" name="矩形 45">
              <a:extLst>
                <a:ext uri="{FF2B5EF4-FFF2-40B4-BE49-F238E27FC236}">
                  <a16:creationId xmlns:a16="http://schemas.microsoft.com/office/drawing/2014/main" id="{5FDCC093-B8DE-A049-8850-29074DD5B882}"/>
                </a:ext>
              </a:extLst>
            </p:cNvPr>
            <p:cNvSpPr/>
            <p:nvPr/>
          </p:nvSpPr>
          <p:spPr>
            <a:xfrm>
              <a:off x="972244" y="3588672"/>
              <a:ext cx="2939666" cy="1376877"/>
            </a:xfrm>
            <a:prstGeom prst="rect">
              <a:avLst/>
            </a:prstGeom>
          </p:spPr>
          <p:txBody>
            <a:bodyPr wrap="square">
              <a:spAutoFit/>
            </a:bodyPr>
            <a:lstStyle/>
            <a:p>
              <a:pPr algn="just" hangingPunct="0">
                <a:lnSpc>
                  <a:spcPct val="130000"/>
                </a:lnSpc>
              </a:pPr>
              <a:r>
                <a:rPr lang="en-US" altLang="zh-CN" sz="1200" spc="300" dirty="0">
                  <a:solidFill>
                    <a:srgbClr val="313131"/>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1200" spc="300" dirty="0">
                  <a:solidFill>
                    <a:srgbClr val="313131"/>
                  </a:solidFill>
                  <a:latin typeface="微软雅黑" panose="020B0503020204020204" pitchFamily="34" charset="-122"/>
                  <a:ea typeface="微软雅黑" panose="020B0503020204020204" pitchFamily="34" charset="-122"/>
                  <a:cs typeface="Arial" panose="020B0604020202020204" pitchFamily="34" charset="0"/>
                </a:rPr>
                <a:t>由于文本化的信息不能送入神经网络模型，而且由于</a:t>
              </a:r>
              <a:r>
                <a:rPr lang="en-US" altLang="zh-CN" sz="1200" spc="300" dirty="0">
                  <a:solidFill>
                    <a:srgbClr val="313131"/>
                  </a:solidFill>
                  <a:latin typeface="微软雅黑" panose="020B0503020204020204" pitchFamily="34" charset="-122"/>
                  <a:ea typeface="微软雅黑" panose="020B0503020204020204" pitchFamily="34" charset="-122"/>
                  <a:cs typeface="Arial" panose="020B0604020202020204" pitchFamily="34" charset="0"/>
                </a:rPr>
                <a:t>one-hot</a:t>
              </a:r>
              <a:r>
                <a:rPr lang="zh-CN" altLang="en-US" sz="1200" spc="300" dirty="0">
                  <a:solidFill>
                    <a:srgbClr val="313131"/>
                  </a:solidFill>
                  <a:latin typeface="微软雅黑" panose="020B0503020204020204" pitchFamily="34" charset="-122"/>
                  <a:ea typeface="微软雅黑" panose="020B0503020204020204" pitchFamily="34" charset="-122"/>
                  <a:cs typeface="Arial" panose="020B0604020202020204" pitchFamily="34" charset="0"/>
                </a:rPr>
                <a:t>向量不能反映序列中方法调用的前后关系，因此使用了词嵌入对序列中的方法进行了数值化编码，对目标类库中的每一个方法，将他们表示成一个</a:t>
              </a:r>
              <a:r>
                <a:rPr lang="en-US" altLang="zh-CN" sz="1200" spc="300" dirty="0">
                  <a:solidFill>
                    <a:srgbClr val="313131"/>
                  </a:solidFill>
                  <a:latin typeface="微软雅黑" panose="020B0503020204020204" pitchFamily="34" charset="-122"/>
                  <a:ea typeface="微软雅黑" panose="020B0503020204020204" pitchFamily="34" charset="-122"/>
                  <a:cs typeface="Arial" panose="020B0604020202020204" pitchFamily="34" charset="0"/>
                </a:rPr>
                <a:t>32</a:t>
              </a:r>
              <a:r>
                <a:rPr lang="zh-CN" altLang="en-US" sz="1200" spc="300" dirty="0">
                  <a:solidFill>
                    <a:srgbClr val="313131"/>
                  </a:solidFill>
                  <a:latin typeface="微软雅黑" panose="020B0503020204020204" pitchFamily="34" charset="-122"/>
                  <a:ea typeface="微软雅黑" panose="020B0503020204020204" pitchFamily="34" charset="-122"/>
                  <a:cs typeface="Arial" panose="020B0604020202020204" pitchFamily="34" charset="0"/>
                </a:rPr>
                <a:t>维的向量，再送入神经网络进行训练。</a:t>
              </a:r>
              <a:endParaRPr lang="zh-CN" altLang="en-US" sz="1200" spc="3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矩形 46">
              <a:extLst>
                <a:ext uri="{FF2B5EF4-FFF2-40B4-BE49-F238E27FC236}">
                  <a16:creationId xmlns:a16="http://schemas.microsoft.com/office/drawing/2014/main" id="{D1BA740B-6FCB-A84A-9AA2-7AE05ABA85C5}"/>
                </a:ext>
              </a:extLst>
            </p:cNvPr>
            <p:cNvSpPr/>
            <p:nvPr/>
          </p:nvSpPr>
          <p:spPr>
            <a:xfrm>
              <a:off x="953909" y="5532922"/>
              <a:ext cx="3130170" cy="44725"/>
            </a:xfrm>
            <a:prstGeom prst="rect">
              <a:avLst/>
            </a:prstGeom>
            <a:gradFill>
              <a:gsLst>
                <a:gs pos="0">
                  <a:srgbClr val="C00000"/>
                </a:gs>
                <a:gs pos="100000">
                  <a:srgbClr val="C00000">
                    <a:lumMod val="85000"/>
                    <a:lumOff val="15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Microsoft YaHei" panose="020B0503020204020204" pitchFamily="34" charset="-122"/>
                <a:cs typeface="Arial" panose="020B0604020202020204" pitchFamily="34" charset="0"/>
              </a:endParaRPr>
            </a:p>
          </p:txBody>
        </p:sp>
      </p:grpSp>
      <p:sp>
        <p:nvSpPr>
          <p:cNvPr id="2" name="文本框 1">
            <a:extLst>
              <a:ext uri="{FF2B5EF4-FFF2-40B4-BE49-F238E27FC236}">
                <a16:creationId xmlns:a16="http://schemas.microsoft.com/office/drawing/2014/main" id="{3E958FE7-BE0D-465A-8371-CC416E12D6F3}"/>
              </a:ext>
            </a:extLst>
          </p:cNvPr>
          <p:cNvSpPr txBox="1"/>
          <p:nvPr/>
        </p:nvSpPr>
        <p:spPr>
          <a:xfrm>
            <a:off x="702816" y="1138397"/>
            <a:ext cx="10175716" cy="381258"/>
          </a:xfrm>
          <a:prstGeom prst="rect">
            <a:avLst/>
          </a:prstGeom>
          <a:noFill/>
        </p:spPr>
        <p:txBody>
          <a:bodyPr wrap="square" rtlCol="0">
            <a:spAutoFit/>
          </a:bodyPr>
          <a:lstStyle/>
          <a:p>
            <a:pPr algn="ctr">
              <a:lnSpc>
                <a:spcPct val="130000"/>
              </a:lnSpc>
            </a:pPr>
            <a:r>
              <a:rPr kumimoji="1" lang="zh-CN" altLang="en-US" sz="1600" dirty="0">
                <a:latin typeface="微软雅黑" panose="020B0503020204020204" pitchFamily="34" charset="-122"/>
                <a:ea typeface="微软雅黑" panose="020B0503020204020204" pitchFamily="34" charset="-122"/>
              </a:rPr>
              <a:t>在基于前人的系统实现中，本此工作主要着眼于以下三个方面对系统的语言模型搭建部分（</a:t>
            </a:r>
            <a:r>
              <a:rPr kumimoji="1" lang="en-US" altLang="zh-CN" sz="1600" dirty="0">
                <a:latin typeface="微软雅黑" panose="020B0503020204020204" pitchFamily="34" charset="-122"/>
                <a:ea typeface="微软雅黑" panose="020B0503020204020204" pitchFamily="34" charset="-122"/>
              </a:rPr>
              <a:t>RNNLM</a:t>
            </a:r>
            <a:r>
              <a:rPr kumimoji="1" lang="zh-CN" altLang="en-US" sz="1600" dirty="0">
                <a:latin typeface="微软雅黑" panose="020B0503020204020204" pitchFamily="34" charset="-122"/>
                <a:ea typeface="微软雅黑" panose="020B0503020204020204" pitchFamily="34" charset="-122"/>
              </a:rPr>
              <a:t>）进行改进。</a:t>
            </a:r>
          </a:p>
        </p:txBody>
      </p:sp>
    </p:spTree>
    <p:extLst>
      <p:ext uri="{BB962C8B-B14F-4D97-AF65-F5344CB8AC3E}">
        <p14:creationId xmlns:p14="http://schemas.microsoft.com/office/powerpoint/2010/main" val="3695229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706F3D8F-FAAA-2140-B796-1157B4BE68D0}"/>
              </a:ext>
            </a:extLst>
          </p:cNvPr>
          <p:cNvGrpSpPr/>
          <p:nvPr/>
        </p:nvGrpSpPr>
        <p:grpSpPr>
          <a:xfrm>
            <a:off x="0" y="-1"/>
            <a:ext cx="12192000" cy="6858002"/>
            <a:chOff x="0" y="-1"/>
            <a:chExt cx="12192000" cy="6858002"/>
          </a:xfrm>
        </p:grpSpPr>
        <p:sp>
          <p:nvSpPr>
            <p:cNvPr id="41" name="矩形 40">
              <a:extLst>
                <a:ext uri="{FF2B5EF4-FFF2-40B4-BE49-F238E27FC236}">
                  <a16:creationId xmlns:a16="http://schemas.microsoft.com/office/drawing/2014/main" id="{91AEFDA7-4F58-8342-A9E1-CBBEDB06E01B}"/>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2" name="矩形 41">
              <a:extLst>
                <a:ext uri="{FF2B5EF4-FFF2-40B4-BE49-F238E27FC236}">
                  <a16:creationId xmlns:a16="http://schemas.microsoft.com/office/drawing/2014/main" id="{7519A2E4-7654-7049-8574-E43694ED98FB}"/>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3" name="矩形 42">
              <a:extLst>
                <a:ext uri="{FF2B5EF4-FFF2-40B4-BE49-F238E27FC236}">
                  <a16:creationId xmlns:a16="http://schemas.microsoft.com/office/drawing/2014/main" id="{3A78FB99-47D7-DA43-90CB-EBB967406AA4}"/>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44" name="组合 43">
            <a:extLst>
              <a:ext uri="{FF2B5EF4-FFF2-40B4-BE49-F238E27FC236}">
                <a16:creationId xmlns:a16="http://schemas.microsoft.com/office/drawing/2014/main" id="{77B7BD4A-0299-7142-A299-2C8531632FCA}"/>
              </a:ext>
            </a:extLst>
          </p:cNvPr>
          <p:cNvGrpSpPr/>
          <p:nvPr/>
        </p:nvGrpSpPr>
        <p:grpSpPr>
          <a:xfrm>
            <a:off x="133400" y="140547"/>
            <a:ext cx="11901234" cy="6795389"/>
            <a:chOff x="133400" y="140547"/>
            <a:chExt cx="11901234" cy="6795389"/>
          </a:xfrm>
        </p:grpSpPr>
        <p:pic>
          <p:nvPicPr>
            <p:cNvPr id="45" name="图片 44">
              <a:extLst>
                <a:ext uri="{FF2B5EF4-FFF2-40B4-BE49-F238E27FC236}">
                  <a16:creationId xmlns:a16="http://schemas.microsoft.com/office/drawing/2014/main" id="{5F8EFFCB-99B0-654F-8FED-0485190172FD}"/>
                </a:ext>
              </a:extLst>
            </p:cNvPr>
            <p:cNvPicPr>
              <a:picLocks noChangeAspect="1"/>
            </p:cNvPicPr>
            <p:nvPr/>
          </p:nvPicPr>
          <p:blipFill>
            <a:blip r:embed="rId3"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46" name="图片 45">
              <a:extLst>
                <a:ext uri="{FF2B5EF4-FFF2-40B4-BE49-F238E27FC236}">
                  <a16:creationId xmlns:a16="http://schemas.microsoft.com/office/drawing/2014/main" id="{93080F77-5917-384C-AFD1-66264B40DFAC}"/>
                </a:ext>
              </a:extLst>
            </p:cNvPr>
            <p:cNvPicPr>
              <a:picLocks noChangeAspect="1"/>
            </p:cNvPicPr>
            <p:nvPr/>
          </p:nvPicPr>
          <p:blipFill>
            <a:blip r:embed="rId4"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47" name="图片 46" descr="图片包含 游戏机, 画, 钟表&#10;&#10;描述已自动生成">
              <a:extLst>
                <a:ext uri="{FF2B5EF4-FFF2-40B4-BE49-F238E27FC236}">
                  <a16:creationId xmlns:a16="http://schemas.microsoft.com/office/drawing/2014/main" id="{FE29D0C4-9C03-A64C-8458-ED23D8D76224}"/>
                </a:ext>
              </a:extLst>
            </p:cNvPr>
            <p:cNvPicPr>
              <a:picLocks noChangeAspect="1"/>
            </p:cNvPicPr>
            <p:nvPr/>
          </p:nvPicPr>
          <p:blipFill>
            <a:blip r:embed="rId5"/>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572B192-1A8B-0944-BC5E-3183B0CBCBA6}"/>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主要工作</a:t>
            </a:r>
          </a:p>
        </p:txBody>
      </p:sp>
      <p:sp>
        <p:nvSpPr>
          <p:cNvPr id="14" name="文本框 13">
            <a:extLst>
              <a:ext uri="{FF2B5EF4-FFF2-40B4-BE49-F238E27FC236}">
                <a16:creationId xmlns:a16="http://schemas.microsoft.com/office/drawing/2014/main" id="{124A3600-F159-B64D-BF63-4388A1F5289C}"/>
              </a:ext>
            </a:extLst>
          </p:cNvPr>
          <p:cNvSpPr txBox="1"/>
          <p:nvPr/>
        </p:nvSpPr>
        <p:spPr>
          <a:xfrm>
            <a:off x="1314500" y="1305501"/>
            <a:ext cx="1928733" cy="400110"/>
          </a:xfrm>
          <a:prstGeom prst="rect">
            <a:avLst/>
          </a:prstGeom>
          <a:noFill/>
        </p:spPr>
        <p:txBody>
          <a:bodyPr wrap="none" rtlCol="0">
            <a:spAutoFit/>
          </a:bodyPr>
          <a:lstStyle/>
          <a:p>
            <a:pPr algn="l"/>
            <a:r>
              <a:rPr kumimoji="1" lang="en-US" altLang="zh-CN"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Embedding</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endParaRPr>
          </a:p>
        </p:txBody>
      </p:sp>
      <p:cxnSp>
        <p:nvCxnSpPr>
          <p:cNvPr id="16" name="直线连接符 15">
            <a:extLst>
              <a:ext uri="{FF2B5EF4-FFF2-40B4-BE49-F238E27FC236}">
                <a16:creationId xmlns:a16="http://schemas.microsoft.com/office/drawing/2014/main" id="{D8648111-DA66-0C4F-8D4E-74F9F9E79346}"/>
              </a:ext>
            </a:extLst>
          </p:cNvPr>
          <p:cNvCxnSpPr>
            <a:cxnSpLocks/>
          </p:cNvCxnSpPr>
          <p:nvPr/>
        </p:nvCxnSpPr>
        <p:spPr>
          <a:xfrm>
            <a:off x="1314500" y="1791497"/>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B3CA3804-E73E-4B6F-812A-9992FB88E38B}"/>
              </a:ext>
            </a:extLst>
          </p:cNvPr>
          <p:cNvSpPr/>
          <p:nvPr/>
        </p:nvSpPr>
        <p:spPr>
          <a:xfrm>
            <a:off x="1809741" y="2198839"/>
            <a:ext cx="263950" cy="3269144"/>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cxnSp>
        <p:nvCxnSpPr>
          <p:cNvPr id="5" name="直接连接符 4">
            <a:extLst>
              <a:ext uri="{FF2B5EF4-FFF2-40B4-BE49-F238E27FC236}">
                <a16:creationId xmlns:a16="http://schemas.microsoft.com/office/drawing/2014/main" id="{EBCA6BA5-AEC2-435B-8D83-B0A9A697E4AA}"/>
              </a:ext>
            </a:extLst>
          </p:cNvPr>
          <p:cNvCxnSpPr/>
          <p:nvPr/>
        </p:nvCxnSpPr>
        <p:spPr>
          <a:xfrm>
            <a:off x="1809741" y="2491070"/>
            <a:ext cx="2639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29CABCF-2FF8-4F8E-8CC3-EFD5674295D3}"/>
              </a:ext>
            </a:extLst>
          </p:cNvPr>
          <p:cNvCxnSpPr/>
          <p:nvPr/>
        </p:nvCxnSpPr>
        <p:spPr>
          <a:xfrm>
            <a:off x="1809741" y="2794299"/>
            <a:ext cx="2639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7A515536-F445-437C-A6F3-EB82170B4220}"/>
              </a:ext>
            </a:extLst>
          </p:cNvPr>
          <p:cNvCxnSpPr/>
          <p:nvPr/>
        </p:nvCxnSpPr>
        <p:spPr>
          <a:xfrm>
            <a:off x="1809741" y="3048823"/>
            <a:ext cx="2639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4E53D7D1-4EC0-414E-8A42-8334776C046C}"/>
              </a:ext>
            </a:extLst>
          </p:cNvPr>
          <p:cNvCxnSpPr/>
          <p:nvPr/>
        </p:nvCxnSpPr>
        <p:spPr>
          <a:xfrm>
            <a:off x="1809741" y="3298633"/>
            <a:ext cx="2639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57ABCA9-C421-48FF-AC84-037C97CDEDCA}"/>
              </a:ext>
            </a:extLst>
          </p:cNvPr>
          <p:cNvCxnSpPr/>
          <p:nvPr/>
        </p:nvCxnSpPr>
        <p:spPr>
          <a:xfrm>
            <a:off x="1809741" y="4585391"/>
            <a:ext cx="2639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A3D72BD-6B4D-46E1-9CB8-73E1A8A39809}"/>
              </a:ext>
            </a:extLst>
          </p:cNvPr>
          <p:cNvCxnSpPr/>
          <p:nvPr/>
        </p:nvCxnSpPr>
        <p:spPr>
          <a:xfrm>
            <a:off x="1809741" y="4839915"/>
            <a:ext cx="2639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F5CE3748-41BC-442D-A6E3-9075694EDA65}"/>
              </a:ext>
            </a:extLst>
          </p:cNvPr>
          <p:cNvCxnSpPr/>
          <p:nvPr/>
        </p:nvCxnSpPr>
        <p:spPr>
          <a:xfrm>
            <a:off x="1809741" y="5056732"/>
            <a:ext cx="2639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55C6AB1B-C13C-40AD-B4B6-3761782C195D}"/>
              </a:ext>
            </a:extLst>
          </p:cNvPr>
          <p:cNvCxnSpPr/>
          <p:nvPr/>
        </p:nvCxnSpPr>
        <p:spPr>
          <a:xfrm>
            <a:off x="1809741" y="5282975"/>
            <a:ext cx="26395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EF217CB0-43E1-464E-BE54-F2A0CA62B618}"/>
              </a:ext>
            </a:extLst>
          </p:cNvPr>
          <p:cNvSpPr txBox="1"/>
          <p:nvPr/>
        </p:nvSpPr>
        <p:spPr>
          <a:xfrm>
            <a:off x="1821234" y="2170703"/>
            <a:ext cx="263951" cy="315727"/>
          </a:xfrm>
          <a:prstGeom prst="rect">
            <a:avLst/>
          </a:prstGeom>
          <a:noFill/>
        </p:spPr>
        <p:txBody>
          <a:bodyPr wrap="square" rtlCol="0">
            <a:spAutoFit/>
          </a:bodyPr>
          <a:lstStyle/>
          <a:p>
            <a:pPr algn="ctr">
              <a:lnSpc>
                <a:spcPct val="130000"/>
              </a:lnSpc>
            </a:pPr>
            <a:r>
              <a:rPr kumimoji="1" lang="en-US" altLang="zh-CN" sz="1200" dirty="0">
                <a:latin typeface="Source Han Sans SC Normal" panose="020B0400000000000000" pitchFamily="34" charset="-128"/>
                <a:ea typeface="Source Han Sans SC Normal" panose="020B0400000000000000" pitchFamily="34" charset="-128"/>
              </a:rPr>
              <a:t>0</a:t>
            </a: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29" name="文本框 28">
            <a:extLst>
              <a:ext uri="{FF2B5EF4-FFF2-40B4-BE49-F238E27FC236}">
                <a16:creationId xmlns:a16="http://schemas.microsoft.com/office/drawing/2014/main" id="{2E1C0C51-C10E-4133-8E6B-A82AB0EAC43E}"/>
              </a:ext>
            </a:extLst>
          </p:cNvPr>
          <p:cNvSpPr txBox="1"/>
          <p:nvPr/>
        </p:nvSpPr>
        <p:spPr>
          <a:xfrm>
            <a:off x="1811808" y="2471338"/>
            <a:ext cx="263951" cy="315727"/>
          </a:xfrm>
          <a:prstGeom prst="rect">
            <a:avLst/>
          </a:prstGeom>
          <a:noFill/>
        </p:spPr>
        <p:txBody>
          <a:bodyPr wrap="square" rtlCol="0">
            <a:spAutoFit/>
          </a:bodyPr>
          <a:lstStyle/>
          <a:p>
            <a:pPr algn="ctr">
              <a:lnSpc>
                <a:spcPct val="130000"/>
              </a:lnSpc>
            </a:pPr>
            <a:r>
              <a:rPr kumimoji="1" lang="en-US" altLang="zh-CN" sz="1200" dirty="0">
                <a:latin typeface="Source Han Sans SC Normal" panose="020B0400000000000000" pitchFamily="34" charset="-128"/>
                <a:ea typeface="Source Han Sans SC Normal" panose="020B0400000000000000" pitchFamily="34" charset="-128"/>
              </a:rPr>
              <a:t>0</a:t>
            </a: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30" name="文本框 29">
            <a:extLst>
              <a:ext uri="{FF2B5EF4-FFF2-40B4-BE49-F238E27FC236}">
                <a16:creationId xmlns:a16="http://schemas.microsoft.com/office/drawing/2014/main" id="{F3EE1CF5-00FD-4ED9-83F6-5C5BF4362E93}"/>
              </a:ext>
            </a:extLst>
          </p:cNvPr>
          <p:cNvSpPr txBox="1"/>
          <p:nvPr/>
        </p:nvSpPr>
        <p:spPr>
          <a:xfrm>
            <a:off x="1809741" y="2755978"/>
            <a:ext cx="263951" cy="315727"/>
          </a:xfrm>
          <a:prstGeom prst="rect">
            <a:avLst/>
          </a:prstGeom>
          <a:noFill/>
        </p:spPr>
        <p:txBody>
          <a:bodyPr wrap="square" rtlCol="0">
            <a:spAutoFit/>
          </a:bodyPr>
          <a:lstStyle/>
          <a:p>
            <a:pPr algn="ctr">
              <a:lnSpc>
                <a:spcPct val="130000"/>
              </a:lnSpc>
            </a:pPr>
            <a:r>
              <a:rPr kumimoji="1" lang="en-US" altLang="zh-CN" sz="1200" dirty="0">
                <a:latin typeface="Source Han Sans SC Normal" panose="020B0400000000000000" pitchFamily="34" charset="-128"/>
                <a:ea typeface="Source Han Sans SC Normal" panose="020B0400000000000000" pitchFamily="34" charset="-128"/>
              </a:rPr>
              <a:t>0</a:t>
            </a: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31" name="文本框 30">
            <a:extLst>
              <a:ext uri="{FF2B5EF4-FFF2-40B4-BE49-F238E27FC236}">
                <a16:creationId xmlns:a16="http://schemas.microsoft.com/office/drawing/2014/main" id="{A6959330-95FB-4006-A112-D66FE34A90BF}"/>
              </a:ext>
            </a:extLst>
          </p:cNvPr>
          <p:cNvSpPr txBox="1"/>
          <p:nvPr/>
        </p:nvSpPr>
        <p:spPr>
          <a:xfrm>
            <a:off x="1807673" y="3011116"/>
            <a:ext cx="263951" cy="315727"/>
          </a:xfrm>
          <a:prstGeom prst="rect">
            <a:avLst/>
          </a:prstGeom>
          <a:noFill/>
        </p:spPr>
        <p:txBody>
          <a:bodyPr wrap="square" rtlCol="0">
            <a:spAutoFit/>
          </a:bodyPr>
          <a:lstStyle/>
          <a:p>
            <a:pPr algn="ctr">
              <a:lnSpc>
                <a:spcPct val="130000"/>
              </a:lnSpc>
            </a:pPr>
            <a:r>
              <a:rPr kumimoji="1" lang="en-US" altLang="zh-CN" sz="1200" dirty="0">
                <a:latin typeface="Source Han Sans SC Normal" panose="020B0400000000000000" pitchFamily="34" charset="-128"/>
                <a:ea typeface="Source Han Sans SC Normal" panose="020B0400000000000000" pitchFamily="34" charset="-128"/>
              </a:rPr>
              <a:t>1</a:t>
            </a: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32" name="文本框 31">
            <a:extLst>
              <a:ext uri="{FF2B5EF4-FFF2-40B4-BE49-F238E27FC236}">
                <a16:creationId xmlns:a16="http://schemas.microsoft.com/office/drawing/2014/main" id="{A74EEB8E-51F3-4475-8EF1-97FAC644F864}"/>
              </a:ext>
            </a:extLst>
          </p:cNvPr>
          <p:cNvSpPr txBox="1"/>
          <p:nvPr/>
        </p:nvSpPr>
        <p:spPr>
          <a:xfrm>
            <a:off x="1804448" y="4548026"/>
            <a:ext cx="263951" cy="315727"/>
          </a:xfrm>
          <a:prstGeom prst="rect">
            <a:avLst/>
          </a:prstGeom>
          <a:noFill/>
        </p:spPr>
        <p:txBody>
          <a:bodyPr wrap="square" rtlCol="0">
            <a:spAutoFit/>
          </a:bodyPr>
          <a:lstStyle/>
          <a:p>
            <a:pPr algn="ctr">
              <a:lnSpc>
                <a:spcPct val="130000"/>
              </a:lnSpc>
            </a:pPr>
            <a:r>
              <a:rPr kumimoji="1" lang="en-US" altLang="zh-CN" sz="1200" dirty="0">
                <a:latin typeface="Source Han Sans SC Normal" panose="020B0400000000000000" pitchFamily="34" charset="-128"/>
                <a:ea typeface="Source Han Sans SC Normal" panose="020B0400000000000000" pitchFamily="34" charset="-128"/>
              </a:rPr>
              <a:t>0</a:t>
            </a: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33" name="文本框 32">
            <a:extLst>
              <a:ext uri="{FF2B5EF4-FFF2-40B4-BE49-F238E27FC236}">
                <a16:creationId xmlns:a16="http://schemas.microsoft.com/office/drawing/2014/main" id="{65C10B50-9F86-468E-926E-E3A4201F8B6F}"/>
              </a:ext>
            </a:extLst>
          </p:cNvPr>
          <p:cNvSpPr txBox="1"/>
          <p:nvPr/>
        </p:nvSpPr>
        <p:spPr>
          <a:xfrm>
            <a:off x="1804447" y="4773601"/>
            <a:ext cx="263951" cy="315727"/>
          </a:xfrm>
          <a:prstGeom prst="rect">
            <a:avLst/>
          </a:prstGeom>
          <a:noFill/>
        </p:spPr>
        <p:txBody>
          <a:bodyPr wrap="square" rtlCol="0">
            <a:spAutoFit/>
          </a:bodyPr>
          <a:lstStyle/>
          <a:p>
            <a:pPr algn="ctr">
              <a:lnSpc>
                <a:spcPct val="130000"/>
              </a:lnSpc>
            </a:pPr>
            <a:r>
              <a:rPr kumimoji="1" lang="en-US" altLang="zh-CN" sz="1200" dirty="0">
                <a:latin typeface="Source Han Sans SC Normal" panose="020B0400000000000000" pitchFamily="34" charset="-128"/>
                <a:ea typeface="Source Han Sans SC Normal" panose="020B0400000000000000" pitchFamily="34" charset="-128"/>
              </a:rPr>
              <a:t>0</a:t>
            </a: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34" name="文本框 33">
            <a:extLst>
              <a:ext uri="{FF2B5EF4-FFF2-40B4-BE49-F238E27FC236}">
                <a16:creationId xmlns:a16="http://schemas.microsoft.com/office/drawing/2014/main" id="{3CD907F3-DC2E-4745-BA37-F4B8EA60F738}"/>
              </a:ext>
            </a:extLst>
          </p:cNvPr>
          <p:cNvSpPr txBox="1"/>
          <p:nvPr/>
        </p:nvSpPr>
        <p:spPr>
          <a:xfrm>
            <a:off x="1804446" y="4993765"/>
            <a:ext cx="263951" cy="315727"/>
          </a:xfrm>
          <a:prstGeom prst="rect">
            <a:avLst/>
          </a:prstGeom>
          <a:noFill/>
        </p:spPr>
        <p:txBody>
          <a:bodyPr wrap="square" rtlCol="0">
            <a:spAutoFit/>
          </a:bodyPr>
          <a:lstStyle/>
          <a:p>
            <a:pPr algn="ctr">
              <a:lnSpc>
                <a:spcPct val="130000"/>
              </a:lnSpc>
            </a:pPr>
            <a:r>
              <a:rPr kumimoji="1" lang="en-US" altLang="zh-CN" sz="1200" dirty="0">
                <a:latin typeface="Source Han Sans SC Normal" panose="020B0400000000000000" pitchFamily="34" charset="-128"/>
                <a:ea typeface="Source Han Sans SC Normal" panose="020B0400000000000000" pitchFamily="34" charset="-128"/>
              </a:rPr>
              <a:t>0</a:t>
            </a: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35" name="文本框 34">
            <a:extLst>
              <a:ext uri="{FF2B5EF4-FFF2-40B4-BE49-F238E27FC236}">
                <a16:creationId xmlns:a16="http://schemas.microsoft.com/office/drawing/2014/main" id="{851B1796-176C-474E-8238-558B71DF69BD}"/>
              </a:ext>
            </a:extLst>
          </p:cNvPr>
          <p:cNvSpPr txBox="1"/>
          <p:nvPr/>
        </p:nvSpPr>
        <p:spPr>
          <a:xfrm>
            <a:off x="1804445" y="5197726"/>
            <a:ext cx="263951" cy="315727"/>
          </a:xfrm>
          <a:prstGeom prst="rect">
            <a:avLst/>
          </a:prstGeom>
          <a:noFill/>
        </p:spPr>
        <p:txBody>
          <a:bodyPr wrap="square" rtlCol="0">
            <a:spAutoFit/>
          </a:bodyPr>
          <a:lstStyle/>
          <a:p>
            <a:pPr algn="ctr">
              <a:lnSpc>
                <a:spcPct val="130000"/>
              </a:lnSpc>
            </a:pPr>
            <a:r>
              <a:rPr kumimoji="1" lang="en-US" altLang="zh-CN" sz="1200" dirty="0">
                <a:latin typeface="Source Han Sans SC Normal" panose="020B0400000000000000" pitchFamily="34" charset="-128"/>
                <a:ea typeface="Source Han Sans SC Normal" panose="020B0400000000000000" pitchFamily="34" charset="-128"/>
              </a:rPr>
              <a:t>0</a:t>
            </a: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7" name="文本框 6">
            <a:extLst>
              <a:ext uri="{FF2B5EF4-FFF2-40B4-BE49-F238E27FC236}">
                <a16:creationId xmlns:a16="http://schemas.microsoft.com/office/drawing/2014/main" id="{513E0D7F-1559-466D-8115-165AEC8F33F4}"/>
              </a:ext>
            </a:extLst>
          </p:cNvPr>
          <p:cNvSpPr txBox="1"/>
          <p:nvPr/>
        </p:nvSpPr>
        <p:spPr>
          <a:xfrm>
            <a:off x="1770343" y="3394302"/>
            <a:ext cx="424732" cy="1002880"/>
          </a:xfrm>
          <a:prstGeom prst="rect">
            <a:avLst/>
          </a:prstGeom>
          <a:noFill/>
        </p:spPr>
        <p:txBody>
          <a:bodyPr vert="eaVert" wrap="square" rtlCol="0">
            <a:spAutoFit/>
          </a:bodyPr>
          <a:lstStyle/>
          <a:p>
            <a:pPr algn="ctr">
              <a:lnSpc>
                <a:spcPct val="130000"/>
              </a:lnSpc>
            </a:pPr>
            <a:r>
              <a:rPr kumimoji="1" lang="en-US" altLang="zh-CN" sz="1200" dirty="0">
                <a:latin typeface="Source Han Sans SC Normal" panose="020B0400000000000000" pitchFamily="34" charset="-128"/>
                <a:ea typeface="Source Han Sans SC Normal" panose="020B0400000000000000" pitchFamily="34" charset="-128"/>
              </a:rPr>
              <a:t>…</a:t>
            </a: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8" name="文本框 7">
            <a:extLst>
              <a:ext uri="{FF2B5EF4-FFF2-40B4-BE49-F238E27FC236}">
                <a16:creationId xmlns:a16="http://schemas.microsoft.com/office/drawing/2014/main" id="{0F1BF8BB-735D-4378-9F85-938BD4F8ACCC}"/>
              </a:ext>
            </a:extLst>
          </p:cNvPr>
          <p:cNvSpPr txBox="1"/>
          <p:nvPr/>
        </p:nvSpPr>
        <p:spPr>
          <a:xfrm>
            <a:off x="1225108" y="5583033"/>
            <a:ext cx="1456201" cy="308995"/>
          </a:xfrm>
          <a:prstGeom prst="rect">
            <a:avLst/>
          </a:prstGeom>
          <a:noFill/>
        </p:spPr>
        <p:txBody>
          <a:bodyPr wrap="square" rtlCol="0">
            <a:spAutoFit/>
          </a:bodyPr>
          <a:lstStyle/>
          <a:p>
            <a:pPr algn="ctr">
              <a:lnSpc>
                <a:spcPct val="130000"/>
              </a:lnSpc>
            </a:pPr>
            <a:r>
              <a:rPr kumimoji="1" lang="en-US" altLang="zh-CN" sz="1200" dirty="0">
                <a:latin typeface="微软雅黑" panose="020B0503020204020204" pitchFamily="34" charset="-122"/>
                <a:ea typeface="微软雅黑" panose="020B0503020204020204" pitchFamily="34" charset="-122"/>
              </a:rPr>
              <a:t>N </a:t>
            </a:r>
            <a:r>
              <a:rPr kumimoji="1" lang="zh-CN" altLang="en-US" sz="1200" dirty="0">
                <a:latin typeface="微软雅黑" panose="020B0503020204020204" pitchFamily="34" charset="-122"/>
                <a:ea typeface="微软雅黑" panose="020B0503020204020204" pitchFamily="34" charset="-122"/>
              </a:rPr>
              <a:t>维</a:t>
            </a:r>
            <a:r>
              <a:rPr kumimoji="1" lang="en-US" altLang="zh-CN" sz="1200" dirty="0">
                <a:latin typeface="微软雅黑" panose="020B0503020204020204" pitchFamily="34" charset="-122"/>
                <a:ea typeface="微软雅黑" panose="020B0503020204020204" pitchFamily="34" charset="-122"/>
              </a:rPr>
              <a:t>one-hot</a:t>
            </a:r>
            <a:r>
              <a:rPr kumimoji="1" lang="zh-CN" altLang="en-US" sz="1200" dirty="0">
                <a:latin typeface="微软雅黑" panose="020B0503020204020204" pitchFamily="34" charset="-122"/>
                <a:ea typeface="微软雅黑" panose="020B0503020204020204" pitchFamily="34" charset="-122"/>
              </a:rPr>
              <a:t>向量</a:t>
            </a:r>
          </a:p>
        </p:txBody>
      </p:sp>
      <p:cxnSp>
        <p:nvCxnSpPr>
          <p:cNvPr id="10" name="直接箭头连接符 9">
            <a:extLst>
              <a:ext uri="{FF2B5EF4-FFF2-40B4-BE49-F238E27FC236}">
                <a16:creationId xmlns:a16="http://schemas.microsoft.com/office/drawing/2014/main" id="{DB33E609-C97F-4F45-A500-5A7FB8C9F44F}"/>
              </a:ext>
            </a:extLst>
          </p:cNvPr>
          <p:cNvCxnSpPr/>
          <p:nvPr/>
        </p:nvCxnSpPr>
        <p:spPr>
          <a:xfrm>
            <a:off x="1351583" y="3168978"/>
            <a:ext cx="4696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3A1F9317-2091-47E3-8AA2-7B6873D50781}"/>
              </a:ext>
            </a:extLst>
          </p:cNvPr>
          <p:cNvSpPr txBox="1"/>
          <p:nvPr/>
        </p:nvSpPr>
        <p:spPr>
          <a:xfrm>
            <a:off x="119356" y="2891462"/>
            <a:ext cx="1366887" cy="549061"/>
          </a:xfrm>
          <a:prstGeom prst="rect">
            <a:avLst/>
          </a:prstGeom>
          <a:noFill/>
        </p:spPr>
        <p:txBody>
          <a:bodyPr wrap="square" rtlCol="0">
            <a:spAutoFit/>
          </a:bodyPr>
          <a:lstStyle/>
          <a:p>
            <a:pPr algn="ctr">
              <a:lnSpc>
                <a:spcPct val="130000"/>
              </a:lnSpc>
            </a:pPr>
            <a:r>
              <a:rPr kumimoji="1" lang="zh-CN" altLang="en-US" sz="1200" dirty="0">
                <a:latin typeface="微软雅黑" panose="020B0503020204020204" pitchFamily="34" charset="-122"/>
                <a:ea typeface="微软雅黑" panose="020B0503020204020204" pitchFamily="34" charset="-122"/>
              </a:rPr>
              <a:t>第</a:t>
            </a:r>
            <a:r>
              <a:rPr kumimoji="1" lang="en-US" altLang="zh-CN" sz="1200" dirty="0" err="1">
                <a:latin typeface="微软雅黑" panose="020B0503020204020204" pitchFamily="34" charset="-122"/>
                <a:ea typeface="微软雅黑" panose="020B0503020204020204" pitchFamily="34" charset="-122"/>
              </a:rPr>
              <a:t>i</a:t>
            </a:r>
            <a:r>
              <a:rPr kumimoji="1" lang="zh-CN" altLang="en-US" sz="1200" dirty="0">
                <a:latin typeface="微软雅黑" panose="020B0503020204020204" pitchFamily="34" charset="-122"/>
                <a:ea typeface="微软雅黑" panose="020B0503020204020204" pitchFamily="34" charset="-122"/>
              </a:rPr>
              <a:t>个</a:t>
            </a:r>
            <a:r>
              <a:rPr kumimoji="1" lang="en-US" altLang="zh-CN" sz="1200" dirty="0">
                <a:latin typeface="微软雅黑" panose="020B0503020204020204" pitchFamily="34" charset="-122"/>
                <a:ea typeface="微软雅黑" panose="020B0503020204020204" pitchFamily="34" charset="-122"/>
              </a:rPr>
              <a:t>method</a:t>
            </a:r>
            <a:r>
              <a:rPr kumimoji="1" lang="zh-CN" altLang="en-US" sz="1200" dirty="0">
                <a:latin typeface="微软雅黑" panose="020B0503020204020204" pitchFamily="34" charset="-122"/>
                <a:ea typeface="微软雅黑" panose="020B0503020204020204" pitchFamily="34" charset="-122"/>
              </a:rPr>
              <a:t>的数值化表示</a:t>
            </a:r>
          </a:p>
        </p:txBody>
      </p:sp>
      <p:sp>
        <p:nvSpPr>
          <p:cNvPr id="13" name="椭圆 12">
            <a:extLst>
              <a:ext uri="{FF2B5EF4-FFF2-40B4-BE49-F238E27FC236}">
                <a16:creationId xmlns:a16="http://schemas.microsoft.com/office/drawing/2014/main" id="{9EFF45B9-7817-4240-84D6-D631C565D5FE}"/>
              </a:ext>
            </a:extLst>
          </p:cNvPr>
          <p:cNvSpPr/>
          <p:nvPr/>
        </p:nvSpPr>
        <p:spPr>
          <a:xfrm>
            <a:off x="3287043" y="1985161"/>
            <a:ext cx="367645" cy="3676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B4A9BBA6-BCEB-4A23-9DCD-E3D0E0311911}"/>
              </a:ext>
            </a:extLst>
          </p:cNvPr>
          <p:cNvSpPr/>
          <p:nvPr/>
        </p:nvSpPr>
        <p:spPr>
          <a:xfrm>
            <a:off x="3287044" y="2571278"/>
            <a:ext cx="367645" cy="3676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2826215B-04EC-4962-82DB-B78841E4129D}"/>
              </a:ext>
            </a:extLst>
          </p:cNvPr>
          <p:cNvSpPr/>
          <p:nvPr/>
        </p:nvSpPr>
        <p:spPr>
          <a:xfrm>
            <a:off x="3287044" y="3154167"/>
            <a:ext cx="367645" cy="3676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D3127E6F-345F-441C-A4AE-62FD0ABFB990}"/>
              </a:ext>
            </a:extLst>
          </p:cNvPr>
          <p:cNvSpPr txBox="1"/>
          <p:nvPr/>
        </p:nvSpPr>
        <p:spPr>
          <a:xfrm>
            <a:off x="3310145" y="3184686"/>
            <a:ext cx="424732" cy="1370850"/>
          </a:xfrm>
          <a:prstGeom prst="rect">
            <a:avLst/>
          </a:prstGeom>
          <a:noFill/>
        </p:spPr>
        <p:txBody>
          <a:bodyPr vert="eaVert" wrap="square" rtlCol="0">
            <a:spAutoFit/>
          </a:bodyPr>
          <a:lstStyle/>
          <a:p>
            <a:pPr algn="ctr">
              <a:lnSpc>
                <a:spcPct val="130000"/>
              </a:lnSpc>
            </a:pPr>
            <a:r>
              <a:rPr kumimoji="1" lang="en-US" altLang="zh-CN" sz="1200" dirty="0">
                <a:latin typeface="Source Han Sans SC Normal" panose="020B0400000000000000" pitchFamily="34" charset="-128"/>
                <a:ea typeface="Source Han Sans SC Normal" panose="020B0400000000000000" pitchFamily="34" charset="-128"/>
              </a:rPr>
              <a:t>……</a:t>
            </a: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50" name="椭圆 49">
            <a:extLst>
              <a:ext uri="{FF2B5EF4-FFF2-40B4-BE49-F238E27FC236}">
                <a16:creationId xmlns:a16="http://schemas.microsoft.com/office/drawing/2014/main" id="{17D441E2-1A03-4E32-BA2B-5F28B0790ACB}"/>
              </a:ext>
            </a:extLst>
          </p:cNvPr>
          <p:cNvSpPr/>
          <p:nvPr/>
        </p:nvSpPr>
        <p:spPr>
          <a:xfrm>
            <a:off x="3304850" y="4111305"/>
            <a:ext cx="367645" cy="3676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a:extLst>
              <a:ext uri="{FF2B5EF4-FFF2-40B4-BE49-F238E27FC236}">
                <a16:creationId xmlns:a16="http://schemas.microsoft.com/office/drawing/2014/main" id="{363D67A5-8943-4E83-B073-89184DC7F290}"/>
              </a:ext>
            </a:extLst>
          </p:cNvPr>
          <p:cNvSpPr/>
          <p:nvPr/>
        </p:nvSpPr>
        <p:spPr>
          <a:xfrm>
            <a:off x="3304851" y="4697422"/>
            <a:ext cx="367645" cy="3676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a:extLst>
              <a:ext uri="{FF2B5EF4-FFF2-40B4-BE49-F238E27FC236}">
                <a16:creationId xmlns:a16="http://schemas.microsoft.com/office/drawing/2014/main" id="{00EC2CEC-743F-4179-9D0B-C1569BEA0501}"/>
              </a:ext>
            </a:extLst>
          </p:cNvPr>
          <p:cNvSpPr/>
          <p:nvPr/>
        </p:nvSpPr>
        <p:spPr>
          <a:xfrm>
            <a:off x="3304851" y="5280311"/>
            <a:ext cx="367645" cy="3676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5F537008-907B-411B-8E9E-7DFF3472DD6C}"/>
              </a:ext>
            </a:extLst>
          </p:cNvPr>
          <p:cNvSpPr txBox="1"/>
          <p:nvPr/>
        </p:nvSpPr>
        <p:spPr>
          <a:xfrm>
            <a:off x="2882216" y="5732445"/>
            <a:ext cx="1197204" cy="315727"/>
          </a:xfrm>
          <a:prstGeom prst="rect">
            <a:avLst/>
          </a:prstGeom>
          <a:noFill/>
        </p:spPr>
        <p:txBody>
          <a:bodyPr wrap="square" rtlCol="0">
            <a:spAutoFit/>
          </a:bodyPr>
          <a:lstStyle/>
          <a:p>
            <a:pPr algn="ctr">
              <a:lnSpc>
                <a:spcPct val="130000"/>
              </a:lnSpc>
            </a:pPr>
            <a:r>
              <a:rPr kumimoji="1" lang="en-US" altLang="zh-CN" sz="1200" dirty="0">
                <a:latin typeface="Source Han Sans SC Normal" panose="020B0400000000000000" pitchFamily="34" charset="-128"/>
                <a:ea typeface="Source Han Sans SC Normal" panose="020B0400000000000000" pitchFamily="34" charset="-128"/>
              </a:rPr>
              <a:t>32</a:t>
            </a:r>
            <a:r>
              <a:rPr kumimoji="1" lang="zh-CN" altLang="en-US" sz="1200" dirty="0">
                <a:latin typeface="Source Han Sans SC Normal" panose="020B0400000000000000" pitchFamily="34" charset="-128"/>
                <a:ea typeface="Source Han Sans SC Normal" panose="020B0400000000000000" pitchFamily="34" charset="-128"/>
              </a:rPr>
              <a:t>个</a:t>
            </a:r>
            <a:r>
              <a:rPr kumimoji="1" lang="en-US" altLang="zh-CN" sz="1200" dirty="0">
                <a:latin typeface="Source Han Sans SC Normal" panose="020B0400000000000000" pitchFamily="34" charset="-128"/>
                <a:ea typeface="Source Han Sans SC Normal" panose="020B0400000000000000" pitchFamily="34" charset="-128"/>
              </a:rPr>
              <a:t>neurons</a:t>
            </a: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54" name="椭圆 53">
            <a:extLst>
              <a:ext uri="{FF2B5EF4-FFF2-40B4-BE49-F238E27FC236}">
                <a16:creationId xmlns:a16="http://schemas.microsoft.com/office/drawing/2014/main" id="{F6201952-1490-401B-9E2B-C16C1A2A4D18}"/>
              </a:ext>
            </a:extLst>
          </p:cNvPr>
          <p:cNvSpPr/>
          <p:nvPr/>
        </p:nvSpPr>
        <p:spPr>
          <a:xfrm>
            <a:off x="4702025" y="2574816"/>
            <a:ext cx="367645" cy="3676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a:extLst>
              <a:ext uri="{FF2B5EF4-FFF2-40B4-BE49-F238E27FC236}">
                <a16:creationId xmlns:a16="http://schemas.microsoft.com/office/drawing/2014/main" id="{7EA1D925-89BD-4267-B739-E7B66CB4E024}"/>
              </a:ext>
            </a:extLst>
          </p:cNvPr>
          <p:cNvSpPr/>
          <p:nvPr/>
        </p:nvSpPr>
        <p:spPr>
          <a:xfrm>
            <a:off x="4702025" y="3157705"/>
            <a:ext cx="367645" cy="3676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64DF5F5B-DBEB-4D5A-957D-3BE56D801EFC}"/>
              </a:ext>
            </a:extLst>
          </p:cNvPr>
          <p:cNvSpPr txBox="1"/>
          <p:nvPr/>
        </p:nvSpPr>
        <p:spPr>
          <a:xfrm>
            <a:off x="4725126" y="3188224"/>
            <a:ext cx="424732" cy="1370850"/>
          </a:xfrm>
          <a:prstGeom prst="rect">
            <a:avLst/>
          </a:prstGeom>
          <a:noFill/>
        </p:spPr>
        <p:txBody>
          <a:bodyPr vert="eaVert" wrap="square" rtlCol="0">
            <a:spAutoFit/>
          </a:bodyPr>
          <a:lstStyle/>
          <a:p>
            <a:pPr algn="ctr">
              <a:lnSpc>
                <a:spcPct val="130000"/>
              </a:lnSpc>
            </a:pPr>
            <a:r>
              <a:rPr kumimoji="1" lang="en-US" altLang="zh-CN" sz="1200" dirty="0">
                <a:latin typeface="Source Han Sans SC Normal" panose="020B0400000000000000" pitchFamily="34" charset="-128"/>
                <a:ea typeface="Source Han Sans SC Normal" panose="020B0400000000000000" pitchFamily="34" charset="-128"/>
              </a:rPr>
              <a:t>……</a:t>
            </a: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57" name="椭圆 56">
            <a:extLst>
              <a:ext uri="{FF2B5EF4-FFF2-40B4-BE49-F238E27FC236}">
                <a16:creationId xmlns:a16="http://schemas.microsoft.com/office/drawing/2014/main" id="{45F89B5D-0830-4386-9760-42553F8039EC}"/>
              </a:ext>
            </a:extLst>
          </p:cNvPr>
          <p:cNvSpPr/>
          <p:nvPr/>
        </p:nvSpPr>
        <p:spPr>
          <a:xfrm>
            <a:off x="4719831" y="4114843"/>
            <a:ext cx="367645" cy="3676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a:extLst>
              <a:ext uri="{FF2B5EF4-FFF2-40B4-BE49-F238E27FC236}">
                <a16:creationId xmlns:a16="http://schemas.microsoft.com/office/drawing/2014/main" id="{55589A17-4EDC-4567-A496-3873DE760DBF}"/>
              </a:ext>
            </a:extLst>
          </p:cNvPr>
          <p:cNvSpPr/>
          <p:nvPr/>
        </p:nvSpPr>
        <p:spPr>
          <a:xfrm>
            <a:off x="4719832" y="4700960"/>
            <a:ext cx="367645" cy="36764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箭头连接符 37">
            <a:extLst>
              <a:ext uri="{FF2B5EF4-FFF2-40B4-BE49-F238E27FC236}">
                <a16:creationId xmlns:a16="http://schemas.microsoft.com/office/drawing/2014/main" id="{78F31A69-6513-4C22-8352-1623B133528B}"/>
              </a:ext>
            </a:extLst>
          </p:cNvPr>
          <p:cNvCxnSpPr>
            <a:cxnSpLocks/>
            <a:stCxn id="6" idx="3"/>
            <a:endCxn id="13" idx="2"/>
          </p:cNvCxnSpPr>
          <p:nvPr/>
        </p:nvCxnSpPr>
        <p:spPr>
          <a:xfrm flipV="1">
            <a:off x="2085185" y="2168984"/>
            <a:ext cx="1201858" cy="159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7B44E110-3062-45C7-9014-2EF756B23F7C}"/>
              </a:ext>
            </a:extLst>
          </p:cNvPr>
          <p:cNvCxnSpPr>
            <a:cxnSpLocks/>
            <a:stCxn id="6" idx="3"/>
            <a:endCxn id="48" idx="2"/>
          </p:cNvCxnSpPr>
          <p:nvPr/>
        </p:nvCxnSpPr>
        <p:spPr>
          <a:xfrm>
            <a:off x="2085185" y="2328567"/>
            <a:ext cx="1201859" cy="426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9BBD76C3-3FC3-4F4D-A807-0101FD875009}"/>
              </a:ext>
            </a:extLst>
          </p:cNvPr>
          <p:cNvCxnSpPr>
            <a:cxnSpLocks/>
            <a:stCxn id="6" idx="3"/>
          </p:cNvCxnSpPr>
          <p:nvPr/>
        </p:nvCxnSpPr>
        <p:spPr>
          <a:xfrm>
            <a:off x="2085185" y="2328567"/>
            <a:ext cx="1224960" cy="1009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E114558A-39E4-49C3-8AA9-9DCC29B27F2F}"/>
              </a:ext>
            </a:extLst>
          </p:cNvPr>
          <p:cNvCxnSpPr>
            <a:stCxn id="6" idx="3"/>
            <a:endCxn id="50" idx="2"/>
          </p:cNvCxnSpPr>
          <p:nvPr/>
        </p:nvCxnSpPr>
        <p:spPr>
          <a:xfrm>
            <a:off x="2085185" y="2328567"/>
            <a:ext cx="1219665" cy="1966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6E5D025F-55B8-40EB-9C97-4A878F44E3F1}"/>
              </a:ext>
            </a:extLst>
          </p:cNvPr>
          <p:cNvCxnSpPr>
            <a:stCxn id="6" idx="3"/>
            <a:endCxn id="51" idx="2"/>
          </p:cNvCxnSpPr>
          <p:nvPr/>
        </p:nvCxnSpPr>
        <p:spPr>
          <a:xfrm>
            <a:off x="2085185" y="2328567"/>
            <a:ext cx="1219666" cy="2552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25E840AF-A902-4769-B813-0031CAB6FCDE}"/>
              </a:ext>
            </a:extLst>
          </p:cNvPr>
          <p:cNvCxnSpPr>
            <a:stCxn id="6" idx="3"/>
            <a:endCxn id="52" idx="2"/>
          </p:cNvCxnSpPr>
          <p:nvPr/>
        </p:nvCxnSpPr>
        <p:spPr>
          <a:xfrm>
            <a:off x="2085185" y="2328567"/>
            <a:ext cx="1219666" cy="3135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C0EF5909-5E39-42BB-B8A5-24EB079367C5}"/>
              </a:ext>
            </a:extLst>
          </p:cNvPr>
          <p:cNvCxnSpPr>
            <a:stCxn id="29" idx="3"/>
            <a:endCxn id="13" idx="2"/>
          </p:cNvCxnSpPr>
          <p:nvPr/>
        </p:nvCxnSpPr>
        <p:spPr>
          <a:xfrm flipV="1">
            <a:off x="2075759" y="2168984"/>
            <a:ext cx="1211284" cy="460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3777444E-8501-4E9B-AFB0-C5E2906E8FF1}"/>
              </a:ext>
            </a:extLst>
          </p:cNvPr>
          <p:cNvCxnSpPr>
            <a:stCxn id="29" idx="3"/>
            <a:endCxn id="48" idx="2"/>
          </p:cNvCxnSpPr>
          <p:nvPr/>
        </p:nvCxnSpPr>
        <p:spPr>
          <a:xfrm>
            <a:off x="2075759" y="2629202"/>
            <a:ext cx="1211285" cy="125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72D4B649-C3AF-47A9-8300-356F8C800AA5}"/>
              </a:ext>
            </a:extLst>
          </p:cNvPr>
          <p:cNvCxnSpPr>
            <a:stCxn id="29" idx="3"/>
          </p:cNvCxnSpPr>
          <p:nvPr/>
        </p:nvCxnSpPr>
        <p:spPr>
          <a:xfrm>
            <a:off x="2075759" y="2629202"/>
            <a:ext cx="1211284" cy="697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4A5F1F5E-1617-48D2-8C8F-AACDF30E0909}"/>
              </a:ext>
            </a:extLst>
          </p:cNvPr>
          <p:cNvCxnSpPr>
            <a:stCxn id="29" idx="3"/>
            <a:endCxn id="50" idx="2"/>
          </p:cNvCxnSpPr>
          <p:nvPr/>
        </p:nvCxnSpPr>
        <p:spPr>
          <a:xfrm>
            <a:off x="2075759" y="2629202"/>
            <a:ext cx="1229091" cy="16659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1283258E-3DE1-473F-ACD3-1D21FC2C8A7D}"/>
              </a:ext>
            </a:extLst>
          </p:cNvPr>
          <p:cNvCxnSpPr>
            <a:endCxn id="51" idx="2"/>
          </p:cNvCxnSpPr>
          <p:nvPr/>
        </p:nvCxnSpPr>
        <p:spPr>
          <a:xfrm>
            <a:off x="2073692" y="2635230"/>
            <a:ext cx="1231159" cy="2246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789B76E8-C1EE-4B0C-A1F7-A900F447EA23}"/>
              </a:ext>
            </a:extLst>
          </p:cNvPr>
          <p:cNvCxnSpPr>
            <a:cxnSpLocks/>
            <a:stCxn id="29" idx="3"/>
            <a:endCxn id="52" idx="2"/>
          </p:cNvCxnSpPr>
          <p:nvPr/>
        </p:nvCxnSpPr>
        <p:spPr>
          <a:xfrm>
            <a:off x="2075759" y="2629202"/>
            <a:ext cx="1229092" cy="28349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C03E7085-E0A5-49CC-9D7C-B7A162CC6C10}"/>
              </a:ext>
            </a:extLst>
          </p:cNvPr>
          <p:cNvCxnSpPr>
            <a:endCxn id="13" idx="2"/>
          </p:cNvCxnSpPr>
          <p:nvPr/>
        </p:nvCxnSpPr>
        <p:spPr>
          <a:xfrm flipV="1">
            <a:off x="2073692" y="2168984"/>
            <a:ext cx="1213351" cy="773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a:extLst>
              <a:ext uri="{FF2B5EF4-FFF2-40B4-BE49-F238E27FC236}">
                <a16:creationId xmlns:a16="http://schemas.microsoft.com/office/drawing/2014/main" id="{6CB55838-DB5F-44A4-8FF3-AB4001856F9F}"/>
              </a:ext>
            </a:extLst>
          </p:cNvPr>
          <p:cNvCxnSpPr>
            <a:endCxn id="48" idx="2"/>
          </p:cNvCxnSpPr>
          <p:nvPr/>
        </p:nvCxnSpPr>
        <p:spPr>
          <a:xfrm flipV="1">
            <a:off x="2082595" y="2755101"/>
            <a:ext cx="1204449" cy="185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a:extLst>
              <a:ext uri="{FF2B5EF4-FFF2-40B4-BE49-F238E27FC236}">
                <a16:creationId xmlns:a16="http://schemas.microsoft.com/office/drawing/2014/main" id="{7354A201-1C8C-40A0-8AB4-AC7E9783DC04}"/>
              </a:ext>
            </a:extLst>
          </p:cNvPr>
          <p:cNvCxnSpPr>
            <a:endCxn id="49" idx="2"/>
          </p:cNvCxnSpPr>
          <p:nvPr/>
        </p:nvCxnSpPr>
        <p:spPr>
          <a:xfrm>
            <a:off x="2083117" y="2921169"/>
            <a:ext cx="1203927" cy="4168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6A636D63-FDE1-4B69-BF68-3B0EA885A25D}"/>
              </a:ext>
            </a:extLst>
          </p:cNvPr>
          <p:cNvCxnSpPr>
            <a:endCxn id="50" idx="2"/>
          </p:cNvCxnSpPr>
          <p:nvPr/>
        </p:nvCxnSpPr>
        <p:spPr>
          <a:xfrm>
            <a:off x="2111022" y="2921169"/>
            <a:ext cx="1193828" cy="13739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0F5869C9-03D3-46FE-B664-7A39E794B761}"/>
              </a:ext>
            </a:extLst>
          </p:cNvPr>
          <p:cNvCxnSpPr>
            <a:stCxn id="30" idx="3"/>
            <a:endCxn id="51" idx="2"/>
          </p:cNvCxnSpPr>
          <p:nvPr/>
        </p:nvCxnSpPr>
        <p:spPr>
          <a:xfrm>
            <a:off x="2073692" y="2913842"/>
            <a:ext cx="1231159" cy="19674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a:extLst>
              <a:ext uri="{FF2B5EF4-FFF2-40B4-BE49-F238E27FC236}">
                <a16:creationId xmlns:a16="http://schemas.microsoft.com/office/drawing/2014/main" id="{D3FA531B-9EA6-4A1C-ABBD-F7248D551D75}"/>
              </a:ext>
            </a:extLst>
          </p:cNvPr>
          <p:cNvCxnSpPr>
            <a:stCxn id="30" idx="3"/>
            <a:endCxn id="52" idx="2"/>
          </p:cNvCxnSpPr>
          <p:nvPr/>
        </p:nvCxnSpPr>
        <p:spPr>
          <a:xfrm>
            <a:off x="2073692" y="2913842"/>
            <a:ext cx="1231159" cy="2550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a:extLst>
              <a:ext uri="{FF2B5EF4-FFF2-40B4-BE49-F238E27FC236}">
                <a16:creationId xmlns:a16="http://schemas.microsoft.com/office/drawing/2014/main" id="{BD4E45D6-75D3-46AB-8741-5451C181D255}"/>
              </a:ext>
            </a:extLst>
          </p:cNvPr>
          <p:cNvCxnSpPr>
            <a:stCxn id="31" idx="3"/>
            <a:endCxn id="13" idx="2"/>
          </p:cNvCxnSpPr>
          <p:nvPr/>
        </p:nvCxnSpPr>
        <p:spPr>
          <a:xfrm flipV="1">
            <a:off x="2071624" y="2168984"/>
            <a:ext cx="1215419" cy="999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a:extLst>
              <a:ext uri="{FF2B5EF4-FFF2-40B4-BE49-F238E27FC236}">
                <a16:creationId xmlns:a16="http://schemas.microsoft.com/office/drawing/2014/main" id="{198A2DA7-CE71-45BB-B71F-BFDE7FDFC665}"/>
              </a:ext>
            </a:extLst>
          </p:cNvPr>
          <p:cNvCxnSpPr>
            <a:stCxn id="31" idx="3"/>
            <a:endCxn id="48" idx="2"/>
          </p:cNvCxnSpPr>
          <p:nvPr/>
        </p:nvCxnSpPr>
        <p:spPr>
          <a:xfrm flipV="1">
            <a:off x="2071624" y="2755101"/>
            <a:ext cx="1215420" cy="413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C86022C1-17DD-4FCE-9130-6A78D84EF1BA}"/>
              </a:ext>
            </a:extLst>
          </p:cNvPr>
          <p:cNvCxnSpPr>
            <a:stCxn id="31" idx="3"/>
            <a:endCxn id="49" idx="2"/>
          </p:cNvCxnSpPr>
          <p:nvPr/>
        </p:nvCxnSpPr>
        <p:spPr>
          <a:xfrm>
            <a:off x="2071624" y="3168980"/>
            <a:ext cx="1215420" cy="169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a:extLst>
              <a:ext uri="{FF2B5EF4-FFF2-40B4-BE49-F238E27FC236}">
                <a16:creationId xmlns:a16="http://schemas.microsoft.com/office/drawing/2014/main" id="{5B416F58-934B-4FB9-ABAB-E2A02720D294}"/>
              </a:ext>
            </a:extLst>
          </p:cNvPr>
          <p:cNvCxnSpPr>
            <a:stCxn id="31" idx="3"/>
            <a:endCxn id="50" idx="2"/>
          </p:cNvCxnSpPr>
          <p:nvPr/>
        </p:nvCxnSpPr>
        <p:spPr>
          <a:xfrm>
            <a:off x="2071624" y="3168980"/>
            <a:ext cx="1233226" cy="11261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0A5489A6-8D93-4812-96DF-E93BA5BFC4BA}"/>
              </a:ext>
            </a:extLst>
          </p:cNvPr>
          <p:cNvCxnSpPr>
            <a:stCxn id="31" idx="3"/>
            <a:endCxn id="51" idx="2"/>
          </p:cNvCxnSpPr>
          <p:nvPr/>
        </p:nvCxnSpPr>
        <p:spPr>
          <a:xfrm>
            <a:off x="2071624" y="3168980"/>
            <a:ext cx="1233227" cy="1712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a:extLst>
              <a:ext uri="{FF2B5EF4-FFF2-40B4-BE49-F238E27FC236}">
                <a16:creationId xmlns:a16="http://schemas.microsoft.com/office/drawing/2014/main" id="{753FD7EE-7E97-4A73-84BA-8C1EC726F780}"/>
              </a:ext>
            </a:extLst>
          </p:cNvPr>
          <p:cNvCxnSpPr>
            <a:stCxn id="31" idx="3"/>
            <a:endCxn id="52" idx="2"/>
          </p:cNvCxnSpPr>
          <p:nvPr/>
        </p:nvCxnSpPr>
        <p:spPr>
          <a:xfrm>
            <a:off x="2071624" y="3168980"/>
            <a:ext cx="1233227" cy="2295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8AFE4A1A-C712-4595-8557-622045D2681E}"/>
              </a:ext>
            </a:extLst>
          </p:cNvPr>
          <p:cNvCxnSpPr>
            <a:stCxn id="35" idx="3"/>
            <a:endCxn id="13" idx="2"/>
          </p:cNvCxnSpPr>
          <p:nvPr/>
        </p:nvCxnSpPr>
        <p:spPr>
          <a:xfrm flipV="1">
            <a:off x="2068396" y="2168984"/>
            <a:ext cx="1218647" cy="318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a:extLst>
              <a:ext uri="{FF2B5EF4-FFF2-40B4-BE49-F238E27FC236}">
                <a16:creationId xmlns:a16="http://schemas.microsoft.com/office/drawing/2014/main" id="{EB0ABA27-3106-4EFA-8E70-0D1F4BC6406A}"/>
              </a:ext>
            </a:extLst>
          </p:cNvPr>
          <p:cNvCxnSpPr>
            <a:endCxn id="48" idx="2"/>
          </p:cNvCxnSpPr>
          <p:nvPr/>
        </p:nvCxnSpPr>
        <p:spPr>
          <a:xfrm flipV="1">
            <a:off x="2064789" y="2755101"/>
            <a:ext cx="1222255" cy="2600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a:extLst>
              <a:ext uri="{FF2B5EF4-FFF2-40B4-BE49-F238E27FC236}">
                <a16:creationId xmlns:a16="http://schemas.microsoft.com/office/drawing/2014/main" id="{D8409402-539B-44AD-B331-CF9A27012D8C}"/>
              </a:ext>
            </a:extLst>
          </p:cNvPr>
          <p:cNvCxnSpPr>
            <a:stCxn id="35" idx="3"/>
            <a:endCxn id="49" idx="2"/>
          </p:cNvCxnSpPr>
          <p:nvPr/>
        </p:nvCxnSpPr>
        <p:spPr>
          <a:xfrm flipV="1">
            <a:off x="2068396" y="3337990"/>
            <a:ext cx="1218648" cy="2017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直接箭头连接符 125">
            <a:extLst>
              <a:ext uri="{FF2B5EF4-FFF2-40B4-BE49-F238E27FC236}">
                <a16:creationId xmlns:a16="http://schemas.microsoft.com/office/drawing/2014/main" id="{8AC01CA7-630D-4EA1-A6C0-B1FF5402D24C}"/>
              </a:ext>
            </a:extLst>
          </p:cNvPr>
          <p:cNvCxnSpPr>
            <a:stCxn id="35" idx="3"/>
            <a:endCxn id="50" idx="2"/>
          </p:cNvCxnSpPr>
          <p:nvPr/>
        </p:nvCxnSpPr>
        <p:spPr>
          <a:xfrm flipV="1">
            <a:off x="2068396" y="4295128"/>
            <a:ext cx="1236454" cy="1060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127">
            <a:extLst>
              <a:ext uri="{FF2B5EF4-FFF2-40B4-BE49-F238E27FC236}">
                <a16:creationId xmlns:a16="http://schemas.microsoft.com/office/drawing/2014/main" id="{5978CC30-41B4-4A45-941D-8B12E9F6E240}"/>
              </a:ext>
            </a:extLst>
          </p:cNvPr>
          <p:cNvCxnSpPr>
            <a:stCxn id="35" idx="3"/>
            <a:endCxn id="51" idx="2"/>
          </p:cNvCxnSpPr>
          <p:nvPr/>
        </p:nvCxnSpPr>
        <p:spPr>
          <a:xfrm flipV="1">
            <a:off x="2068396" y="4881245"/>
            <a:ext cx="1236455" cy="474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直接箭头连接符 129">
            <a:extLst>
              <a:ext uri="{FF2B5EF4-FFF2-40B4-BE49-F238E27FC236}">
                <a16:creationId xmlns:a16="http://schemas.microsoft.com/office/drawing/2014/main" id="{D19225BC-139B-4241-ACC4-4D05ED8B2C3E}"/>
              </a:ext>
            </a:extLst>
          </p:cNvPr>
          <p:cNvCxnSpPr>
            <a:endCxn id="52" idx="2"/>
          </p:cNvCxnSpPr>
          <p:nvPr/>
        </p:nvCxnSpPr>
        <p:spPr>
          <a:xfrm>
            <a:off x="2073692" y="5324410"/>
            <a:ext cx="1231159" cy="139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2642B29B-072B-4759-9B14-44B845E9EC2D}"/>
              </a:ext>
            </a:extLst>
          </p:cNvPr>
          <p:cNvCxnSpPr>
            <a:stCxn id="13" idx="6"/>
            <a:endCxn id="54" idx="2"/>
          </p:cNvCxnSpPr>
          <p:nvPr/>
        </p:nvCxnSpPr>
        <p:spPr>
          <a:xfrm>
            <a:off x="3654688" y="2168984"/>
            <a:ext cx="1047337" cy="589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直接箭头连接符 133">
            <a:extLst>
              <a:ext uri="{FF2B5EF4-FFF2-40B4-BE49-F238E27FC236}">
                <a16:creationId xmlns:a16="http://schemas.microsoft.com/office/drawing/2014/main" id="{B86D38E2-1149-4754-8D4D-BC223F682E47}"/>
              </a:ext>
            </a:extLst>
          </p:cNvPr>
          <p:cNvCxnSpPr>
            <a:stCxn id="13" idx="6"/>
            <a:endCxn id="55" idx="2"/>
          </p:cNvCxnSpPr>
          <p:nvPr/>
        </p:nvCxnSpPr>
        <p:spPr>
          <a:xfrm>
            <a:off x="3654688" y="2168984"/>
            <a:ext cx="1047337" cy="1172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6" name="直接箭头连接符 135">
            <a:extLst>
              <a:ext uri="{FF2B5EF4-FFF2-40B4-BE49-F238E27FC236}">
                <a16:creationId xmlns:a16="http://schemas.microsoft.com/office/drawing/2014/main" id="{78F7A9AC-CC0C-4E5E-93F4-E75810531262}"/>
              </a:ext>
            </a:extLst>
          </p:cNvPr>
          <p:cNvCxnSpPr>
            <a:stCxn id="13" idx="6"/>
            <a:endCxn id="57" idx="2"/>
          </p:cNvCxnSpPr>
          <p:nvPr/>
        </p:nvCxnSpPr>
        <p:spPr>
          <a:xfrm>
            <a:off x="3654688" y="2168984"/>
            <a:ext cx="1065143" cy="2129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8" name="直接箭头连接符 137">
            <a:extLst>
              <a:ext uri="{FF2B5EF4-FFF2-40B4-BE49-F238E27FC236}">
                <a16:creationId xmlns:a16="http://schemas.microsoft.com/office/drawing/2014/main" id="{D9C115A1-F71F-44A1-A7F7-4B6B7FB5F65D}"/>
              </a:ext>
            </a:extLst>
          </p:cNvPr>
          <p:cNvCxnSpPr>
            <a:stCxn id="13" idx="6"/>
            <a:endCxn id="58" idx="2"/>
          </p:cNvCxnSpPr>
          <p:nvPr/>
        </p:nvCxnSpPr>
        <p:spPr>
          <a:xfrm>
            <a:off x="3654688" y="2168984"/>
            <a:ext cx="1065144" cy="27157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直接箭头连接符 139">
            <a:extLst>
              <a:ext uri="{FF2B5EF4-FFF2-40B4-BE49-F238E27FC236}">
                <a16:creationId xmlns:a16="http://schemas.microsoft.com/office/drawing/2014/main" id="{83A02E1B-E3A3-456A-8F76-1B6E0A85B4E9}"/>
              </a:ext>
            </a:extLst>
          </p:cNvPr>
          <p:cNvCxnSpPr>
            <a:stCxn id="48" idx="6"/>
            <a:endCxn id="54" idx="2"/>
          </p:cNvCxnSpPr>
          <p:nvPr/>
        </p:nvCxnSpPr>
        <p:spPr>
          <a:xfrm>
            <a:off x="3654689" y="2755101"/>
            <a:ext cx="1047336" cy="3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a:extLst>
              <a:ext uri="{FF2B5EF4-FFF2-40B4-BE49-F238E27FC236}">
                <a16:creationId xmlns:a16="http://schemas.microsoft.com/office/drawing/2014/main" id="{685391DF-C538-42A6-AFB1-70F2BE21CF77}"/>
              </a:ext>
            </a:extLst>
          </p:cNvPr>
          <p:cNvCxnSpPr>
            <a:stCxn id="48" idx="6"/>
            <a:endCxn id="55" idx="2"/>
          </p:cNvCxnSpPr>
          <p:nvPr/>
        </p:nvCxnSpPr>
        <p:spPr>
          <a:xfrm>
            <a:off x="3654689" y="2755101"/>
            <a:ext cx="1047336" cy="586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24251C6F-7821-4418-AE8B-78AFC69C6BEE}"/>
              </a:ext>
            </a:extLst>
          </p:cNvPr>
          <p:cNvCxnSpPr>
            <a:stCxn id="48" idx="6"/>
            <a:endCxn id="57" idx="2"/>
          </p:cNvCxnSpPr>
          <p:nvPr/>
        </p:nvCxnSpPr>
        <p:spPr>
          <a:xfrm>
            <a:off x="3654689" y="2755101"/>
            <a:ext cx="1065142" cy="1543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a:extLst>
              <a:ext uri="{FF2B5EF4-FFF2-40B4-BE49-F238E27FC236}">
                <a16:creationId xmlns:a16="http://schemas.microsoft.com/office/drawing/2014/main" id="{58C9C155-91A6-4CCC-A5B8-3FF1A46C6AFD}"/>
              </a:ext>
            </a:extLst>
          </p:cNvPr>
          <p:cNvCxnSpPr>
            <a:stCxn id="48" idx="6"/>
            <a:endCxn id="58" idx="2"/>
          </p:cNvCxnSpPr>
          <p:nvPr/>
        </p:nvCxnSpPr>
        <p:spPr>
          <a:xfrm>
            <a:off x="3654689" y="2755101"/>
            <a:ext cx="1065143" cy="2129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a:extLst>
              <a:ext uri="{FF2B5EF4-FFF2-40B4-BE49-F238E27FC236}">
                <a16:creationId xmlns:a16="http://schemas.microsoft.com/office/drawing/2014/main" id="{A07182D3-1B2C-4581-A99C-58F7BC3D18C8}"/>
              </a:ext>
            </a:extLst>
          </p:cNvPr>
          <p:cNvCxnSpPr>
            <a:endCxn id="54" idx="2"/>
          </p:cNvCxnSpPr>
          <p:nvPr/>
        </p:nvCxnSpPr>
        <p:spPr>
          <a:xfrm flipV="1">
            <a:off x="3654689" y="2758639"/>
            <a:ext cx="1047336" cy="586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DCFF999A-7CB3-4213-A12F-48AB6E0C60FE}"/>
              </a:ext>
            </a:extLst>
          </p:cNvPr>
          <p:cNvCxnSpPr>
            <a:endCxn id="55" idx="2"/>
          </p:cNvCxnSpPr>
          <p:nvPr/>
        </p:nvCxnSpPr>
        <p:spPr>
          <a:xfrm flipV="1">
            <a:off x="3649393" y="3341528"/>
            <a:ext cx="1052632" cy="26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2" name="直接箭头连接符 151">
            <a:extLst>
              <a:ext uri="{FF2B5EF4-FFF2-40B4-BE49-F238E27FC236}">
                <a16:creationId xmlns:a16="http://schemas.microsoft.com/office/drawing/2014/main" id="{A1F49C8F-2015-4FA3-9BA2-E129CF9953CE}"/>
              </a:ext>
            </a:extLst>
          </p:cNvPr>
          <p:cNvCxnSpPr>
            <a:endCxn id="57" idx="2"/>
          </p:cNvCxnSpPr>
          <p:nvPr/>
        </p:nvCxnSpPr>
        <p:spPr>
          <a:xfrm>
            <a:off x="3649393" y="3373509"/>
            <a:ext cx="1070438" cy="925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DB6496CF-2FC2-48A3-9E79-1299193C0C5A}"/>
              </a:ext>
            </a:extLst>
          </p:cNvPr>
          <p:cNvCxnSpPr>
            <a:endCxn id="58" idx="2"/>
          </p:cNvCxnSpPr>
          <p:nvPr/>
        </p:nvCxnSpPr>
        <p:spPr>
          <a:xfrm>
            <a:off x="3672496" y="3394302"/>
            <a:ext cx="1047336" cy="1490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6" name="直接箭头连接符 155">
            <a:extLst>
              <a:ext uri="{FF2B5EF4-FFF2-40B4-BE49-F238E27FC236}">
                <a16:creationId xmlns:a16="http://schemas.microsoft.com/office/drawing/2014/main" id="{109762D3-F5B4-426A-9806-696E8EFEC321}"/>
              </a:ext>
            </a:extLst>
          </p:cNvPr>
          <p:cNvCxnSpPr>
            <a:stCxn id="50" idx="6"/>
            <a:endCxn id="54" idx="2"/>
          </p:cNvCxnSpPr>
          <p:nvPr/>
        </p:nvCxnSpPr>
        <p:spPr>
          <a:xfrm flipV="1">
            <a:off x="3672495" y="2758639"/>
            <a:ext cx="1029530" cy="1536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直接箭头连接符 157">
            <a:extLst>
              <a:ext uri="{FF2B5EF4-FFF2-40B4-BE49-F238E27FC236}">
                <a16:creationId xmlns:a16="http://schemas.microsoft.com/office/drawing/2014/main" id="{DFABBEBD-7BF9-4FA3-ADC9-32138C757D68}"/>
              </a:ext>
            </a:extLst>
          </p:cNvPr>
          <p:cNvCxnSpPr>
            <a:endCxn id="55" idx="2"/>
          </p:cNvCxnSpPr>
          <p:nvPr/>
        </p:nvCxnSpPr>
        <p:spPr>
          <a:xfrm flipV="1">
            <a:off x="3690302" y="3341528"/>
            <a:ext cx="1011723" cy="974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8DE192E2-F7DF-492A-83FD-60B786CC4522}"/>
              </a:ext>
            </a:extLst>
          </p:cNvPr>
          <p:cNvCxnSpPr>
            <a:endCxn id="57" idx="2"/>
          </p:cNvCxnSpPr>
          <p:nvPr/>
        </p:nvCxnSpPr>
        <p:spPr>
          <a:xfrm flipV="1">
            <a:off x="3721493" y="4298666"/>
            <a:ext cx="998338" cy="17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2" name="直接箭头连接符 161">
            <a:extLst>
              <a:ext uri="{FF2B5EF4-FFF2-40B4-BE49-F238E27FC236}">
                <a16:creationId xmlns:a16="http://schemas.microsoft.com/office/drawing/2014/main" id="{5210445A-C023-4459-A173-3639F1A06226}"/>
              </a:ext>
            </a:extLst>
          </p:cNvPr>
          <p:cNvCxnSpPr>
            <a:stCxn id="50" idx="6"/>
            <a:endCxn id="58" idx="2"/>
          </p:cNvCxnSpPr>
          <p:nvPr/>
        </p:nvCxnSpPr>
        <p:spPr>
          <a:xfrm>
            <a:off x="3672495" y="4295128"/>
            <a:ext cx="1047337" cy="589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4" name="直接箭头连接符 163">
            <a:extLst>
              <a:ext uri="{FF2B5EF4-FFF2-40B4-BE49-F238E27FC236}">
                <a16:creationId xmlns:a16="http://schemas.microsoft.com/office/drawing/2014/main" id="{7BE85590-0E92-4A89-8950-D6D5A72D6F2E}"/>
              </a:ext>
            </a:extLst>
          </p:cNvPr>
          <p:cNvCxnSpPr>
            <a:stCxn id="51" idx="6"/>
            <a:endCxn id="54" idx="2"/>
          </p:cNvCxnSpPr>
          <p:nvPr/>
        </p:nvCxnSpPr>
        <p:spPr>
          <a:xfrm flipV="1">
            <a:off x="3672496" y="2758639"/>
            <a:ext cx="1029529" cy="2122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6" name="直接箭头连接符 165">
            <a:extLst>
              <a:ext uri="{FF2B5EF4-FFF2-40B4-BE49-F238E27FC236}">
                <a16:creationId xmlns:a16="http://schemas.microsoft.com/office/drawing/2014/main" id="{0A21F8BA-F9ED-4703-908D-0C77A980D65C}"/>
              </a:ext>
            </a:extLst>
          </p:cNvPr>
          <p:cNvCxnSpPr>
            <a:stCxn id="51" idx="6"/>
            <a:endCxn id="55" idx="2"/>
          </p:cNvCxnSpPr>
          <p:nvPr/>
        </p:nvCxnSpPr>
        <p:spPr>
          <a:xfrm flipV="1">
            <a:off x="3672496" y="3341528"/>
            <a:ext cx="1029529" cy="1539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8" name="直接箭头连接符 167">
            <a:extLst>
              <a:ext uri="{FF2B5EF4-FFF2-40B4-BE49-F238E27FC236}">
                <a16:creationId xmlns:a16="http://schemas.microsoft.com/office/drawing/2014/main" id="{AC0BA8F4-4185-4279-9994-B82349F0CA27}"/>
              </a:ext>
            </a:extLst>
          </p:cNvPr>
          <p:cNvCxnSpPr>
            <a:stCxn id="51" idx="6"/>
            <a:endCxn id="57" idx="2"/>
          </p:cNvCxnSpPr>
          <p:nvPr/>
        </p:nvCxnSpPr>
        <p:spPr>
          <a:xfrm flipV="1">
            <a:off x="3672496" y="4298666"/>
            <a:ext cx="1047335" cy="5825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0" name="直接箭头连接符 169">
            <a:extLst>
              <a:ext uri="{FF2B5EF4-FFF2-40B4-BE49-F238E27FC236}">
                <a16:creationId xmlns:a16="http://schemas.microsoft.com/office/drawing/2014/main" id="{08F8DB96-13AE-4E6D-8D72-3F6ADB451964}"/>
              </a:ext>
            </a:extLst>
          </p:cNvPr>
          <p:cNvCxnSpPr>
            <a:stCxn id="51" idx="6"/>
            <a:endCxn id="58" idx="2"/>
          </p:cNvCxnSpPr>
          <p:nvPr/>
        </p:nvCxnSpPr>
        <p:spPr>
          <a:xfrm>
            <a:off x="3672496" y="4881245"/>
            <a:ext cx="1047336" cy="3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2" name="直接箭头连接符 171">
            <a:extLst>
              <a:ext uri="{FF2B5EF4-FFF2-40B4-BE49-F238E27FC236}">
                <a16:creationId xmlns:a16="http://schemas.microsoft.com/office/drawing/2014/main" id="{061E3350-06B3-4604-AC8F-40BAD00C9A52}"/>
              </a:ext>
            </a:extLst>
          </p:cNvPr>
          <p:cNvCxnSpPr>
            <a:stCxn id="52" idx="6"/>
            <a:endCxn id="54" idx="2"/>
          </p:cNvCxnSpPr>
          <p:nvPr/>
        </p:nvCxnSpPr>
        <p:spPr>
          <a:xfrm flipV="1">
            <a:off x="3672496" y="2758639"/>
            <a:ext cx="1029529" cy="2705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4" name="直接箭头连接符 173">
            <a:extLst>
              <a:ext uri="{FF2B5EF4-FFF2-40B4-BE49-F238E27FC236}">
                <a16:creationId xmlns:a16="http://schemas.microsoft.com/office/drawing/2014/main" id="{B78F4783-6D51-4DF8-85A5-478BA6B71679}"/>
              </a:ext>
            </a:extLst>
          </p:cNvPr>
          <p:cNvCxnSpPr>
            <a:stCxn id="52" idx="6"/>
            <a:endCxn id="55" idx="2"/>
          </p:cNvCxnSpPr>
          <p:nvPr/>
        </p:nvCxnSpPr>
        <p:spPr>
          <a:xfrm flipV="1">
            <a:off x="3672496" y="3341528"/>
            <a:ext cx="1029529" cy="2122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6" name="直接箭头连接符 175">
            <a:extLst>
              <a:ext uri="{FF2B5EF4-FFF2-40B4-BE49-F238E27FC236}">
                <a16:creationId xmlns:a16="http://schemas.microsoft.com/office/drawing/2014/main" id="{96281974-25A9-465D-A456-BDAB212A6B1D}"/>
              </a:ext>
            </a:extLst>
          </p:cNvPr>
          <p:cNvCxnSpPr>
            <a:stCxn id="52" idx="6"/>
            <a:endCxn id="57" idx="2"/>
          </p:cNvCxnSpPr>
          <p:nvPr/>
        </p:nvCxnSpPr>
        <p:spPr>
          <a:xfrm flipV="1">
            <a:off x="3672496" y="4298666"/>
            <a:ext cx="1047335" cy="1165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8" name="直接箭头连接符 177">
            <a:extLst>
              <a:ext uri="{FF2B5EF4-FFF2-40B4-BE49-F238E27FC236}">
                <a16:creationId xmlns:a16="http://schemas.microsoft.com/office/drawing/2014/main" id="{6D43A40F-0734-4CDB-82CF-B082881D4ECC}"/>
              </a:ext>
            </a:extLst>
          </p:cNvPr>
          <p:cNvCxnSpPr>
            <a:stCxn id="52" idx="6"/>
            <a:endCxn id="58" idx="2"/>
          </p:cNvCxnSpPr>
          <p:nvPr/>
        </p:nvCxnSpPr>
        <p:spPr>
          <a:xfrm flipV="1">
            <a:off x="3672496" y="4884783"/>
            <a:ext cx="1047336" cy="5793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9" name="文本框 178">
            <a:extLst>
              <a:ext uri="{FF2B5EF4-FFF2-40B4-BE49-F238E27FC236}">
                <a16:creationId xmlns:a16="http://schemas.microsoft.com/office/drawing/2014/main" id="{53BC6397-53FA-4436-BBE1-AB651A5CB1F1}"/>
              </a:ext>
            </a:extLst>
          </p:cNvPr>
          <p:cNvSpPr txBox="1"/>
          <p:nvPr/>
        </p:nvSpPr>
        <p:spPr>
          <a:xfrm>
            <a:off x="4230218" y="5195954"/>
            <a:ext cx="1456201" cy="308995"/>
          </a:xfrm>
          <a:prstGeom prst="rect">
            <a:avLst/>
          </a:prstGeom>
          <a:noFill/>
        </p:spPr>
        <p:txBody>
          <a:bodyPr wrap="square" rtlCol="0">
            <a:spAutoFit/>
          </a:bodyPr>
          <a:lstStyle/>
          <a:p>
            <a:pPr algn="ctr">
              <a:lnSpc>
                <a:spcPct val="130000"/>
              </a:lnSpc>
            </a:pPr>
            <a:r>
              <a:rPr kumimoji="1" lang="en-US" altLang="zh-CN" sz="1200" dirty="0">
                <a:latin typeface="微软雅黑" panose="020B0503020204020204" pitchFamily="34" charset="-122"/>
                <a:ea typeface="微软雅黑" panose="020B0503020204020204" pitchFamily="34" charset="-122"/>
              </a:rPr>
              <a:t>N </a:t>
            </a:r>
            <a:r>
              <a:rPr kumimoji="1" lang="zh-CN" altLang="en-US" sz="1200" dirty="0">
                <a:latin typeface="微软雅黑" panose="020B0503020204020204" pitchFamily="34" charset="-122"/>
                <a:ea typeface="微软雅黑" panose="020B0503020204020204" pitchFamily="34" charset="-122"/>
              </a:rPr>
              <a:t>维向量</a:t>
            </a:r>
          </a:p>
        </p:txBody>
      </p:sp>
      <p:sp>
        <p:nvSpPr>
          <p:cNvPr id="182" name="文本框 181">
            <a:extLst>
              <a:ext uri="{FF2B5EF4-FFF2-40B4-BE49-F238E27FC236}">
                <a16:creationId xmlns:a16="http://schemas.microsoft.com/office/drawing/2014/main" id="{6AC22B90-DF31-47EB-9368-673341D6E00B}"/>
              </a:ext>
            </a:extLst>
          </p:cNvPr>
          <p:cNvSpPr txBox="1"/>
          <p:nvPr/>
        </p:nvSpPr>
        <p:spPr>
          <a:xfrm>
            <a:off x="6030652" y="1995965"/>
            <a:ext cx="5349240" cy="2316403"/>
          </a:xfrm>
          <a:prstGeom prst="rect">
            <a:avLst/>
          </a:prstGeom>
          <a:noFill/>
        </p:spPr>
        <p:txBody>
          <a:bodyPr wrap="square" rtlCol="0">
            <a:spAutoFit/>
          </a:bodyPr>
          <a:lstStyle/>
          <a:p>
            <a:pPr>
              <a:lnSpc>
                <a:spcPct val="150000"/>
              </a:lnSpc>
            </a:pPr>
            <a:r>
              <a:rPr kumimoji="1" lang="en-US" altLang="zh-CN" sz="1400" dirty="0">
                <a:latin typeface="微软雅黑" panose="020B0503020204020204" pitchFamily="34" charset="-122"/>
                <a:ea typeface="微软雅黑" panose="020B0503020204020204" pitchFamily="34" charset="-122"/>
              </a:rPr>
              <a:t>Embedding</a:t>
            </a:r>
            <a:r>
              <a:rPr kumimoji="1" lang="zh-CN" altLang="en-US" sz="1400" dirty="0">
                <a:latin typeface="微软雅黑" panose="020B0503020204020204" pitchFamily="34" charset="-122"/>
                <a:ea typeface="微软雅黑" panose="020B0503020204020204" pitchFamily="34" charset="-122"/>
              </a:rPr>
              <a:t>也是一个将离散变量转为连续变量的一种方式，但较于</a:t>
            </a:r>
            <a:r>
              <a:rPr kumimoji="1" lang="en-US" altLang="zh-CN" sz="1400" dirty="0">
                <a:latin typeface="微软雅黑" panose="020B0503020204020204" pitchFamily="34" charset="-122"/>
                <a:ea typeface="微软雅黑" panose="020B0503020204020204" pitchFamily="34" charset="-122"/>
              </a:rPr>
              <a:t>one-hot</a:t>
            </a:r>
            <a:r>
              <a:rPr kumimoji="1" lang="zh-CN" altLang="en-US" sz="1400" dirty="0">
                <a:latin typeface="微软雅黑" panose="020B0503020204020204" pitchFamily="34" charset="-122"/>
                <a:ea typeface="微软雅黑" panose="020B0503020204020204" pitchFamily="34" charset="-122"/>
              </a:rPr>
              <a:t>编码，</a:t>
            </a:r>
            <a:r>
              <a:rPr kumimoji="1" lang="en-US" altLang="zh-CN" sz="1400" dirty="0">
                <a:latin typeface="微软雅黑" panose="020B0503020204020204" pitchFamily="34" charset="-122"/>
                <a:ea typeface="微软雅黑" panose="020B0503020204020204" pitchFamily="34" charset="-122"/>
              </a:rPr>
              <a:t>embedding</a:t>
            </a:r>
            <a:r>
              <a:rPr kumimoji="1" lang="zh-CN" altLang="en-US" sz="1400" dirty="0">
                <a:latin typeface="微软雅黑" panose="020B0503020204020204" pitchFamily="34" charset="-122"/>
                <a:ea typeface="微软雅黑" panose="020B0503020204020204" pitchFamily="34" charset="-122"/>
              </a:rPr>
              <a:t>不光可以减少离散向量的空间维数，同时在向量空间中每个变量不是正交的，其表征了不同词和词之间的距离关系：语义相近的词向量距离较近，语义相悖的距离较远。其基本思想就是上下文相似的两个词，它们的词向量也应该相似。即词</a:t>
            </a:r>
            <a:r>
              <a:rPr kumimoji="1" lang="en-US" altLang="zh-CN" sz="1400" dirty="0">
                <a:latin typeface="微软雅黑" panose="020B0503020204020204" pitchFamily="34" charset="-122"/>
                <a:ea typeface="微软雅黑" panose="020B0503020204020204" pitchFamily="34" charset="-122"/>
              </a:rPr>
              <a:t>Wi</a:t>
            </a:r>
            <a:r>
              <a:rPr kumimoji="1" lang="zh-CN" altLang="en-US" sz="1400" dirty="0">
                <a:latin typeface="微软雅黑" panose="020B0503020204020204" pitchFamily="34" charset="-122"/>
                <a:ea typeface="微软雅黑" panose="020B0503020204020204" pitchFamily="34" charset="-122"/>
              </a:rPr>
              <a:t>上下范围为</a:t>
            </a:r>
            <a:r>
              <a:rPr kumimoji="1" lang="en-US" altLang="zh-CN" sz="1400" dirty="0">
                <a:latin typeface="微软雅黑" panose="020B0503020204020204" pitchFamily="34" charset="-122"/>
                <a:ea typeface="微软雅黑" panose="020B0503020204020204" pitchFamily="34" charset="-122"/>
              </a:rPr>
              <a:t>1</a:t>
            </a:r>
            <a:r>
              <a:rPr kumimoji="1" lang="zh-CN" altLang="en-US" sz="1400" dirty="0">
                <a:latin typeface="微软雅黑" panose="020B0503020204020204" pitchFamily="34" charset="-122"/>
                <a:ea typeface="微软雅黑" panose="020B0503020204020204" pitchFamily="34" charset="-122"/>
              </a:rPr>
              <a:t>的话，</a:t>
            </a:r>
            <a:r>
              <a:rPr kumimoji="1" lang="en-US" altLang="zh-CN" sz="1400" dirty="0">
                <a:latin typeface="微软雅黑" panose="020B0503020204020204" pitchFamily="34" charset="-122"/>
                <a:ea typeface="微软雅黑" panose="020B0503020204020204" pitchFamily="34" charset="-122"/>
              </a:rPr>
              <a:t>Wi-1</a:t>
            </a:r>
            <a:r>
              <a:rPr kumimoji="1" lang="zh-CN" altLang="en-US" sz="1400" dirty="0">
                <a:latin typeface="微软雅黑" panose="020B0503020204020204" pitchFamily="34" charset="-122"/>
                <a:ea typeface="微软雅黑" panose="020B0503020204020204" pitchFamily="34" charset="-122"/>
              </a:rPr>
              <a:t>和</a:t>
            </a:r>
            <a:r>
              <a:rPr kumimoji="1" lang="en-US" altLang="zh-CN" sz="1400" dirty="0">
                <a:latin typeface="微软雅黑" panose="020B0503020204020204" pitchFamily="34" charset="-122"/>
                <a:ea typeface="微软雅黑" panose="020B0503020204020204" pitchFamily="34" charset="-122"/>
              </a:rPr>
              <a:t>Wi+1</a:t>
            </a:r>
            <a:r>
              <a:rPr kumimoji="1" lang="zh-CN" altLang="en-US" sz="1400" dirty="0">
                <a:latin typeface="微软雅黑" panose="020B0503020204020204" pitchFamily="34" charset="-122"/>
                <a:ea typeface="微软雅黑" panose="020B0503020204020204" pitchFamily="34" charset="-122"/>
              </a:rPr>
              <a:t>的词向量和</a:t>
            </a:r>
            <a:r>
              <a:rPr kumimoji="1" lang="en-US" altLang="zh-CN" sz="1400" dirty="0">
                <a:latin typeface="微软雅黑" panose="020B0503020204020204" pitchFamily="34" charset="-122"/>
                <a:ea typeface="微软雅黑" panose="020B0503020204020204" pitchFamily="34" charset="-122"/>
              </a:rPr>
              <a:t>Wi</a:t>
            </a:r>
            <a:r>
              <a:rPr kumimoji="1" lang="zh-CN" altLang="en-US" sz="1400" dirty="0">
                <a:latin typeface="微软雅黑" panose="020B0503020204020204" pitchFamily="34" charset="-122"/>
                <a:ea typeface="微软雅黑" panose="020B0503020204020204" pitchFamily="34" charset="-122"/>
              </a:rPr>
              <a:t>的词向量是比较相似的。</a:t>
            </a:r>
          </a:p>
        </p:txBody>
      </p:sp>
      <mc:AlternateContent xmlns:mc="http://schemas.openxmlformats.org/markup-compatibility/2006">
        <mc:Choice xmlns:a14="http://schemas.microsoft.com/office/drawing/2010/main" Requires="a14">
          <p:sp>
            <p:nvSpPr>
              <p:cNvPr id="183" name="文本框 182">
                <a:extLst>
                  <a:ext uri="{FF2B5EF4-FFF2-40B4-BE49-F238E27FC236}">
                    <a16:creationId xmlns:a16="http://schemas.microsoft.com/office/drawing/2014/main" id="{FA4CD415-93B2-4BDD-A303-2164D1E6D256}"/>
                  </a:ext>
                </a:extLst>
              </p:cNvPr>
              <p:cNvSpPr txBox="1"/>
              <p:nvPr/>
            </p:nvSpPr>
            <p:spPr>
              <a:xfrm>
                <a:off x="6030652" y="4338207"/>
                <a:ext cx="4846320" cy="1040926"/>
              </a:xfrm>
              <a:prstGeom prst="rect">
                <a:avLst/>
              </a:prstGeom>
              <a:noFill/>
            </p:spPr>
            <p:txBody>
              <a:bodyPr wrap="square" rtlCol="0">
                <a:spAutoFit/>
              </a:bodyPr>
              <a:lstStyle/>
              <a:p>
                <a:pPr>
                  <a:lnSpc>
                    <a:spcPct val="150000"/>
                  </a:lnSpc>
                </a:pPr>
                <a:r>
                  <a:rPr kumimoji="1" lang="en-US" altLang="zh-CN" sz="1400" dirty="0">
                    <a:latin typeface="微软雅黑" panose="020B0503020204020204" pitchFamily="34" charset="-122"/>
                    <a:ea typeface="微软雅黑" panose="020B0503020204020204" pitchFamily="34" charset="-122"/>
                  </a:rPr>
                  <a:t>input</a:t>
                </a:r>
                <a:r>
                  <a:rPr kumimoji="1" lang="zh-CN" altLang="en-US" sz="1400" dirty="0">
                    <a:latin typeface="微软雅黑" panose="020B0503020204020204" pitchFamily="34" charset="-122"/>
                    <a:ea typeface="微软雅黑" panose="020B0503020204020204" pitchFamily="34" charset="-122"/>
                  </a:rPr>
                  <a:t>：词汇的</a:t>
                </a:r>
                <a:r>
                  <a:rPr kumimoji="1" lang="en-US" altLang="zh-CN" sz="1400" dirty="0">
                    <a:latin typeface="微软雅黑" panose="020B0503020204020204" pitchFamily="34" charset="-122"/>
                    <a:ea typeface="微软雅黑" panose="020B0503020204020204" pitchFamily="34" charset="-122"/>
                  </a:rPr>
                  <a:t>one-hot</a:t>
                </a:r>
                <a:r>
                  <a:rPr kumimoji="1" lang="zh-CN" altLang="en-US" sz="1400" dirty="0">
                    <a:latin typeface="微软雅黑" panose="020B0503020204020204" pitchFamily="34" charset="-122"/>
                    <a:ea typeface="微软雅黑" panose="020B0503020204020204" pitchFamily="34" charset="-122"/>
                  </a:rPr>
                  <a:t>表示</a:t>
                </a:r>
                <a:endParaRPr kumimoji="1" lang="en-US" altLang="zh-CN" sz="1400" dirty="0">
                  <a:latin typeface="微软雅黑" panose="020B0503020204020204" pitchFamily="34" charset="-122"/>
                  <a:ea typeface="微软雅黑" panose="020B0503020204020204" pitchFamily="34" charset="-122"/>
                </a:endParaRPr>
              </a:p>
              <a:p>
                <a:pPr>
                  <a:lnSpc>
                    <a:spcPct val="150000"/>
                  </a:lnSpc>
                </a:pPr>
                <a:r>
                  <a:rPr kumimoji="1" lang="zh-CN" altLang="en-US" sz="1400" dirty="0">
                    <a:latin typeface="微软雅黑" panose="020B0503020204020204" pitchFamily="34" charset="-122"/>
                    <a:ea typeface="微软雅黑" panose="020B0503020204020204" pitchFamily="34" charset="-122"/>
                  </a:rPr>
                  <a:t>隐藏层：</a:t>
                </a:r>
                <a14:m>
                  <m:oMath xmlns:m="http://schemas.openxmlformats.org/officeDocument/2006/math">
                    <m:r>
                      <m:rPr>
                        <m:sty m:val="p"/>
                      </m:rPr>
                      <a:rPr kumimoji="1" lang="en-US" altLang="zh-CN" sz="1400" i="1" dirty="0">
                        <a:latin typeface="Cambria Math" panose="02040503050406030204" pitchFamily="18" charset="0"/>
                        <a:ea typeface="Source Han Sans SC Normal" panose="020B0400000000000000" pitchFamily="34" charset="-128"/>
                      </a:rPr>
                      <m:t>h</m:t>
                    </m:r>
                  </m:oMath>
                </a14:m>
                <a:r>
                  <a:rPr kumimoji="1" lang="en-US" altLang="zh-CN" sz="1400" dirty="0">
                    <a:latin typeface="微软雅黑" panose="020B0503020204020204" pitchFamily="34" charset="-122"/>
                    <a:ea typeface="微软雅黑" panose="020B0503020204020204" pitchFamily="34" charset="-122"/>
                  </a:rPr>
                  <a:t>=</a:t>
                </a:r>
                <a14:m>
                  <m:oMath xmlns:m="http://schemas.openxmlformats.org/officeDocument/2006/math">
                    <m:sSup>
                      <m:sSupPr>
                        <m:ctrlPr>
                          <a:rPr kumimoji="1" lang="en-US" altLang="zh-CN" sz="1400" i="1" dirty="0" smtClean="0">
                            <a:latin typeface="Cambria Math" panose="02040503050406030204" pitchFamily="18" charset="0"/>
                            <a:ea typeface="Source Han Sans SC Normal" panose="020B0400000000000000" pitchFamily="34" charset="-128"/>
                          </a:rPr>
                        </m:ctrlPr>
                      </m:sSupPr>
                      <m:e>
                        <m:r>
                          <a:rPr kumimoji="1" lang="en-US" altLang="zh-CN" sz="1400" b="0" i="1" dirty="0" smtClean="0">
                            <a:latin typeface="Cambria Math" panose="02040503050406030204" pitchFamily="18" charset="0"/>
                            <a:ea typeface="Source Han Sans SC Normal" panose="020B0400000000000000" pitchFamily="34" charset="-128"/>
                          </a:rPr>
                          <m:t>𝑊</m:t>
                        </m:r>
                      </m:e>
                      <m:sup>
                        <m:r>
                          <a:rPr kumimoji="1" lang="en-US" altLang="zh-CN" sz="1400" b="0" i="1" dirty="0" smtClean="0">
                            <a:latin typeface="Cambria Math" panose="02040503050406030204" pitchFamily="18" charset="0"/>
                            <a:ea typeface="Source Han Sans SC Normal" panose="020B0400000000000000" pitchFamily="34" charset="-128"/>
                          </a:rPr>
                          <m:t>𝑇</m:t>
                        </m:r>
                      </m:sup>
                    </m:sSup>
                    <m:r>
                      <a:rPr kumimoji="1" lang="en-US" altLang="zh-CN" sz="1400" b="0" i="1" dirty="0" smtClean="0">
                        <a:latin typeface="Cambria Math" panose="02040503050406030204" pitchFamily="18" charset="0"/>
                        <a:ea typeface="Source Han Sans SC Normal" panose="020B0400000000000000" pitchFamily="34" charset="-128"/>
                      </a:rPr>
                      <m:t>∗</m:t>
                    </m:r>
                    <m:r>
                      <a:rPr kumimoji="1" lang="en-US" altLang="zh-CN" sz="1400" b="0" i="1" dirty="0" smtClean="0">
                        <a:latin typeface="Cambria Math" panose="02040503050406030204" pitchFamily="18" charset="0"/>
                        <a:ea typeface="Source Han Sans SC Normal" panose="020B0400000000000000" pitchFamily="34" charset="-128"/>
                      </a:rPr>
                      <m:t>𝑋</m:t>
                    </m:r>
                    <m:r>
                      <a:rPr kumimoji="1" lang="en-US" altLang="zh-CN" sz="1400" b="0" i="1" dirty="0" smtClean="0">
                        <a:latin typeface="Cambria Math" panose="02040503050406030204" pitchFamily="18" charset="0"/>
                        <a:ea typeface="Source Han Sans SC Normal" panose="020B0400000000000000" pitchFamily="34" charset="-128"/>
                      </a:rPr>
                      <m:t>=</m:t>
                    </m:r>
                    <m:sSubSup>
                      <m:sSubSupPr>
                        <m:ctrlPr>
                          <a:rPr kumimoji="1" lang="en-US" altLang="zh-CN" sz="1400" b="0" i="1" dirty="0" smtClean="0">
                            <a:latin typeface="Cambria Math" panose="02040503050406030204" pitchFamily="18" charset="0"/>
                            <a:ea typeface="Source Han Sans SC Normal" panose="020B0400000000000000" pitchFamily="34" charset="-128"/>
                          </a:rPr>
                        </m:ctrlPr>
                      </m:sSubSupPr>
                      <m:e>
                        <m:r>
                          <a:rPr kumimoji="1" lang="en-US" altLang="zh-CN" sz="1400" b="0" i="1" dirty="0" smtClean="0">
                            <a:latin typeface="Cambria Math" panose="02040503050406030204" pitchFamily="18" charset="0"/>
                            <a:ea typeface="Source Han Sans SC Normal" panose="020B0400000000000000" pitchFamily="34" charset="-128"/>
                          </a:rPr>
                          <m:t>𝑣</m:t>
                        </m:r>
                      </m:e>
                      <m:sub>
                        <m:r>
                          <a:rPr kumimoji="1" lang="en-US" altLang="zh-CN" sz="1400" b="0" i="1" dirty="0" smtClean="0">
                            <a:latin typeface="Cambria Math" panose="02040503050406030204" pitchFamily="18" charset="0"/>
                            <a:ea typeface="Source Han Sans SC Normal" panose="020B0400000000000000" pitchFamily="34" charset="-128"/>
                          </a:rPr>
                          <m:t>𝑤𝑖</m:t>
                        </m:r>
                      </m:sub>
                      <m:sup>
                        <m:r>
                          <a:rPr kumimoji="1" lang="en-US" altLang="zh-CN" sz="1400" b="0" i="1" dirty="0" smtClean="0">
                            <a:latin typeface="Cambria Math" panose="02040503050406030204" pitchFamily="18" charset="0"/>
                            <a:ea typeface="Source Han Sans SC Normal" panose="020B0400000000000000" pitchFamily="34" charset="-128"/>
                          </a:rPr>
                          <m:t>𝑇</m:t>
                        </m:r>
                      </m:sup>
                    </m:sSubSup>
                  </m:oMath>
                </a14:m>
                <a:endParaRPr kumimoji="1" lang="en-US" altLang="zh-CN" sz="1400" dirty="0">
                  <a:latin typeface="微软雅黑" panose="020B0503020204020204" pitchFamily="34" charset="-122"/>
                  <a:ea typeface="微软雅黑" panose="020B0503020204020204" pitchFamily="34" charset="-122"/>
                </a:endParaRPr>
              </a:p>
              <a:p>
                <a:pPr>
                  <a:lnSpc>
                    <a:spcPct val="150000"/>
                  </a:lnSpc>
                </a:pPr>
                <a:r>
                  <a:rPr kumimoji="1" lang="en-US" altLang="zh-CN" sz="1400" dirty="0">
                    <a:latin typeface="微软雅黑" panose="020B0503020204020204" pitchFamily="34" charset="-122"/>
                    <a:ea typeface="微软雅黑" panose="020B0503020204020204" pitchFamily="34" charset="-122"/>
                  </a:rPr>
                  <a:t>output</a:t>
                </a:r>
                <a:r>
                  <a:rPr kumimoji="1" lang="zh-CN" altLang="en-US" sz="1400" dirty="0">
                    <a:latin typeface="微软雅黑" panose="020B0503020204020204" pitchFamily="34" charset="-122"/>
                    <a:ea typeface="微软雅黑" panose="020B0503020204020204" pitchFamily="34" charset="-122"/>
                  </a:rPr>
                  <a:t>：</a:t>
                </a:r>
                <a14:m>
                  <m:oMath xmlns:m="http://schemas.openxmlformats.org/officeDocument/2006/math">
                    <m:r>
                      <m:rPr>
                        <m:sty m:val="p"/>
                      </m:rPr>
                      <a:rPr kumimoji="1" lang="en-US" altLang="zh-CN" sz="1400" i="1" dirty="0">
                        <a:latin typeface="Cambria Math" panose="02040503050406030204" pitchFamily="18" charset="0"/>
                        <a:ea typeface="Source Han Sans SC Normal" panose="020B0400000000000000" pitchFamily="34" charset="-128"/>
                      </a:rPr>
                      <m:t>u</m:t>
                    </m:r>
                  </m:oMath>
                </a14:m>
                <a:r>
                  <a:rPr kumimoji="1" lang="en-US" altLang="zh-CN" sz="1400" dirty="0">
                    <a:latin typeface="微软雅黑" panose="020B0503020204020204" pitchFamily="34" charset="-122"/>
                    <a:ea typeface="微软雅黑" panose="020B0503020204020204" pitchFamily="34" charset="-122"/>
                  </a:rPr>
                  <a:t>=</a:t>
                </a:r>
                <a14:m>
                  <m:oMath xmlns:m="http://schemas.openxmlformats.org/officeDocument/2006/math">
                    <m:sSup>
                      <m:sSupPr>
                        <m:ctrlPr>
                          <a:rPr kumimoji="1" lang="en-US" altLang="zh-CN" sz="1400" i="1" dirty="0" smtClean="0">
                            <a:latin typeface="Cambria Math" panose="02040503050406030204" pitchFamily="18" charset="0"/>
                            <a:ea typeface="Source Han Sans SC Normal" panose="020B0400000000000000" pitchFamily="34" charset="-128"/>
                          </a:rPr>
                        </m:ctrlPr>
                      </m:sSupPr>
                      <m:e>
                        <m:r>
                          <a:rPr kumimoji="1" lang="en-US" altLang="zh-CN" sz="1400" b="0" i="1" dirty="0" smtClean="0">
                            <a:latin typeface="Cambria Math" panose="02040503050406030204" pitchFamily="18" charset="0"/>
                            <a:ea typeface="Source Han Sans SC Normal" panose="020B0400000000000000" pitchFamily="34" charset="-128"/>
                          </a:rPr>
                          <m:t>𝑊</m:t>
                        </m:r>
                      </m:e>
                      <m:sup>
                        <m:r>
                          <a:rPr kumimoji="1" lang="en-US" altLang="zh-CN" sz="1400" b="0" i="1" dirty="0" smtClean="0">
                            <a:latin typeface="Cambria Math" panose="02040503050406030204" pitchFamily="18" charset="0"/>
                            <a:ea typeface="Source Han Sans SC Normal" panose="020B0400000000000000" pitchFamily="34" charset="-128"/>
                          </a:rPr>
                          <m:t>′</m:t>
                        </m:r>
                        <m:r>
                          <a:rPr kumimoji="1" lang="en-US" altLang="zh-CN" sz="1400" b="0" i="1" dirty="0" smtClean="0">
                            <a:latin typeface="Cambria Math" panose="02040503050406030204" pitchFamily="18" charset="0"/>
                            <a:ea typeface="Source Han Sans SC Normal" panose="020B0400000000000000" pitchFamily="34" charset="-128"/>
                          </a:rPr>
                          <m:t>𝑇</m:t>
                        </m:r>
                      </m:sup>
                    </m:sSup>
                    <m:r>
                      <a:rPr kumimoji="1" lang="en-US" altLang="zh-CN" sz="1400" b="0" i="0" dirty="0" smtClean="0">
                        <a:latin typeface="Cambria Math" panose="02040503050406030204" pitchFamily="18" charset="0"/>
                        <a:ea typeface="Source Han Sans SC Normal" panose="020B0400000000000000" pitchFamily="34" charset="-128"/>
                      </a:rPr>
                      <m:t>∗</m:t>
                    </m:r>
                    <m:r>
                      <m:rPr>
                        <m:sty m:val="p"/>
                      </m:rPr>
                      <a:rPr kumimoji="1" lang="en-US" altLang="zh-CN" sz="1400" b="0" i="0" dirty="0" smtClean="0">
                        <a:latin typeface="Cambria Math" panose="02040503050406030204" pitchFamily="18" charset="0"/>
                        <a:ea typeface="Source Han Sans SC Normal" panose="020B0400000000000000" pitchFamily="34" charset="-128"/>
                      </a:rPr>
                      <m:t>h</m:t>
                    </m:r>
                  </m:oMath>
                </a14:m>
                <a:endParaRPr kumimoji="1" lang="zh-CN" altLang="en-US" sz="1400" dirty="0">
                  <a:latin typeface="微软雅黑" panose="020B0503020204020204" pitchFamily="34" charset="-122"/>
                  <a:ea typeface="微软雅黑" panose="020B0503020204020204" pitchFamily="34" charset="-122"/>
                </a:endParaRPr>
              </a:p>
            </p:txBody>
          </p:sp>
        </mc:Choice>
        <mc:Fallback>
          <p:sp>
            <p:nvSpPr>
              <p:cNvPr id="183" name="文本框 182">
                <a:extLst>
                  <a:ext uri="{FF2B5EF4-FFF2-40B4-BE49-F238E27FC236}">
                    <a16:creationId xmlns:a16="http://schemas.microsoft.com/office/drawing/2014/main" id="{FA4CD415-93B2-4BDD-A303-2164D1E6D256}"/>
                  </a:ext>
                </a:extLst>
              </p:cNvPr>
              <p:cNvSpPr txBox="1">
                <a:spLocks noRot="1" noChangeAspect="1" noMove="1" noResize="1" noEditPoints="1" noAdjustHandles="1" noChangeArrowheads="1" noChangeShapeType="1" noTextEdit="1"/>
              </p:cNvSpPr>
              <p:nvPr/>
            </p:nvSpPr>
            <p:spPr>
              <a:xfrm>
                <a:off x="6030652" y="4338207"/>
                <a:ext cx="4846320" cy="1040926"/>
              </a:xfrm>
              <a:prstGeom prst="rect">
                <a:avLst/>
              </a:prstGeom>
              <a:blipFill>
                <a:blip r:embed="rId6"/>
                <a:stretch>
                  <a:fillRect l="-377" b="-529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4" name="矩形 183">
                <a:extLst>
                  <a:ext uri="{FF2B5EF4-FFF2-40B4-BE49-F238E27FC236}">
                    <a16:creationId xmlns:a16="http://schemas.microsoft.com/office/drawing/2014/main" id="{8A921F0A-1BF5-490A-97A1-99EC66E174B0}"/>
                  </a:ext>
                </a:extLst>
              </p:cNvPr>
              <p:cNvSpPr/>
              <p:nvPr/>
            </p:nvSpPr>
            <p:spPr>
              <a:xfrm>
                <a:off x="7327888" y="5405109"/>
                <a:ext cx="3893477" cy="658963"/>
              </a:xfrm>
              <a:prstGeom prst="rect">
                <a:avLst/>
              </a:prstGeom>
            </p:spPr>
            <p:txBody>
              <a:bodyPr wrap="square">
                <a:spAutoFit/>
              </a:bodyPr>
              <a:lstStyle/>
              <a:p>
                <a:r>
                  <a:rPr lang="en-US" altLang="zh-CN" sz="2000" dirty="0"/>
                  <a:t>P(</a:t>
                </a:r>
                <a14:m>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i="1">
                            <a:latin typeface="Cambria Math" panose="02040503050406030204" pitchFamily="18" charset="0"/>
                          </a:rPr>
                          <m:t>w</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b="0" i="1" smtClean="0">
                            <a:latin typeface="Cambria Math" panose="02040503050406030204" pitchFamily="18" charset="0"/>
                          </a:rPr>
                          <m:t>𝑖</m:t>
                        </m:r>
                      </m:sub>
                    </m:sSub>
                  </m:oMath>
                </a14:m>
                <a:r>
                  <a:rPr lang="en-US" altLang="zh-CN" sz="2000" dirty="0"/>
                  <a:t>)</a:t>
                </a:r>
                <a14:m>
                  <m:oMath xmlns:m="http://schemas.openxmlformats.org/officeDocument/2006/math">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d>
                          <m:dPr>
                            <m:begChr m:val=""/>
                            <m:ctrlPr>
                              <a:rPr lang="zh-CN" altLang="en-US" sz="2000" i="1">
                                <a:latin typeface="Cambria Math" panose="02040503050406030204" pitchFamily="18" charset="0"/>
                              </a:rPr>
                            </m:ctrlPr>
                          </m:dPr>
                          <m:e>
                            <m:r>
                              <m:rPr>
                                <m:sty m:val="p"/>
                              </m:rPr>
                              <a:rPr lang="zh-CN" altLang="en-US" sz="2000" i="0">
                                <a:latin typeface="Cambria Math" panose="02040503050406030204" pitchFamily="18" charset="0"/>
                              </a:rPr>
                              <m:t>ex</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p</m:t>
                                </m:r>
                              </m:fName>
                              <m:e>
                                <m:r>
                                  <a:rPr lang="zh-CN" altLang="en-US" sz="2000" i="0">
                                    <a:latin typeface="Cambria Math" panose="02040503050406030204" pitchFamily="18" charset="0"/>
                                  </a:rPr>
                                  <m:t>(</m:t>
                                </m:r>
                              </m:e>
                            </m:func>
                            <m:sSub>
                              <m:sSubPr>
                                <m:ctrlPr>
                                  <a:rPr lang="zh-CN" altLang="en-US" sz="2000" i="1" smtClean="0">
                                    <a:latin typeface="Cambria Math" panose="02040503050406030204" pitchFamily="18" charset="0"/>
                                  </a:rPr>
                                </m:ctrlPr>
                              </m:sSubPr>
                              <m:e>
                                <m:r>
                                  <m:rPr>
                                    <m:sty m:val="p"/>
                                  </m:rPr>
                                  <a:rPr lang="en-US" altLang="zh-CN" sz="2000" i="1">
                                    <a:latin typeface="Cambria Math" panose="02040503050406030204" pitchFamily="18" charset="0"/>
                                  </a:rPr>
                                  <m:t>u</m:t>
                                </m:r>
                              </m:e>
                              <m:sub>
                                <m:r>
                                  <a:rPr lang="en-US" altLang="zh-CN" sz="2000" b="0" i="1" smtClean="0">
                                    <a:latin typeface="Cambria Math" panose="02040503050406030204" pitchFamily="18" charset="0"/>
                                  </a:rPr>
                                  <m:t>𝑗</m:t>
                                </m:r>
                              </m:sub>
                            </m:sSub>
                          </m:e>
                        </m:d>
                      </m:num>
                      <m:den>
                        <m:nary>
                          <m:naryPr>
                            <m:chr m:val="∑"/>
                            <m:limLoc m:val="undOvr"/>
                            <m:ctrlPr>
                              <a:rPr lang="zh-CN" altLang="en-US" sz="2000" i="1">
                                <a:latin typeface="Cambria Math" panose="02040503050406030204" pitchFamily="18" charset="0"/>
                              </a:rPr>
                            </m:ctrlPr>
                          </m:naryPr>
                          <m:sub>
                            <m:r>
                              <a:rPr lang="zh-CN" altLang="en-US" sz="2000" i="1">
                                <a:latin typeface="Cambria Math" panose="02040503050406030204" pitchFamily="18" charset="0"/>
                              </a:rPr>
                              <m:t>𝑘</m:t>
                            </m:r>
                            <m:r>
                              <a:rPr lang="zh-CN" altLang="en-US" sz="2000" i="0">
                                <a:latin typeface="Cambria Math" panose="02040503050406030204" pitchFamily="18" charset="0"/>
                              </a:rPr>
                              <m:t>=1</m:t>
                            </m:r>
                          </m:sub>
                          <m:sup>
                            <m:r>
                              <a:rPr lang="en-US" altLang="zh-CN" sz="2000" b="0" i="1" smtClean="0">
                                <a:latin typeface="Cambria Math" panose="02040503050406030204" pitchFamily="18" charset="0"/>
                              </a:rPr>
                              <m:t>𝑁</m:t>
                            </m:r>
                          </m:sup>
                          <m:e>
                            <m:d>
                              <m:dPr>
                                <m:begChr m:val=""/>
                                <m:ctrlPr>
                                  <a:rPr lang="zh-CN" altLang="en-US" sz="2000" i="1">
                                    <a:latin typeface="Cambria Math" panose="02040503050406030204" pitchFamily="18" charset="0"/>
                                  </a:rPr>
                                </m:ctrlPr>
                              </m:dPr>
                              <m:e>
                                <m:r>
                                  <m:rPr>
                                    <m:sty m:val="p"/>
                                  </m:rPr>
                                  <a:rPr lang="zh-CN" altLang="en-US" sz="2000" i="0">
                                    <a:latin typeface="Cambria Math" panose="02040503050406030204" pitchFamily="18" charset="0"/>
                                  </a:rPr>
                                  <m:t>ex</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p</m:t>
                                    </m:r>
                                  </m:fName>
                                  <m:e>
                                    <m:r>
                                      <a:rPr lang="zh-CN" altLang="en-US" sz="2000" i="0">
                                        <a:latin typeface="Cambria Math" panose="02040503050406030204" pitchFamily="18" charset="0"/>
                                      </a:rPr>
                                      <m:t>(</m:t>
                                    </m:r>
                                  </m:e>
                                </m:func>
                                <m:sSub>
                                  <m:sSubPr>
                                    <m:ctrlPr>
                                      <a:rPr lang="zh-CN" altLang="en-US" sz="2000" i="1">
                                        <a:latin typeface="Cambria Math" panose="02040503050406030204" pitchFamily="18" charset="0"/>
                                      </a:rPr>
                                    </m:ctrlPr>
                                  </m:sSubPr>
                                  <m:e>
                                    <m:r>
                                      <a:rPr lang="en-US" altLang="zh-CN" sz="2000" b="0" i="1" smtClean="0">
                                        <a:latin typeface="Cambria Math" panose="02040503050406030204" pitchFamily="18" charset="0"/>
                                      </a:rPr>
                                      <m:t>𝑢</m:t>
                                    </m:r>
                                  </m:e>
                                  <m:sub>
                                    <m:r>
                                      <a:rPr lang="zh-CN" altLang="en-US" sz="2000" i="1">
                                        <a:latin typeface="Cambria Math" panose="02040503050406030204" pitchFamily="18" charset="0"/>
                                      </a:rPr>
                                      <m:t>𝑘</m:t>
                                    </m:r>
                                  </m:sub>
                                </m:sSub>
                              </m:e>
                            </m:d>
                          </m:e>
                        </m:nary>
                      </m:den>
                    </m:f>
                  </m:oMath>
                </a14:m>
                <a:endParaRPr lang="zh-CN" altLang="en-US" sz="2000" dirty="0"/>
              </a:p>
            </p:txBody>
          </p:sp>
        </mc:Choice>
        <mc:Fallback>
          <p:sp>
            <p:nvSpPr>
              <p:cNvPr id="184" name="矩形 183">
                <a:extLst>
                  <a:ext uri="{FF2B5EF4-FFF2-40B4-BE49-F238E27FC236}">
                    <a16:creationId xmlns:a16="http://schemas.microsoft.com/office/drawing/2014/main" id="{8A921F0A-1BF5-490A-97A1-99EC66E174B0}"/>
                  </a:ext>
                </a:extLst>
              </p:cNvPr>
              <p:cNvSpPr>
                <a:spLocks noRot="1" noChangeAspect="1" noMove="1" noResize="1" noEditPoints="1" noAdjustHandles="1" noChangeArrowheads="1" noChangeShapeType="1" noTextEdit="1"/>
              </p:cNvSpPr>
              <p:nvPr/>
            </p:nvSpPr>
            <p:spPr>
              <a:xfrm>
                <a:off x="7327888" y="5405109"/>
                <a:ext cx="3893477" cy="658963"/>
              </a:xfrm>
              <a:prstGeom prst="rect">
                <a:avLst/>
              </a:prstGeom>
              <a:blipFill>
                <a:blip r:embed="rId7"/>
                <a:stretch>
                  <a:fillRect l="-15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31022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706F3D8F-FAAA-2140-B796-1157B4BE68D0}"/>
              </a:ext>
            </a:extLst>
          </p:cNvPr>
          <p:cNvGrpSpPr/>
          <p:nvPr/>
        </p:nvGrpSpPr>
        <p:grpSpPr>
          <a:xfrm>
            <a:off x="0" y="-1"/>
            <a:ext cx="12192000" cy="6858002"/>
            <a:chOff x="0" y="-1"/>
            <a:chExt cx="12192000" cy="6858002"/>
          </a:xfrm>
        </p:grpSpPr>
        <p:sp>
          <p:nvSpPr>
            <p:cNvPr id="41" name="矩形 40">
              <a:extLst>
                <a:ext uri="{FF2B5EF4-FFF2-40B4-BE49-F238E27FC236}">
                  <a16:creationId xmlns:a16="http://schemas.microsoft.com/office/drawing/2014/main" id="{91AEFDA7-4F58-8342-A9E1-CBBEDB06E01B}"/>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2" name="矩形 41">
              <a:extLst>
                <a:ext uri="{FF2B5EF4-FFF2-40B4-BE49-F238E27FC236}">
                  <a16:creationId xmlns:a16="http://schemas.microsoft.com/office/drawing/2014/main" id="{7519A2E4-7654-7049-8574-E43694ED98FB}"/>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3" name="矩形 42">
              <a:extLst>
                <a:ext uri="{FF2B5EF4-FFF2-40B4-BE49-F238E27FC236}">
                  <a16:creationId xmlns:a16="http://schemas.microsoft.com/office/drawing/2014/main" id="{3A78FB99-47D7-DA43-90CB-EBB967406AA4}"/>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44" name="组合 43">
            <a:extLst>
              <a:ext uri="{FF2B5EF4-FFF2-40B4-BE49-F238E27FC236}">
                <a16:creationId xmlns:a16="http://schemas.microsoft.com/office/drawing/2014/main" id="{77B7BD4A-0299-7142-A299-2C8531632FCA}"/>
              </a:ext>
            </a:extLst>
          </p:cNvPr>
          <p:cNvGrpSpPr/>
          <p:nvPr/>
        </p:nvGrpSpPr>
        <p:grpSpPr>
          <a:xfrm>
            <a:off x="133400" y="140547"/>
            <a:ext cx="11901234" cy="6795389"/>
            <a:chOff x="133400" y="140547"/>
            <a:chExt cx="11901234" cy="6795389"/>
          </a:xfrm>
        </p:grpSpPr>
        <p:pic>
          <p:nvPicPr>
            <p:cNvPr id="45" name="图片 44">
              <a:extLst>
                <a:ext uri="{FF2B5EF4-FFF2-40B4-BE49-F238E27FC236}">
                  <a16:creationId xmlns:a16="http://schemas.microsoft.com/office/drawing/2014/main" id="{5F8EFFCB-99B0-654F-8FED-0485190172FD}"/>
                </a:ext>
              </a:extLst>
            </p:cNvPr>
            <p:cNvPicPr>
              <a:picLocks noChangeAspect="1"/>
            </p:cNvPicPr>
            <p:nvPr/>
          </p:nvPicPr>
          <p:blipFill>
            <a:blip r:embed="rId3"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46" name="图片 45">
              <a:extLst>
                <a:ext uri="{FF2B5EF4-FFF2-40B4-BE49-F238E27FC236}">
                  <a16:creationId xmlns:a16="http://schemas.microsoft.com/office/drawing/2014/main" id="{93080F77-5917-384C-AFD1-66264B40DFAC}"/>
                </a:ext>
              </a:extLst>
            </p:cNvPr>
            <p:cNvPicPr>
              <a:picLocks noChangeAspect="1"/>
            </p:cNvPicPr>
            <p:nvPr/>
          </p:nvPicPr>
          <p:blipFill>
            <a:blip r:embed="rId4"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47" name="图片 46" descr="图片包含 游戏机, 画, 钟表&#10;&#10;描述已自动生成">
              <a:extLst>
                <a:ext uri="{FF2B5EF4-FFF2-40B4-BE49-F238E27FC236}">
                  <a16:creationId xmlns:a16="http://schemas.microsoft.com/office/drawing/2014/main" id="{FE29D0C4-9C03-A64C-8458-ED23D8D76224}"/>
                </a:ext>
              </a:extLst>
            </p:cNvPr>
            <p:cNvPicPr>
              <a:picLocks noChangeAspect="1"/>
            </p:cNvPicPr>
            <p:nvPr/>
          </p:nvPicPr>
          <p:blipFill>
            <a:blip r:embed="rId5"/>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572B192-1A8B-0944-BC5E-3183B0CBCBA6}"/>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主要工作</a:t>
            </a:r>
          </a:p>
        </p:txBody>
      </p:sp>
      <p:sp>
        <p:nvSpPr>
          <p:cNvPr id="14" name="文本框 13">
            <a:extLst>
              <a:ext uri="{FF2B5EF4-FFF2-40B4-BE49-F238E27FC236}">
                <a16:creationId xmlns:a16="http://schemas.microsoft.com/office/drawing/2014/main" id="{124A3600-F159-B64D-BF63-4388A1F5289C}"/>
              </a:ext>
            </a:extLst>
          </p:cNvPr>
          <p:cNvSpPr txBox="1"/>
          <p:nvPr/>
        </p:nvSpPr>
        <p:spPr>
          <a:xfrm>
            <a:off x="1314500" y="1305501"/>
            <a:ext cx="1481496" cy="400110"/>
          </a:xfrm>
          <a:prstGeom prst="rect">
            <a:avLst/>
          </a:prstGeom>
          <a:noFill/>
        </p:spPr>
        <p:txBody>
          <a:bodyPr wrap="none" rtlCol="0">
            <a:spAutoFit/>
          </a:bodyPr>
          <a:lstStyle/>
          <a:p>
            <a:pPr algn="l"/>
            <a:r>
              <a:rPr kumimoji="1" lang="en-US" altLang="zh-CN"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seq2seq</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endParaRPr>
          </a:p>
        </p:txBody>
      </p:sp>
      <p:cxnSp>
        <p:nvCxnSpPr>
          <p:cNvPr id="16" name="直线连接符 15">
            <a:extLst>
              <a:ext uri="{FF2B5EF4-FFF2-40B4-BE49-F238E27FC236}">
                <a16:creationId xmlns:a16="http://schemas.microsoft.com/office/drawing/2014/main" id="{D8648111-DA66-0C4F-8D4E-74F9F9E79346}"/>
              </a:ext>
            </a:extLst>
          </p:cNvPr>
          <p:cNvCxnSpPr>
            <a:cxnSpLocks/>
          </p:cNvCxnSpPr>
          <p:nvPr/>
        </p:nvCxnSpPr>
        <p:spPr>
          <a:xfrm>
            <a:off x="1314500" y="1791497"/>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107" name="图片 106">
            <a:extLst>
              <a:ext uri="{FF2B5EF4-FFF2-40B4-BE49-F238E27FC236}">
                <a16:creationId xmlns:a16="http://schemas.microsoft.com/office/drawing/2014/main" id="{52491525-8A43-4AF7-B183-22E99423872F}"/>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1008330" y="1877384"/>
            <a:ext cx="4195266" cy="4140157"/>
          </a:xfrm>
          <a:prstGeom prst="rect">
            <a:avLst/>
          </a:prstGeom>
        </p:spPr>
      </p:pic>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E7F5472F-44DD-42DB-B1A3-C720EE86A85D}"/>
                  </a:ext>
                </a:extLst>
              </p:cNvPr>
              <p:cNvSpPr txBox="1"/>
              <p:nvPr/>
            </p:nvSpPr>
            <p:spPr>
              <a:xfrm>
                <a:off x="5524107" y="2356701"/>
                <a:ext cx="6061435" cy="3109184"/>
              </a:xfrm>
              <a:prstGeom prst="rect">
                <a:avLst/>
              </a:prstGeom>
              <a:noFill/>
            </p:spPr>
            <p:txBody>
              <a:bodyPr wrap="square" rtlCol="0">
                <a:spAutoFit/>
              </a:bodyPr>
              <a:lstStyle/>
              <a:p>
                <a:pPr indent="304800" algn="just">
                  <a:lnSpc>
                    <a:spcPct val="150000"/>
                  </a:lnSpc>
                  <a:spcAft>
                    <a:spcPts val="0"/>
                  </a:spcAft>
                </a:pPr>
                <a:r>
                  <a:rPr lang="zh-CN" altLang="zh-CN" sz="1200" kern="100" dirty="0">
                    <a:solidFill>
                      <a:srgbClr val="000000"/>
                    </a:solidFill>
                    <a:latin typeface="Times New Roman" panose="02020603050405020304" pitchFamily="18" charset="0"/>
                    <a:ea typeface="宋体" panose="02010600030101010101" pitchFamily="2" charset="-122"/>
                  </a:rPr>
                  <a:t>模型接受一个序列作为输入，并将序列中的信息编码为中间表示，然后解码器解码中间表示为目标语言。</a:t>
                </a:r>
                <a:endParaRPr lang="en-US" altLang="zh-CN" sz="1200" kern="100" dirty="0">
                  <a:solidFill>
                    <a:srgbClr val="000000"/>
                  </a:solidFill>
                  <a:latin typeface="Times New Roman" panose="02020603050405020304" pitchFamily="18" charset="0"/>
                  <a:ea typeface="宋体" panose="02010600030101010101" pitchFamily="2" charset="-122"/>
                </a:endParaRPr>
              </a:p>
              <a:p>
                <a:pPr indent="304800" algn="just">
                  <a:lnSpc>
                    <a:spcPct val="150000"/>
                  </a:lnSpc>
                  <a:spcAft>
                    <a:spcPts val="0"/>
                  </a:spcAft>
                </a:pPr>
                <a:r>
                  <a:rPr lang="zh-CN" altLang="zh-CN" sz="1200" kern="100" dirty="0">
                    <a:solidFill>
                      <a:srgbClr val="000000"/>
                    </a:solidFill>
                    <a:latin typeface="Times New Roman" panose="02020603050405020304" pitchFamily="18" charset="0"/>
                    <a:ea typeface="宋体" panose="02010600030101010101" pitchFamily="2" charset="-122"/>
                  </a:rPr>
                  <a:t>编码器把一个不定长的输入序列</a:t>
                </a:r>
                <a:r>
                  <a:rPr lang="en-US" altLang="zh-CN" sz="1200" kern="100" dirty="0">
                    <a:solidFill>
                      <a:srgbClr val="000000"/>
                    </a:solidFill>
                    <a:latin typeface="Times New Roman" panose="02020603050405020304" pitchFamily="18" charset="0"/>
                    <a:ea typeface="宋体" panose="02010600030101010101" pitchFamily="2" charset="-122"/>
                  </a:rPr>
                  <a:t>x1,x2,…</a:t>
                </a:r>
                <a:r>
                  <a:rPr lang="en-US" altLang="zh-CN" sz="1200" kern="100" dirty="0" err="1">
                    <a:solidFill>
                      <a:srgbClr val="000000"/>
                    </a:solidFill>
                    <a:latin typeface="Times New Roman" panose="02020603050405020304" pitchFamily="18" charset="0"/>
                    <a:ea typeface="宋体" panose="02010600030101010101" pitchFamily="2" charset="-122"/>
                  </a:rPr>
                  <a:t>x</a:t>
                </a:r>
                <a:r>
                  <a:rPr lang="en-US" altLang="zh-CN" sz="1200" kern="100" baseline="-25000" dirty="0" err="1">
                    <a:solidFill>
                      <a:srgbClr val="000000"/>
                    </a:solidFill>
                    <a:latin typeface="Times New Roman" panose="02020603050405020304" pitchFamily="18" charset="0"/>
                    <a:ea typeface="宋体" panose="02010600030101010101" pitchFamily="2" charset="-122"/>
                  </a:rPr>
                  <a:t>T</a:t>
                </a:r>
                <a:r>
                  <a:rPr lang="zh-CN" altLang="zh-CN" sz="1200" kern="100" dirty="0">
                    <a:solidFill>
                      <a:srgbClr val="000000"/>
                    </a:solidFill>
                    <a:latin typeface="Times New Roman" panose="02020603050405020304" pitchFamily="18" charset="0"/>
                    <a:ea typeface="宋体" panose="02010600030101010101" pitchFamily="2" charset="-122"/>
                  </a:rPr>
                  <a:t>转化成一个定长的</a:t>
                </a:r>
                <a:r>
                  <a:rPr lang="en-US" altLang="zh-CN" sz="1200" kern="100" dirty="0">
                    <a:solidFill>
                      <a:srgbClr val="000000"/>
                    </a:solidFill>
                    <a:latin typeface="Times New Roman" panose="02020603050405020304" pitchFamily="18" charset="0"/>
                    <a:ea typeface="宋体" panose="02010600030101010101" pitchFamily="2" charset="-122"/>
                  </a:rPr>
                  <a:t>context vector C</a:t>
                </a:r>
                <a:r>
                  <a:rPr lang="zh-CN" altLang="zh-CN" sz="1200" kern="100" dirty="0">
                    <a:solidFill>
                      <a:srgbClr val="000000"/>
                    </a:solidFill>
                    <a:latin typeface="Times New Roman" panose="02020603050405020304" pitchFamily="18" charset="0"/>
                    <a:ea typeface="宋体" panose="02010600030101010101" pitchFamily="2" charset="-122"/>
                  </a:rPr>
                  <a:t>，该</a:t>
                </a:r>
                <a:r>
                  <a:rPr lang="en-US" altLang="zh-CN" sz="1200" kern="100" dirty="0">
                    <a:solidFill>
                      <a:srgbClr val="000000"/>
                    </a:solidFill>
                    <a:latin typeface="Times New Roman" panose="02020603050405020304" pitchFamily="18" charset="0"/>
                    <a:ea typeface="宋体" panose="02010600030101010101" pitchFamily="2" charset="-122"/>
                  </a:rPr>
                  <a:t>context vector</a:t>
                </a:r>
                <a:r>
                  <a:rPr lang="zh-CN" altLang="en-US" sz="1200" kern="100" dirty="0">
                    <a:solidFill>
                      <a:srgbClr val="000000"/>
                    </a:solidFill>
                    <a:latin typeface="Times New Roman" panose="02020603050405020304" pitchFamily="18" charset="0"/>
                    <a:ea typeface="宋体" panose="02010600030101010101" pitchFamily="2" charset="-122"/>
                  </a:rPr>
                  <a:t>存储了</a:t>
                </a:r>
                <a:r>
                  <a:rPr lang="zh-CN" altLang="zh-CN" sz="1200" kern="100" dirty="0">
                    <a:solidFill>
                      <a:srgbClr val="000000"/>
                    </a:solidFill>
                    <a:latin typeface="Times New Roman" panose="02020603050405020304" pitchFamily="18" charset="0"/>
                    <a:ea typeface="宋体" panose="02010600030101010101" pitchFamily="2" charset="-122"/>
                  </a:rPr>
                  <a:t>输入序列</a:t>
                </a:r>
                <a:r>
                  <a:rPr lang="zh-CN" altLang="en-US" sz="1200" kern="100" dirty="0">
                    <a:solidFill>
                      <a:srgbClr val="000000"/>
                    </a:solidFill>
                    <a:latin typeface="Times New Roman" panose="02020603050405020304" pitchFamily="18" charset="0"/>
                    <a:ea typeface="宋体" panose="02010600030101010101" pitchFamily="2" charset="-122"/>
                  </a:rPr>
                  <a:t>的信息</a:t>
                </a:r>
                <a:r>
                  <a:rPr lang="zh-CN" altLang="zh-CN" sz="1200" kern="100" dirty="0">
                    <a:solidFill>
                      <a:srgbClr val="000000"/>
                    </a:solidFill>
                    <a:latin typeface="Times New Roman" panose="02020603050405020304" pitchFamily="18" charset="0"/>
                    <a:ea typeface="宋体" panose="02010600030101010101" pitchFamily="2" charset="-122"/>
                  </a:rPr>
                  <a:t>。假定本文中循环网络单元为 </a:t>
                </a:r>
                <a14:m>
                  <m:oMath xmlns:m="http://schemas.openxmlformats.org/officeDocument/2006/math">
                    <m:r>
                      <a:rPr lang="en-US" altLang="zh-CN" sz="1200" i="1" kern="100">
                        <a:solidFill>
                          <a:srgbClr val="000000"/>
                        </a:solidFill>
                        <a:latin typeface="Cambria Math" panose="02040503050406030204" pitchFamily="18" charset="0"/>
                        <a:ea typeface="宋体" panose="02010600030101010101" pitchFamily="2" charset="-122"/>
                      </a:rPr>
                      <m:t>ℋ</m:t>
                    </m:r>
                  </m:oMath>
                </a14:m>
                <a:r>
                  <a:rPr lang="zh-CN" altLang="zh-CN" sz="1200" kern="100" dirty="0">
                    <a:solidFill>
                      <a:srgbClr val="000000"/>
                    </a:solidFill>
                    <a:latin typeface="Times New Roman" panose="02020603050405020304" pitchFamily="18" charset="0"/>
                    <a:ea typeface="宋体" panose="02010600030101010101" pitchFamily="2" charset="-122"/>
                  </a:rPr>
                  <a:t>，那么隐藏层为</a:t>
                </a:r>
                <a14:m>
                  <m:oMath xmlns:m="http://schemas.openxmlformats.org/officeDocument/2006/math">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h</m:t>
                        </m:r>
                      </m:e>
                      <m:sub>
                        <m:r>
                          <a:rPr lang="en-US" altLang="zh-CN" sz="1200" i="1" kern="100">
                            <a:solidFill>
                              <a:srgbClr val="000000"/>
                            </a:solidFill>
                            <a:latin typeface="Cambria Math" panose="02040503050406030204" pitchFamily="18" charset="0"/>
                            <a:ea typeface="宋体" panose="02010600030101010101" pitchFamily="2" charset="-122"/>
                          </a:rPr>
                          <m:t>𝑡</m:t>
                        </m:r>
                      </m:sub>
                    </m:sSub>
                    <m:r>
                      <a:rPr lang="en-US" altLang="zh-CN" sz="1200" i="1" kern="100">
                        <a:solidFill>
                          <a:srgbClr val="000000"/>
                        </a:solidFill>
                        <a:latin typeface="Cambria Math" panose="02040503050406030204" pitchFamily="18" charset="0"/>
                        <a:ea typeface="宋体" panose="02010600030101010101" pitchFamily="2" charset="-122"/>
                      </a:rPr>
                      <m:t>=</m:t>
                    </m:r>
                    <m:r>
                      <a:rPr lang="en-US" altLang="zh-CN" sz="1200" i="1" kern="100">
                        <a:solidFill>
                          <a:srgbClr val="000000"/>
                        </a:solidFill>
                        <a:latin typeface="Cambria Math" panose="02040503050406030204" pitchFamily="18" charset="0"/>
                        <a:ea typeface="宋体" panose="02010600030101010101" pitchFamily="2" charset="-122"/>
                      </a:rPr>
                      <m:t>ℋ</m:t>
                    </m:r>
                    <m:r>
                      <a:rPr lang="en-US" altLang="zh-CN" sz="1200" kern="100">
                        <a:solidFill>
                          <a:srgbClr val="000000"/>
                        </a:solidFill>
                        <a:latin typeface="Cambria Math" panose="02040503050406030204" pitchFamily="18" charset="0"/>
                        <a:ea typeface="宋体" panose="02010600030101010101" pitchFamily="2" charset="-122"/>
                      </a:rPr>
                      <m:t>(</m:t>
                    </m:r>
                    <m:r>
                      <m:rPr>
                        <m:sty m:val="p"/>
                      </m:rPr>
                      <a:rPr lang="en-US" altLang="zh-CN" sz="1200" kern="100">
                        <a:solidFill>
                          <a:srgbClr val="000000"/>
                        </a:solidFill>
                        <a:latin typeface="Cambria Math" panose="02040503050406030204" pitchFamily="18" charset="0"/>
                        <a:ea typeface="宋体" panose="02010600030101010101" pitchFamily="2" charset="-122"/>
                      </a:rPr>
                      <m:t>xt</m:t>
                    </m:r>
                    <m:r>
                      <a:rPr lang="en-US" altLang="zh-CN" sz="1200" kern="100">
                        <a:solidFill>
                          <a:srgbClr val="000000"/>
                        </a:solidFill>
                        <a:latin typeface="Cambria Math" panose="02040503050406030204" pitchFamily="18" charset="0"/>
                        <a:ea typeface="宋体" panose="02010600030101010101" pitchFamily="2" charset="-122"/>
                      </a:rPr>
                      <m:t>,</m:t>
                    </m:r>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h</m:t>
                        </m:r>
                      </m:e>
                      <m:sub>
                        <m:r>
                          <a:rPr lang="en-US" altLang="zh-CN" sz="1200" i="1" kern="100">
                            <a:solidFill>
                              <a:srgbClr val="000000"/>
                            </a:solidFill>
                            <a:latin typeface="Cambria Math" panose="02040503050406030204" pitchFamily="18" charset="0"/>
                            <a:ea typeface="宋体" panose="02010600030101010101" pitchFamily="2" charset="-122"/>
                          </a:rPr>
                          <m:t>𝑡</m:t>
                        </m:r>
                        <m:r>
                          <a:rPr lang="en-US" altLang="zh-CN" sz="1200" i="1" kern="100">
                            <a:solidFill>
                              <a:srgbClr val="000000"/>
                            </a:solidFill>
                            <a:latin typeface="Cambria Math" panose="02040503050406030204" pitchFamily="18" charset="0"/>
                            <a:ea typeface="宋体" panose="02010600030101010101" pitchFamily="2" charset="-122"/>
                          </a:rPr>
                          <m:t>−1</m:t>
                        </m:r>
                      </m:sub>
                    </m:sSub>
                    <m:r>
                      <a:rPr lang="en-US" altLang="zh-CN" sz="1200" kern="100">
                        <a:solidFill>
                          <a:srgbClr val="000000"/>
                        </a:solidFill>
                        <a:latin typeface="Cambria Math" panose="02040503050406030204" pitchFamily="18" charset="0"/>
                        <a:ea typeface="宋体" panose="02010600030101010101" pitchFamily="2" charset="-122"/>
                      </a:rPr>
                      <m:t>)</m:t>
                    </m:r>
                  </m:oMath>
                </a14:m>
                <a:r>
                  <a:rPr lang="zh-CN" altLang="zh-CN" sz="1200" kern="100" dirty="0">
                    <a:solidFill>
                      <a:srgbClr val="000000"/>
                    </a:solidFill>
                    <a:latin typeface="Times New Roman" panose="02020603050405020304" pitchFamily="18" charset="0"/>
                    <a:ea typeface="宋体" panose="02010600030101010101" pitchFamily="2" charset="-122"/>
                  </a:rPr>
                  <a:t>，那么编码器的</a:t>
                </a:r>
                <a:r>
                  <a:rPr lang="en-US" altLang="zh-CN" sz="1200" kern="100" dirty="0">
                    <a:solidFill>
                      <a:srgbClr val="000000"/>
                    </a:solidFill>
                    <a:latin typeface="Times New Roman" panose="02020603050405020304" pitchFamily="18" charset="0"/>
                    <a:ea typeface="宋体" panose="02010600030101010101" pitchFamily="2" charset="-122"/>
                  </a:rPr>
                  <a:t>context vector</a:t>
                </a:r>
                <a:r>
                  <a:rPr lang="zh-CN" altLang="zh-CN" sz="1200" kern="100" dirty="0">
                    <a:solidFill>
                      <a:srgbClr val="000000"/>
                    </a:solidFill>
                    <a:latin typeface="Times New Roman" panose="02020603050405020304" pitchFamily="18" charset="0"/>
                    <a:ea typeface="宋体" panose="02010600030101010101" pitchFamily="2" charset="-122"/>
                  </a:rPr>
                  <a:t>是所有时刻隐藏层的函数，即：</a:t>
                </a:r>
                <a14:m>
                  <m:oMath xmlns:m="http://schemas.openxmlformats.org/officeDocument/2006/math">
                    <m:r>
                      <a:rPr lang="en-US" altLang="zh-CN" sz="1200" i="1" kern="100">
                        <a:solidFill>
                          <a:srgbClr val="000000"/>
                        </a:solidFill>
                        <a:latin typeface="Cambria Math" panose="02040503050406030204" pitchFamily="18" charset="0"/>
                        <a:ea typeface="宋体" panose="02010600030101010101" pitchFamily="2" charset="-122"/>
                      </a:rPr>
                      <m:t>𝑐</m:t>
                    </m:r>
                    <m:r>
                      <a:rPr lang="en-US" altLang="zh-CN" sz="1200" i="1" kern="100">
                        <a:solidFill>
                          <a:srgbClr val="000000"/>
                        </a:solidFill>
                        <a:latin typeface="Cambria Math" panose="02040503050406030204" pitchFamily="18" charset="0"/>
                        <a:ea typeface="宋体" panose="02010600030101010101" pitchFamily="2" charset="-122"/>
                      </a:rPr>
                      <m:t>=</m:t>
                    </m:r>
                    <m:r>
                      <a:rPr lang="en-US" altLang="zh-CN" sz="1200" i="1" kern="100">
                        <a:solidFill>
                          <a:srgbClr val="000000"/>
                        </a:solidFill>
                        <a:latin typeface="Cambria Math" panose="02040503050406030204" pitchFamily="18" charset="0"/>
                        <a:ea typeface="宋体" panose="02010600030101010101" pitchFamily="2" charset="-122"/>
                      </a:rPr>
                      <m:t>𝑞</m:t>
                    </m:r>
                    <m:r>
                      <a:rPr lang="en-US" altLang="zh-CN" sz="1200" i="1" kern="100">
                        <a:solidFill>
                          <a:srgbClr val="000000"/>
                        </a:solidFill>
                        <a:latin typeface="Cambria Math" panose="02040503050406030204" pitchFamily="18" charset="0"/>
                        <a:ea typeface="宋体" panose="02010600030101010101" pitchFamily="2" charset="-122"/>
                      </a:rPr>
                      <m:t>(</m:t>
                    </m:r>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h</m:t>
                        </m:r>
                      </m:e>
                      <m:sub>
                        <m:r>
                          <a:rPr lang="en-US" altLang="zh-CN" sz="1200" i="1" kern="100">
                            <a:solidFill>
                              <a:srgbClr val="000000"/>
                            </a:solidFill>
                            <a:latin typeface="Cambria Math" panose="02040503050406030204" pitchFamily="18" charset="0"/>
                            <a:ea typeface="宋体" panose="02010600030101010101" pitchFamily="2" charset="-122"/>
                          </a:rPr>
                          <m:t>1</m:t>
                        </m:r>
                      </m:sub>
                    </m:sSub>
                    <m:r>
                      <a:rPr lang="en-US" altLang="zh-CN" sz="1200" i="1" kern="100">
                        <a:solidFill>
                          <a:srgbClr val="000000"/>
                        </a:solidFill>
                        <a:latin typeface="Cambria Math" panose="02040503050406030204" pitchFamily="18" charset="0"/>
                        <a:ea typeface="宋体" panose="02010600030101010101" pitchFamily="2" charset="-122"/>
                      </a:rPr>
                      <m:t>,…,</m:t>
                    </m:r>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h</m:t>
                        </m:r>
                      </m:e>
                      <m:sub>
                        <m:r>
                          <a:rPr lang="en-US" altLang="zh-CN" sz="1200" i="1" kern="100">
                            <a:solidFill>
                              <a:srgbClr val="000000"/>
                            </a:solidFill>
                            <a:latin typeface="Cambria Math" panose="02040503050406030204" pitchFamily="18" charset="0"/>
                            <a:ea typeface="宋体" panose="02010600030101010101" pitchFamily="2" charset="-122"/>
                          </a:rPr>
                          <m:t>𝑇</m:t>
                        </m:r>
                      </m:sub>
                    </m:sSub>
                    <m:r>
                      <a:rPr lang="en-US" altLang="zh-CN" sz="1200" i="1" kern="100">
                        <a:solidFill>
                          <a:srgbClr val="000000"/>
                        </a:solidFill>
                        <a:latin typeface="Cambria Math" panose="02040503050406030204" pitchFamily="18" charset="0"/>
                        <a:ea typeface="宋体" panose="02010600030101010101" pitchFamily="2" charset="-122"/>
                      </a:rPr>
                      <m:t>)</m:t>
                    </m:r>
                  </m:oMath>
                </a14:m>
                <a:r>
                  <a:rPr lang="zh-CN" altLang="zh-CN" sz="1200" kern="100" dirty="0">
                    <a:solidFill>
                      <a:srgbClr val="000000"/>
                    </a:solidFill>
                    <a:latin typeface="Times New Roman" panose="02020603050405020304" pitchFamily="18" charset="0"/>
                    <a:ea typeface="宋体" panose="02010600030101010101" pitchFamily="2" charset="-122"/>
                  </a:rPr>
                  <a:t>，一般来讲，可以把最终时刻的隐藏层</a:t>
                </a:r>
                <a14:m>
                  <m:oMath xmlns:m="http://schemas.openxmlformats.org/officeDocument/2006/math">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kern="100">
                            <a:solidFill>
                              <a:srgbClr val="000000"/>
                            </a:solidFill>
                            <a:latin typeface="Cambria Math" panose="02040503050406030204" pitchFamily="18" charset="0"/>
                            <a:ea typeface="宋体" panose="02010600030101010101" pitchFamily="2" charset="-122"/>
                          </a:rPr>
                          <m:t> </m:t>
                        </m:r>
                        <m:r>
                          <m:rPr>
                            <m:sty m:val="p"/>
                          </m:rPr>
                          <a:rPr lang="en-US" altLang="zh-CN" sz="1200" kern="100">
                            <a:solidFill>
                              <a:srgbClr val="000000"/>
                            </a:solidFill>
                            <a:latin typeface="Cambria Math" panose="02040503050406030204" pitchFamily="18" charset="0"/>
                            <a:ea typeface="宋体" panose="02010600030101010101" pitchFamily="2" charset="-122"/>
                          </a:rPr>
                          <m:t>h</m:t>
                        </m:r>
                      </m:e>
                      <m:sub>
                        <m:r>
                          <m:rPr>
                            <m:sty m:val="p"/>
                          </m:rPr>
                          <a:rPr lang="en-US" altLang="zh-CN" sz="1200" kern="100">
                            <a:solidFill>
                              <a:srgbClr val="000000"/>
                            </a:solidFill>
                            <a:latin typeface="Cambria Math" panose="02040503050406030204" pitchFamily="18" charset="0"/>
                            <a:ea typeface="宋体" panose="02010600030101010101" pitchFamily="2" charset="-122"/>
                          </a:rPr>
                          <m:t>T</m:t>
                        </m:r>
                      </m:sub>
                    </m:sSub>
                    <m:r>
                      <a:rPr lang="en-US" altLang="zh-CN" sz="1200" i="1" kern="100">
                        <a:solidFill>
                          <a:srgbClr val="000000"/>
                        </a:solidFill>
                        <a:latin typeface="Cambria Math" panose="02040503050406030204" pitchFamily="18" charset="0"/>
                        <a:ea typeface="宋体" panose="02010600030101010101" pitchFamily="2" charset="-122"/>
                      </a:rPr>
                      <m:t> </m:t>
                    </m:r>
                  </m:oMath>
                </a14:m>
                <a:r>
                  <a:rPr lang="zh-CN" altLang="zh-CN" sz="1200" kern="100" dirty="0">
                    <a:solidFill>
                      <a:srgbClr val="000000"/>
                    </a:solidFill>
                    <a:latin typeface="Times New Roman" panose="02020603050405020304" pitchFamily="18" charset="0"/>
                    <a:ea typeface="宋体" panose="02010600030101010101" pitchFamily="2" charset="-122"/>
                  </a:rPr>
                  <a:t>作为</a:t>
                </a:r>
                <a:r>
                  <a:rPr lang="en-US" altLang="zh-CN" sz="1200" kern="100" dirty="0">
                    <a:solidFill>
                      <a:srgbClr val="000000"/>
                    </a:solidFill>
                    <a:latin typeface="Times New Roman" panose="02020603050405020304" pitchFamily="18" charset="0"/>
                    <a:ea typeface="宋体" panose="02010600030101010101" pitchFamily="2" charset="-122"/>
                  </a:rPr>
                  <a:t>context vector</a:t>
                </a:r>
                <a:r>
                  <a:rPr lang="zh-CN" altLang="zh-CN" sz="1200" kern="100" dirty="0">
                    <a:solidFill>
                      <a:srgbClr val="000000"/>
                    </a:solidFill>
                    <a:latin typeface="Times New Roman" panose="02020603050405020304" pitchFamily="18" charset="0"/>
                    <a:ea typeface="宋体" panose="02010600030101010101" pitchFamily="2" charset="-122"/>
                  </a:rPr>
                  <a:t>，也可以取各个时刻隐藏层的平均。</a:t>
                </a:r>
                <a:endParaRPr lang="en-US" altLang="zh-CN" sz="1200" kern="100" dirty="0">
                  <a:solidFill>
                    <a:srgbClr val="000000"/>
                  </a:solidFill>
                  <a:latin typeface="Times New Roman" panose="02020603050405020304" pitchFamily="18" charset="0"/>
                  <a:ea typeface="宋体" panose="02010600030101010101" pitchFamily="2" charset="-122"/>
                </a:endParaRPr>
              </a:p>
              <a:p>
                <a:pPr indent="304800" algn="just">
                  <a:lnSpc>
                    <a:spcPct val="150000"/>
                  </a:lnSpc>
                  <a:spcAft>
                    <a:spcPts val="0"/>
                  </a:spcAft>
                </a:pPr>
                <a:r>
                  <a:rPr lang="zh-CN" altLang="zh-CN" sz="1200" kern="100" dirty="0">
                    <a:solidFill>
                      <a:srgbClr val="000000"/>
                    </a:solidFill>
                    <a:latin typeface="Times New Roman" panose="02020603050405020304" pitchFamily="18" charset="0"/>
                    <a:ea typeface="宋体" panose="02010600030101010101" pitchFamily="2" charset="-122"/>
                  </a:rPr>
                  <a:t>假设训练数据中的输出序列为</a:t>
                </a:r>
                <a14:m>
                  <m:oMath xmlns:m="http://schemas.openxmlformats.org/officeDocument/2006/math">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𝑦</m:t>
                        </m:r>
                      </m:e>
                      <m:sub>
                        <m:r>
                          <a:rPr lang="en-US" altLang="zh-CN" sz="1200" i="1" kern="100">
                            <a:solidFill>
                              <a:srgbClr val="000000"/>
                            </a:solidFill>
                            <a:latin typeface="Cambria Math" panose="02040503050406030204" pitchFamily="18" charset="0"/>
                            <a:ea typeface="宋体" panose="02010600030101010101" pitchFamily="2" charset="-122"/>
                          </a:rPr>
                          <m:t>1</m:t>
                        </m:r>
                      </m:sub>
                    </m:sSub>
                    <m:r>
                      <a:rPr lang="en-US" altLang="zh-CN" sz="1200" i="1" kern="100">
                        <a:solidFill>
                          <a:srgbClr val="000000"/>
                        </a:solidFill>
                        <a:latin typeface="Cambria Math" panose="02040503050406030204" pitchFamily="18" charset="0"/>
                        <a:ea typeface="宋体" panose="02010600030101010101" pitchFamily="2" charset="-122"/>
                      </a:rPr>
                      <m:t>,…,</m:t>
                    </m:r>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𝑦</m:t>
                        </m:r>
                      </m:e>
                      <m:sub>
                        <m:r>
                          <a:rPr lang="en-US" altLang="zh-CN" sz="1200" i="1" kern="100">
                            <a:solidFill>
                              <a:srgbClr val="000000"/>
                            </a:solidFill>
                            <a:latin typeface="Cambria Math" panose="02040503050406030204" pitchFamily="18" charset="0"/>
                            <a:ea typeface="宋体" panose="02010600030101010101" pitchFamily="2" charset="-122"/>
                          </a:rPr>
                          <m:t>𝑇</m:t>
                        </m:r>
                      </m:sub>
                    </m:sSub>
                  </m:oMath>
                </a14:m>
                <a:r>
                  <a:rPr lang="zh-CN" altLang="zh-CN" sz="1200" kern="100" dirty="0">
                    <a:solidFill>
                      <a:srgbClr val="000000"/>
                    </a:solidFill>
                    <a:latin typeface="Times New Roman" panose="02020603050405020304" pitchFamily="18" charset="0"/>
                    <a:ea typeface="宋体" panose="02010600030101010101" pitchFamily="2" charset="-122"/>
                  </a:rPr>
                  <a:t>，解码器</a:t>
                </a:r>
                <a:r>
                  <a:rPr lang="en-US" altLang="zh-CN" sz="1200" kern="100" dirty="0">
                    <a:solidFill>
                      <a:srgbClr val="000000"/>
                    </a:solidFill>
                    <a:latin typeface="Times New Roman" panose="02020603050405020304" pitchFamily="18" charset="0"/>
                    <a:ea typeface="宋体" panose="02010600030101010101" pitchFamily="2" charset="-122"/>
                  </a:rPr>
                  <a:t>Decoder</a:t>
                </a:r>
                <a:r>
                  <a:rPr lang="zh-CN" altLang="zh-CN" sz="1200" kern="100" dirty="0">
                    <a:solidFill>
                      <a:srgbClr val="000000"/>
                    </a:solidFill>
                    <a:latin typeface="Times New Roman" panose="02020603050405020304" pitchFamily="18" charset="0"/>
                    <a:ea typeface="宋体" panose="02010600030101010101" pitchFamily="2" charset="-122"/>
                  </a:rPr>
                  <a:t>接收到</a:t>
                </a:r>
                <a:r>
                  <a:rPr lang="en-US" altLang="zh-CN" sz="1200" kern="100" dirty="0">
                    <a:solidFill>
                      <a:srgbClr val="000000"/>
                    </a:solidFill>
                    <a:latin typeface="Times New Roman" panose="02020603050405020304" pitchFamily="18" charset="0"/>
                    <a:ea typeface="宋体" panose="02010600030101010101" pitchFamily="2" charset="-122"/>
                  </a:rPr>
                  <a:t>context vector C</a:t>
                </a:r>
                <a:r>
                  <a:rPr lang="zh-CN" altLang="zh-CN" sz="1200" kern="100" dirty="0">
                    <a:solidFill>
                      <a:srgbClr val="000000"/>
                    </a:solidFill>
                    <a:latin typeface="Times New Roman" panose="02020603050405020304" pitchFamily="18" charset="0"/>
                    <a:ea typeface="宋体" panose="02010600030101010101" pitchFamily="2" charset="-122"/>
                  </a:rPr>
                  <a:t>后，对</a:t>
                </a:r>
                <a14:m>
                  <m:oMath xmlns:m="http://schemas.openxmlformats.org/officeDocument/2006/math">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𝑦</m:t>
                        </m:r>
                      </m:e>
                      <m:sub>
                        <m:r>
                          <a:rPr lang="en-US" altLang="zh-CN" sz="1200" i="1" kern="100">
                            <a:solidFill>
                              <a:srgbClr val="000000"/>
                            </a:solidFill>
                            <a:latin typeface="Cambria Math" panose="02040503050406030204" pitchFamily="18" charset="0"/>
                            <a:ea typeface="宋体" panose="02010600030101010101" pitchFamily="2" charset="-122"/>
                          </a:rPr>
                          <m:t>𝑡</m:t>
                        </m:r>
                      </m:sub>
                    </m:sSub>
                  </m:oMath>
                </a14:m>
                <a:r>
                  <a:rPr lang="zh-CN" altLang="zh-CN" sz="1200" kern="100" dirty="0">
                    <a:solidFill>
                      <a:srgbClr val="000000"/>
                    </a:solidFill>
                    <a:latin typeface="Times New Roman" panose="02020603050405020304" pitchFamily="18" charset="0"/>
                    <a:ea typeface="宋体" panose="02010600030101010101" pitchFamily="2" charset="-122"/>
                  </a:rPr>
                  <a:t>进行估计，即计算</a:t>
                </a:r>
                <a14:m>
                  <m:oMath xmlns:m="http://schemas.openxmlformats.org/officeDocument/2006/math">
                    <m:r>
                      <a:rPr lang="en-US" altLang="zh-CN" sz="1200" i="1" kern="100">
                        <a:solidFill>
                          <a:srgbClr val="000000"/>
                        </a:solidFill>
                        <a:latin typeface="Cambria Math" panose="02040503050406030204" pitchFamily="18" charset="0"/>
                        <a:ea typeface="宋体" panose="02010600030101010101" pitchFamily="2" charset="-122"/>
                      </a:rPr>
                      <m:t>𝑃</m:t>
                    </m:r>
                    <m:r>
                      <a:rPr lang="en-US" altLang="zh-CN" sz="1200" i="1" kern="100">
                        <a:solidFill>
                          <a:srgbClr val="000000"/>
                        </a:solidFill>
                        <a:latin typeface="Cambria Math" panose="02040503050406030204" pitchFamily="18" charset="0"/>
                        <a:ea typeface="宋体" panose="02010600030101010101" pitchFamily="2" charset="-122"/>
                      </a:rPr>
                      <m:t>(</m:t>
                    </m:r>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𝑦</m:t>
                        </m:r>
                      </m:e>
                      <m:sub>
                        <m:r>
                          <a:rPr lang="en-US" altLang="zh-CN" sz="1200" i="1" kern="100">
                            <a:solidFill>
                              <a:srgbClr val="000000"/>
                            </a:solidFill>
                            <a:latin typeface="Cambria Math" panose="02040503050406030204" pitchFamily="18" charset="0"/>
                            <a:ea typeface="宋体" panose="02010600030101010101" pitchFamily="2" charset="-122"/>
                          </a:rPr>
                          <m:t>𝑡</m:t>
                        </m:r>
                      </m:sub>
                    </m:sSub>
                    <m:r>
                      <a:rPr lang="en-US" altLang="zh-CN" sz="1200" i="1" kern="100">
                        <a:solidFill>
                          <a:srgbClr val="000000"/>
                        </a:solidFill>
                        <a:latin typeface="Cambria Math" panose="02040503050406030204" pitchFamily="18" charset="0"/>
                        <a:ea typeface="宋体" panose="02010600030101010101" pitchFamily="2" charset="-122"/>
                      </a:rPr>
                      <m:t>|</m:t>
                    </m:r>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𝑦</m:t>
                        </m:r>
                      </m:e>
                      <m:sub>
                        <m:r>
                          <a:rPr lang="en-US" altLang="zh-CN" sz="1200" i="1" kern="100">
                            <a:solidFill>
                              <a:srgbClr val="000000"/>
                            </a:solidFill>
                            <a:latin typeface="Cambria Math" panose="02040503050406030204" pitchFamily="18" charset="0"/>
                            <a:ea typeface="宋体" panose="02010600030101010101" pitchFamily="2" charset="-122"/>
                          </a:rPr>
                          <m:t>1</m:t>
                        </m:r>
                      </m:sub>
                    </m:sSub>
                    <m:r>
                      <a:rPr lang="en-US" altLang="zh-CN" sz="1200" i="1" kern="100">
                        <a:solidFill>
                          <a:srgbClr val="000000"/>
                        </a:solidFill>
                        <a:latin typeface="Cambria Math" panose="02040503050406030204" pitchFamily="18" charset="0"/>
                        <a:ea typeface="宋体" panose="02010600030101010101" pitchFamily="2" charset="-122"/>
                      </a:rPr>
                      <m:t>,…,</m:t>
                    </m:r>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𝑦</m:t>
                        </m:r>
                      </m:e>
                      <m:sub>
                        <m:r>
                          <a:rPr lang="en-US" altLang="zh-CN" sz="1200" i="1" kern="100">
                            <a:solidFill>
                              <a:srgbClr val="000000"/>
                            </a:solidFill>
                            <a:latin typeface="Cambria Math" panose="02040503050406030204" pitchFamily="18" charset="0"/>
                            <a:ea typeface="宋体" panose="02010600030101010101" pitchFamily="2" charset="-122"/>
                          </a:rPr>
                          <m:t>𝑡</m:t>
                        </m:r>
                        <m:r>
                          <a:rPr lang="en-US" altLang="zh-CN" sz="1200" i="1" kern="100">
                            <a:solidFill>
                              <a:srgbClr val="000000"/>
                            </a:solidFill>
                            <a:latin typeface="Cambria Math" panose="02040503050406030204" pitchFamily="18" charset="0"/>
                            <a:ea typeface="宋体" panose="02010600030101010101" pitchFamily="2" charset="-122"/>
                          </a:rPr>
                          <m:t>−1</m:t>
                        </m:r>
                      </m:sub>
                    </m:sSub>
                    <m:r>
                      <a:rPr lang="en-US" altLang="zh-CN" sz="1200" i="1" kern="100">
                        <a:solidFill>
                          <a:srgbClr val="000000"/>
                        </a:solidFill>
                        <a:latin typeface="Cambria Math" panose="02040503050406030204" pitchFamily="18" charset="0"/>
                        <a:ea typeface="宋体" panose="02010600030101010101" pitchFamily="2" charset="-122"/>
                      </a:rPr>
                      <m:t>,</m:t>
                    </m:r>
                    <m:r>
                      <a:rPr lang="en-US" altLang="zh-CN" sz="1200" i="1" kern="100">
                        <a:solidFill>
                          <a:srgbClr val="000000"/>
                        </a:solidFill>
                        <a:latin typeface="Cambria Math" panose="02040503050406030204" pitchFamily="18" charset="0"/>
                        <a:ea typeface="宋体" panose="02010600030101010101" pitchFamily="2" charset="-122"/>
                      </a:rPr>
                      <m:t>𝑐</m:t>
                    </m:r>
                    <m:r>
                      <a:rPr lang="en-US" altLang="zh-CN" sz="1200" i="1" kern="100">
                        <a:solidFill>
                          <a:srgbClr val="000000"/>
                        </a:solidFill>
                        <a:latin typeface="Cambria Math" panose="02040503050406030204" pitchFamily="18" charset="0"/>
                        <a:ea typeface="宋体" panose="02010600030101010101" pitchFamily="2" charset="-122"/>
                      </a:rPr>
                      <m:t>)</m:t>
                    </m:r>
                  </m:oMath>
                </a14:m>
                <a:r>
                  <a:rPr lang="zh-CN" altLang="zh-CN" sz="1200" kern="100" dirty="0">
                    <a:solidFill>
                      <a:srgbClr val="000000"/>
                    </a:solidFill>
                    <a:latin typeface="Times New Roman" panose="02020603050405020304" pitchFamily="18" charset="0"/>
                    <a:ea typeface="宋体" panose="02010600030101010101" pitchFamily="2" charset="-122"/>
                  </a:rPr>
                  <a:t>的值。从而得到输出序列的联合概率分布：</a:t>
                </a:r>
                <a14:m>
                  <m:oMath xmlns:m="http://schemas.openxmlformats.org/officeDocument/2006/math">
                    <m:r>
                      <a:rPr lang="en-US" altLang="zh-CN" sz="1200" i="1" kern="100">
                        <a:solidFill>
                          <a:srgbClr val="000000"/>
                        </a:solidFill>
                        <a:latin typeface="Cambria Math" panose="02040503050406030204" pitchFamily="18" charset="0"/>
                        <a:ea typeface="宋体" panose="02010600030101010101" pitchFamily="2" charset="-122"/>
                      </a:rPr>
                      <m:t>𝑃</m:t>
                    </m:r>
                    <m:d>
                      <m:dPr>
                        <m:ctrlPr>
                          <a:rPr lang="zh-CN" altLang="zh-CN" sz="1200" i="1" kern="100">
                            <a:solidFill>
                              <a:srgbClr val="000000"/>
                            </a:solidFill>
                            <a:latin typeface="Cambria Math" panose="02040503050406030204" pitchFamily="18" charset="0"/>
                            <a:ea typeface="Cambria Math" panose="02040503050406030204" pitchFamily="18" charset="0"/>
                          </a:rPr>
                        </m:ctrlPr>
                      </m:dPr>
                      <m:e>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𝑦</m:t>
                            </m:r>
                          </m:e>
                          <m:sub>
                            <m:r>
                              <a:rPr lang="en-US" altLang="zh-CN" sz="1200" i="1" kern="100">
                                <a:solidFill>
                                  <a:srgbClr val="000000"/>
                                </a:solidFill>
                                <a:latin typeface="Cambria Math" panose="02040503050406030204" pitchFamily="18" charset="0"/>
                                <a:ea typeface="宋体" panose="02010600030101010101" pitchFamily="2" charset="-122"/>
                              </a:rPr>
                              <m:t>1</m:t>
                            </m:r>
                          </m:sub>
                        </m:sSub>
                        <m:r>
                          <a:rPr lang="en-US" altLang="zh-CN" sz="1200" i="1" kern="100">
                            <a:solidFill>
                              <a:srgbClr val="000000"/>
                            </a:solidFill>
                            <a:latin typeface="Cambria Math" panose="02040503050406030204" pitchFamily="18" charset="0"/>
                            <a:ea typeface="宋体" panose="02010600030101010101" pitchFamily="2" charset="-122"/>
                          </a:rPr>
                          <m:t>,…,</m:t>
                        </m:r>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𝑦</m:t>
                            </m:r>
                          </m:e>
                          <m:sub>
                            <m:r>
                              <a:rPr lang="en-US" altLang="zh-CN" sz="1200" i="1" kern="100">
                                <a:solidFill>
                                  <a:srgbClr val="000000"/>
                                </a:solidFill>
                                <a:latin typeface="Cambria Math" panose="02040503050406030204" pitchFamily="18" charset="0"/>
                                <a:ea typeface="宋体" panose="02010600030101010101" pitchFamily="2" charset="-122"/>
                              </a:rPr>
                              <m:t>𝑇</m:t>
                            </m:r>
                          </m:sub>
                        </m:sSub>
                      </m:e>
                    </m:d>
                    <m:r>
                      <a:rPr lang="en-US" altLang="zh-CN" sz="1200" i="1" kern="100">
                        <a:solidFill>
                          <a:srgbClr val="000000"/>
                        </a:solidFill>
                        <a:latin typeface="Cambria Math" panose="02040503050406030204" pitchFamily="18" charset="0"/>
                        <a:ea typeface="宋体" panose="02010600030101010101" pitchFamily="2" charset="-122"/>
                      </a:rPr>
                      <m:t>=</m:t>
                    </m:r>
                    <m:nary>
                      <m:naryPr>
                        <m:chr m:val="∏"/>
                        <m:limLoc m:val="subSup"/>
                        <m:ctrlPr>
                          <a:rPr lang="zh-CN" altLang="zh-CN" sz="1200" i="1" kern="100">
                            <a:solidFill>
                              <a:srgbClr val="000000"/>
                            </a:solidFill>
                            <a:latin typeface="Cambria Math" panose="02040503050406030204" pitchFamily="18" charset="0"/>
                            <a:ea typeface="Cambria Math" panose="02040503050406030204" pitchFamily="18" charset="0"/>
                          </a:rPr>
                        </m:ctrlPr>
                      </m:naryPr>
                      <m:sub>
                        <m:r>
                          <a:rPr lang="en-US" altLang="zh-CN" sz="1200" i="1" kern="100">
                            <a:solidFill>
                              <a:srgbClr val="000000"/>
                            </a:solidFill>
                            <a:latin typeface="Cambria Math" panose="02040503050406030204" pitchFamily="18" charset="0"/>
                            <a:ea typeface="宋体" panose="02010600030101010101" pitchFamily="2" charset="-122"/>
                          </a:rPr>
                          <m:t>𝑡</m:t>
                        </m:r>
                        <m:r>
                          <a:rPr lang="en-US" altLang="zh-CN" sz="1200" i="1" kern="100">
                            <a:solidFill>
                              <a:srgbClr val="000000"/>
                            </a:solidFill>
                            <a:latin typeface="Cambria Math" panose="02040503050406030204" pitchFamily="18" charset="0"/>
                            <a:ea typeface="宋体" panose="02010600030101010101" pitchFamily="2" charset="-122"/>
                          </a:rPr>
                          <m:t>=1</m:t>
                        </m:r>
                      </m:sub>
                      <m:sup>
                        <m:r>
                          <a:rPr lang="en-US" altLang="zh-CN" sz="1200" i="1" kern="100">
                            <a:solidFill>
                              <a:srgbClr val="000000"/>
                            </a:solidFill>
                            <a:latin typeface="Cambria Math" panose="02040503050406030204" pitchFamily="18" charset="0"/>
                            <a:ea typeface="宋体" panose="02010600030101010101" pitchFamily="2" charset="-122"/>
                          </a:rPr>
                          <m:t>𝑇</m:t>
                        </m:r>
                      </m:sup>
                      <m:e>
                        <m:r>
                          <a:rPr lang="en-US" altLang="zh-CN" sz="1200" i="1" kern="100">
                            <a:solidFill>
                              <a:srgbClr val="000000"/>
                            </a:solidFill>
                            <a:latin typeface="Cambria Math" panose="02040503050406030204" pitchFamily="18" charset="0"/>
                            <a:ea typeface="宋体" panose="02010600030101010101" pitchFamily="2" charset="-122"/>
                          </a:rPr>
                          <m:t>𝑃</m:t>
                        </m:r>
                        <m:r>
                          <a:rPr lang="en-US" altLang="zh-CN" sz="1200" i="1" kern="100">
                            <a:solidFill>
                              <a:srgbClr val="000000"/>
                            </a:solidFill>
                            <a:latin typeface="Cambria Math" panose="02040503050406030204" pitchFamily="18" charset="0"/>
                            <a:ea typeface="宋体" panose="02010600030101010101" pitchFamily="2" charset="-122"/>
                          </a:rPr>
                          <m:t>(</m:t>
                        </m:r>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𝑦</m:t>
                            </m:r>
                          </m:e>
                          <m:sub>
                            <m:r>
                              <a:rPr lang="en-US" altLang="zh-CN" sz="1200" i="1" kern="100">
                                <a:solidFill>
                                  <a:srgbClr val="000000"/>
                                </a:solidFill>
                                <a:latin typeface="Cambria Math" panose="02040503050406030204" pitchFamily="18" charset="0"/>
                                <a:ea typeface="宋体" panose="02010600030101010101" pitchFamily="2" charset="-122"/>
                              </a:rPr>
                              <m:t>𝑡</m:t>
                            </m:r>
                          </m:sub>
                        </m:sSub>
                        <m:r>
                          <a:rPr lang="en-US" altLang="zh-CN" sz="1200" i="1" kern="100">
                            <a:solidFill>
                              <a:srgbClr val="000000"/>
                            </a:solidFill>
                            <a:latin typeface="Cambria Math" panose="02040503050406030204" pitchFamily="18" charset="0"/>
                            <a:ea typeface="宋体" panose="02010600030101010101" pitchFamily="2" charset="-122"/>
                          </a:rPr>
                          <m:t>|</m:t>
                        </m:r>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𝑦</m:t>
                            </m:r>
                          </m:e>
                          <m:sub>
                            <m:r>
                              <a:rPr lang="en-US" altLang="zh-CN" sz="1200" i="1" kern="100">
                                <a:solidFill>
                                  <a:srgbClr val="000000"/>
                                </a:solidFill>
                                <a:latin typeface="Cambria Math" panose="02040503050406030204" pitchFamily="18" charset="0"/>
                                <a:ea typeface="宋体" panose="02010600030101010101" pitchFamily="2" charset="-122"/>
                              </a:rPr>
                              <m:t>1</m:t>
                            </m:r>
                          </m:sub>
                        </m:sSub>
                        <m:r>
                          <a:rPr lang="en-US" altLang="zh-CN" sz="1200" i="1" kern="100">
                            <a:solidFill>
                              <a:srgbClr val="000000"/>
                            </a:solidFill>
                            <a:latin typeface="Cambria Math" panose="02040503050406030204" pitchFamily="18" charset="0"/>
                            <a:ea typeface="宋体" panose="02010600030101010101" pitchFamily="2" charset="-122"/>
                          </a:rPr>
                          <m:t>,…,</m:t>
                        </m:r>
                        <m:sSub>
                          <m:sSubPr>
                            <m:ctrlPr>
                              <a:rPr lang="zh-CN" altLang="zh-CN" sz="1200" i="1" kern="100">
                                <a:solidFill>
                                  <a:srgbClr val="000000"/>
                                </a:solidFill>
                                <a:latin typeface="Cambria Math" panose="02040503050406030204" pitchFamily="18" charset="0"/>
                                <a:ea typeface="Cambria Math" panose="02040503050406030204" pitchFamily="18" charset="0"/>
                              </a:rPr>
                            </m:ctrlPr>
                          </m:sSubPr>
                          <m:e>
                            <m:r>
                              <a:rPr lang="en-US" altLang="zh-CN" sz="1200" i="1" kern="100">
                                <a:solidFill>
                                  <a:srgbClr val="000000"/>
                                </a:solidFill>
                                <a:latin typeface="Cambria Math" panose="02040503050406030204" pitchFamily="18" charset="0"/>
                                <a:ea typeface="宋体" panose="02010600030101010101" pitchFamily="2" charset="-122"/>
                              </a:rPr>
                              <m:t>𝑦</m:t>
                            </m:r>
                          </m:e>
                          <m:sub>
                            <m:r>
                              <a:rPr lang="en-US" altLang="zh-CN" sz="1200" i="1" kern="100">
                                <a:solidFill>
                                  <a:srgbClr val="000000"/>
                                </a:solidFill>
                                <a:latin typeface="Cambria Math" panose="02040503050406030204" pitchFamily="18" charset="0"/>
                                <a:ea typeface="宋体" panose="02010600030101010101" pitchFamily="2" charset="-122"/>
                              </a:rPr>
                              <m:t>𝑡</m:t>
                            </m:r>
                            <m:r>
                              <a:rPr lang="en-US" altLang="zh-CN" sz="1200" i="1" kern="100">
                                <a:solidFill>
                                  <a:srgbClr val="000000"/>
                                </a:solidFill>
                                <a:latin typeface="Cambria Math" panose="02040503050406030204" pitchFamily="18" charset="0"/>
                                <a:ea typeface="宋体" panose="02010600030101010101" pitchFamily="2" charset="-122"/>
                              </a:rPr>
                              <m:t>−1</m:t>
                            </m:r>
                          </m:sub>
                        </m:sSub>
                        <m:r>
                          <a:rPr lang="en-US" altLang="zh-CN" sz="1200" i="1" kern="100">
                            <a:solidFill>
                              <a:srgbClr val="000000"/>
                            </a:solidFill>
                            <a:latin typeface="Cambria Math" panose="02040503050406030204" pitchFamily="18" charset="0"/>
                            <a:ea typeface="宋体" panose="02010600030101010101" pitchFamily="2" charset="-122"/>
                          </a:rPr>
                          <m:t>,</m:t>
                        </m:r>
                        <m:r>
                          <a:rPr lang="en-US" altLang="zh-CN" sz="1200" i="1" kern="100">
                            <a:solidFill>
                              <a:srgbClr val="000000"/>
                            </a:solidFill>
                            <a:latin typeface="Cambria Math" panose="02040503050406030204" pitchFamily="18" charset="0"/>
                            <a:ea typeface="宋体" panose="02010600030101010101" pitchFamily="2" charset="-122"/>
                          </a:rPr>
                          <m:t>𝑐</m:t>
                        </m:r>
                        <m:r>
                          <a:rPr lang="en-US" altLang="zh-CN" sz="1200" i="1" kern="100">
                            <a:solidFill>
                              <a:srgbClr val="000000"/>
                            </a:solidFill>
                            <a:latin typeface="Cambria Math" panose="02040503050406030204" pitchFamily="18" charset="0"/>
                            <a:ea typeface="宋体" panose="02010600030101010101" pitchFamily="2" charset="-122"/>
                          </a:rPr>
                          <m:t>)</m:t>
                        </m:r>
                      </m:e>
                    </m:nary>
                  </m:oMath>
                </a14:m>
                <a:r>
                  <a:rPr lang="zh-CN" altLang="zh-CN" sz="1200" kern="100" dirty="0">
                    <a:solidFill>
                      <a:srgbClr val="000000"/>
                    </a:solidFill>
                    <a:latin typeface="Times New Roman" panose="02020603050405020304" pitchFamily="18" charset="0"/>
                    <a:ea typeface="宋体" panose="02010600030101010101" pitchFamily="2" charset="-122"/>
                  </a:rPr>
                  <a:t>，在本文的工作中，模型在训练时，对编码器和解码器的输入使用的是相同的训练数据集。且输入和输出也是等长的。</a:t>
                </a:r>
                <a:endParaRPr lang="zh-CN" altLang="zh-CN" sz="1050" kern="100" dirty="0">
                  <a:latin typeface="Times New Roman" panose="02020603050405020304" pitchFamily="18" charset="0"/>
                  <a:ea typeface="宋体" panose="02010600030101010101" pitchFamily="2" charset="-122"/>
                </a:endParaRPr>
              </a:p>
            </p:txBody>
          </p:sp>
        </mc:Choice>
        <mc:Fallback>
          <p:sp>
            <p:nvSpPr>
              <p:cNvPr id="2" name="文本框 1">
                <a:extLst>
                  <a:ext uri="{FF2B5EF4-FFF2-40B4-BE49-F238E27FC236}">
                    <a16:creationId xmlns:a16="http://schemas.microsoft.com/office/drawing/2014/main" id="{E7F5472F-44DD-42DB-B1A3-C720EE86A85D}"/>
                  </a:ext>
                </a:extLst>
              </p:cNvPr>
              <p:cNvSpPr txBox="1">
                <a:spLocks noRot="1" noChangeAspect="1" noMove="1" noResize="1" noEditPoints="1" noAdjustHandles="1" noChangeArrowheads="1" noChangeShapeType="1" noTextEdit="1"/>
              </p:cNvSpPr>
              <p:nvPr/>
            </p:nvSpPr>
            <p:spPr>
              <a:xfrm>
                <a:off x="5524107" y="2356701"/>
                <a:ext cx="6061435" cy="3109184"/>
              </a:xfrm>
              <a:prstGeom prst="rect">
                <a:avLst/>
              </a:prstGeom>
              <a:blipFill>
                <a:blip r:embed="rId7"/>
                <a:stretch>
                  <a:fillRect b="-45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44820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706F3D8F-FAAA-2140-B796-1157B4BE68D0}"/>
              </a:ext>
            </a:extLst>
          </p:cNvPr>
          <p:cNvGrpSpPr/>
          <p:nvPr/>
        </p:nvGrpSpPr>
        <p:grpSpPr>
          <a:xfrm>
            <a:off x="0" y="-1"/>
            <a:ext cx="12192000" cy="6858002"/>
            <a:chOff x="0" y="-1"/>
            <a:chExt cx="12192000" cy="6858002"/>
          </a:xfrm>
        </p:grpSpPr>
        <p:sp>
          <p:nvSpPr>
            <p:cNvPr id="41" name="矩形 40">
              <a:extLst>
                <a:ext uri="{FF2B5EF4-FFF2-40B4-BE49-F238E27FC236}">
                  <a16:creationId xmlns:a16="http://schemas.microsoft.com/office/drawing/2014/main" id="{91AEFDA7-4F58-8342-A9E1-CBBEDB06E01B}"/>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2" name="矩形 41">
              <a:extLst>
                <a:ext uri="{FF2B5EF4-FFF2-40B4-BE49-F238E27FC236}">
                  <a16:creationId xmlns:a16="http://schemas.microsoft.com/office/drawing/2014/main" id="{7519A2E4-7654-7049-8574-E43694ED98FB}"/>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3" name="矩形 42">
              <a:extLst>
                <a:ext uri="{FF2B5EF4-FFF2-40B4-BE49-F238E27FC236}">
                  <a16:creationId xmlns:a16="http://schemas.microsoft.com/office/drawing/2014/main" id="{3A78FB99-47D7-DA43-90CB-EBB967406AA4}"/>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44" name="组合 43">
            <a:extLst>
              <a:ext uri="{FF2B5EF4-FFF2-40B4-BE49-F238E27FC236}">
                <a16:creationId xmlns:a16="http://schemas.microsoft.com/office/drawing/2014/main" id="{77B7BD4A-0299-7142-A299-2C8531632FCA}"/>
              </a:ext>
            </a:extLst>
          </p:cNvPr>
          <p:cNvGrpSpPr/>
          <p:nvPr/>
        </p:nvGrpSpPr>
        <p:grpSpPr>
          <a:xfrm>
            <a:off x="133400" y="140547"/>
            <a:ext cx="11901234" cy="6795389"/>
            <a:chOff x="133400" y="140547"/>
            <a:chExt cx="11901234" cy="6795389"/>
          </a:xfrm>
        </p:grpSpPr>
        <p:pic>
          <p:nvPicPr>
            <p:cNvPr id="45" name="图片 44">
              <a:extLst>
                <a:ext uri="{FF2B5EF4-FFF2-40B4-BE49-F238E27FC236}">
                  <a16:creationId xmlns:a16="http://schemas.microsoft.com/office/drawing/2014/main" id="{5F8EFFCB-99B0-654F-8FED-0485190172FD}"/>
                </a:ext>
              </a:extLst>
            </p:cNvPr>
            <p:cNvPicPr>
              <a:picLocks noChangeAspect="1"/>
            </p:cNvPicPr>
            <p:nvPr/>
          </p:nvPicPr>
          <p:blipFill>
            <a:blip r:embed="rId3"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46" name="图片 45">
              <a:extLst>
                <a:ext uri="{FF2B5EF4-FFF2-40B4-BE49-F238E27FC236}">
                  <a16:creationId xmlns:a16="http://schemas.microsoft.com/office/drawing/2014/main" id="{93080F77-5917-384C-AFD1-66264B40DFAC}"/>
                </a:ext>
              </a:extLst>
            </p:cNvPr>
            <p:cNvPicPr>
              <a:picLocks noChangeAspect="1"/>
            </p:cNvPicPr>
            <p:nvPr/>
          </p:nvPicPr>
          <p:blipFill>
            <a:blip r:embed="rId4"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47" name="图片 46" descr="图片包含 游戏机, 画, 钟表&#10;&#10;描述已自动生成">
              <a:extLst>
                <a:ext uri="{FF2B5EF4-FFF2-40B4-BE49-F238E27FC236}">
                  <a16:creationId xmlns:a16="http://schemas.microsoft.com/office/drawing/2014/main" id="{FE29D0C4-9C03-A64C-8458-ED23D8D76224}"/>
                </a:ext>
              </a:extLst>
            </p:cNvPr>
            <p:cNvPicPr>
              <a:picLocks noChangeAspect="1"/>
            </p:cNvPicPr>
            <p:nvPr/>
          </p:nvPicPr>
          <p:blipFill>
            <a:blip r:embed="rId5"/>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572B192-1A8B-0944-BC5E-3183B0CBCBA6}"/>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数学原理</a:t>
            </a:r>
          </a:p>
        </p:txBody>
      </p:sp>
      <p:sp>
        <p:nvSpPr>
          <p:cNvPr id="14" name="文本框 13">
            <a:extLst>
              <a:ext uri="{FF2B5EF4-FFF2-40B4-BE49-F238E27FC236}">
                <a16:creationId xmlns:a16="http://schemas.microsoft.com/office/drawing/2014/main" id="{124A3600-F159-B64D-BF63-4388A1F5289C}"/>
              </a:ext>
            </a:extLst>
          </p:cNvPr>
          <p:cNvSpPr txBox="1"/>
          <p:nvPr/>
        </p:nvSpPr>
        <p:spPr>
          <a:xfrm>
            <a:off x="1314500" y="1305501"/>
            <a:ext cx="1481496" cy="400110"/>
          </a:xfrm>
          <a:prstGeom prst="rect">
            <a:avLst/>
          </a:prstGeom>
          <a:noFill/>
        </p:spPr>
        <p:txBody>
          <a:bodyPr wrap="none" rtlCol="0">
            <a:spAutoFit/>
          </a:bodyPr>
          <a:lstStyle/>
          <a:p>
            <a:pPr algn="l"/>
            <a:r>
              <a:rPr kumimoji="1" lang="en-US" altLang="zh-CN"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seq2seq</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endParaRPr>
          </a:p>
        </p:txBody>
      </p:sp>
      <p:cxnSp>
        <p:nvCxnSpPr>
          <p:cNvPr id="16" name="直线连接符 15">
            <a:extLst>
              <a:ext uri="{FF2B5EF4-FFF2-40B4-BE49-F238E27FC236}">
                <a16:creationId xmlns:a16="http://schemas.microsoft.com/office/drawing/2014/main" id="{D8648111-DA66-0C4F-8D4E-74F9F9E79346}"/>
              </a:ext>
            </a:extLst>
          </p:cNvPr>
          <p:cNvCxnSpPr>
            <a:cxnSpLocks/>
          </p:cNvCxnSpPr>
          <p:nvPr/>
        </p:nvCxnSpPr>
        <p:spPr>
          <a:xfrm>
            <a:off x="1314500" y="1791497"/>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107" name="图片 106">
            <a:extLst>
              <a:ext uri="{FF2B5EF4-FFF2-40B4-BE49-F238E27FC236}">
                <a16:creationId xmlns:a16="http://schemas.microsoft.com/office/drawing/2014/main" id="{52491525-8A43-4AF7-B183-22E99423872F}"/>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1008330" y="1877384"/>
            <a:ext cx="4195266" cy="4140157"/>
          </a:xfrm>
          <a:prstGeom prst="rect">
            <a:avLst/>
          </a:prstGeom>
        </p:spPr>
      </p:pic>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12F44FF3-2A47-4790-9EF3-A8AF42DE3555}"/>
                  </a:ext>
                </a:extLst>
              </p:cNvPr>
              <p:cNvSpPr txBox="1"/>
              <p:nvPr/>
            </p:nvSpPr>
            <p:spPr>
              <a:xfrm>
                <a:off x="5929905" y="2051205"/>
                <a:ext cx="5386185" cy="3872535"/>
              </a:xfrm>
              <a:prstGeom prst="rect">
                <a:avLst/>
              </a:prstGeom>
              <a:noFill/>
            </p:spPr>
            <p:txBody>
              <a:bodyPr wrap="square" rtlCol="0">
                <a:spAutoFit/>
              </a:bodyPr>
              <a:lstStyle/>
              <a:p>
                <a:pPr>
                  <a:lnSpc>
                    <a:spcPct val="130000"/>
                  </a:lnSpc>
                </a:pPr>
                <a:r>
                  <a:rPr kumimoji="1" lang="en-US" altLang="zh-CN" sz="2000" dirty="0">
                    <a:latin typeface="微软雅黑" panose="020B0503020204020204" pitchFamily="34" charset="-122"/>
                    <a:ea typeface="微软雅黑" panose="020B0503020204020204" pitchFamily="34" charset="-122"/>
                  </a:rPr>
                  <a:t>Encoder:</a:t>
                </a:r>
              </a:p>
              <a:p>
                <a:pPr>
                  <a:lnSpc>
                    <a:spcPct val="130000"/>
                  </a:lnSpc>
                </a:pPr>
                <a14:m>
                  <m:oMathPara xmlns:m="http://schemas.openxmlformats.org/officeDocument/2006/math">
                    <m:oMathParaPr>
                      <m:jc m:val="left"/>
                    </m:oMathParaPr>
                    <m:oMath xmlns:m="http://schemas.openxmlformats.org/officeDocument/2006/math">
                      <m:sSub>
                        <m:sSubPr>
                          <m:ctrlPr>
                            <a:rPr kumimoji="1" lang="en-US" altLang="zh-CN" b="0" i="1" smtClean="0">
                              <a:latin typeface="Cambria Math" panose="02040503050406030204" pitchFamily="18" charset="0"/>
                              <a:ea typeface="Source Han Sans SC Normal" panose="020B0400000000000000" pitchFamily="34" charset="-128"/>
                            </a:rPr>
                          </m:ctrlPr>
                        </m:sSubPr>
                        <m:e>
                          <m:r>
                            <a:rPr kumimoji="1" lang="en-US" altLang="zh-CN" b="0" i="1" smtClean="0">
                              <a:latin typeface="Cambria Math" panose="02040503050406030204" pitchFamily="18" charset="0"/>
                              <a:ea typeface="Source Han Sans SC Normal" panose="020B0400000000000000" pitchFamily="34" charset="-128"/>
                            </a:rPr>
                            <m:t>𝐹</m:t>
                          </m:r>
                        </m:e>
                        <m:sub>
                          <m:r>
                            <m:rPr>
                              <m:sty m:val="p"/>
                            </m:rPr>
                            <a:rPr kumimoji="1" lang="en-US" altLang="zh-CN" i="1">
                              <a:latin typeface="Cambria Math" panose="02040503050406030204" pitchFamily="18" charset="0"/>
                              <a:ea typeface="Source Han Sans SC Normal" panose="020B0400000000000000" pitchFamily="34" charset="-128"/>
                            </a:rPr>
                            <m:t>u</m:t>
                          </m:r>
                        </m:sub>
                      </m:sSub>
                      <m:r>
                        <a:rPr kumimoji="1" lang="en-US" altLang="zh-CN" b="0" i="1" smtClean="0">
                          <a:latin typeface="Cambria Math" panose="02040503050406030204" pitchFamily="18" charset="0"/>
                          <a:ea typeface="Source Han Sans SC Normal" panose="020B0400000000000000" pitchFamily="34" charset="-128"/>
                        </a:rPr>
                        <m:t>=</m:t>
                      </m:r>
                      <m:r>
                        <a:rPr kumimoji="1" lang="en-US" altLang="zh-CN" b="0" i="1" smtClean="0">
                          <a:latin typeface="Cambria Math" panose="02040503050406030204" pitchFamily="18" charset="0"/>
                          <a:ea typeface="Source Han Sans SC Normal" panose="020B0400000000000000" pitchFamily="34" charset="-128"/>
                        </a:rPr>
                        <m:t>𝑠𝑖𝑔𝑚𝑜𝑖𝑑</m:t>
                      </m:r>
                      <m:d>
                        <m:dPr>
                          <m:ctrlPr>
                            <a:rPr kumimoji="1" lang="en-US" altLang="zh-CN" b="0" i="1" smtClean="0">
                              <a:latin typeface="Cambria Math" panose="02040503050406030204" pitchFamily="18" charset="0"/>
                              <a:ea typeface="Source Han Sans SC Normal" panose="020B0400000000000000" pitchFamily="34" charset="-128"/>
                            </a:rPr>
                          </m:ctrlPr>
                        </m:dPr>
                        <m:e>
                          <m:sSub>
                            <m:sSubPr>
                              <m:ctrlPr>
                                <a:rPr kumimoji="1" lang="en-US" altLang="zh-CN" b="0" i="1" smtClean="0">
                                  <a:latin typeface="Cambria Math" panose="02040503050406030204" pitchFamily="18" charset="0"/>
                                  <a:ea typeface="Source Han Sans SC Normal" panose="020B0400000000000000" pitchFamily="34" charset="-128"/>
                                </a:rPr>
                              </m:ctrlPr>
                            </m:sSubPr>
                            <m:e>
                              <m:r>
                                <a:rPr kumimoji="1" lang="en-US" altLang="zh-CN" b="0" i="1" smtClean="0">
                                  <a:latin typeface="Cambria Math" panose="02040503050406030204" pitchFamily="18" charset="0"/>
                                  <a:ea typeface="Source Han Sans SC Normal" panose="020B0400000000000000" pitchFamily="34" charset="-128"/>
                                </a:rPr>
                                <m:t>𝑤</m:t>
                              </m:r>
                            </m:e>
                            <m:sub>
                              <m:r>
                                <a:rPr kumimoji="1" lang="en-US" altLang="zh-CN" b="0" i="1" smtClean="0">
                                  <a:latin typeface="Cambria Math" panose="02040503050406030204" pitchFamily="18" charset="0"/>
                                  <a:ea typeface="Source Han Sans SC Normal" panose="020B0400000000000000" pitchFamily="34" charset="-128"/>
                                </a:rPr>
                                <m:t>𝑢</m:t>
                              </m:r>
                            </m:sub>
                          </m:sSub>
                          <m:d>
                            <m:dPr>
                              <m:begChr m:val="["/>
                              <m:endChr m:val="]"/>
                              <m:ctrlPr>
                                <a:rPr kumimoji="1" lang="en-US" altLang="zh-CN" b="0" i="1" smtClean="0">
                                  <a:latin typeface="Cambria Math" panose="02040503050406030204" pitchFamily="18" charset="0"/>
                                  <a:ea typeface="Source Han Sans SC Normal" panose="020B0400000000000000" pitchFamily="34" charset="-128"/>
                                </a:rPr>
                              </m:ctrlPr>
                            </m:dPr>
                            <m:e>
                              <m:sSup>
                                <m:sSupPr>
                                  <m:ctrlPr>
                                    <a:rPr kumimoji="1" lang="en-US" altLang="zh-CN" b="0" i="1" smtClean="0">
                                      <a:latin typeface="Cambria Math" panose="02040503050406030204" pitchFamily="18" charset="0"/>
                                      <a:ea typeface="Source Han Sans SC Normal" panose="020B0400000000000000" pitchFamily="34" charset="-128"/>
                                    </a:rPr>
                                  </m:ctrlPr>
                                </m:sSupPr>
                                <m:e>
                                  <m:r>
                                    <a:rPr kumimoji="1" lang="en-US" altLang="zh-CN" b="0" i="1" smtClean="0">
                                      <a:latin typeface="Cambria Math" panose="02040503050406030204" pitchFamily="18" charset="0"/>
                                      <a:ea typeface="Source Han Sans SC Normal" panose="020B0400000000000000" pitchFamily="34" charset="-128"/>
                                    </a:rPr>
                                    <m:t>𝑎</m:t>
                                  </m:r>
                                </m:e>
                                <m:sup>
                                  <m:r>
                                    <a:rPr kumimoji="1" lang="en-US" altLang="zh-CN" b="0" i="1" smtClean="0">
                                      <a:latin typeface="Cambria Math" panose="02040503050406030204" pitchFamily="18" charset="0"/>
                                      <a:ea typeface="Source Han Sans SC Normal" panose="020B0400000000000000" pitchFamily="34" charset="-128"/>
                                    </a:rPr>
                                    <m:t>&lt;</m:t>
                                  </m:r>
                                  <m:r>
                                    <a:rPr kumimoji="1" lang="en-US" altLang="zh-CN" b="0" i="1" smtClean="0">
                                      <a:latin typeface="Cambria Math" panose="02040503050406030204" pitchFamily="18" charset="0"/>
                                      <a:ea typeface="Source Han Sans SC Normal" panose="020B0400000000000000" pitchFamily="34" charset="-128"/>
                                    </a:rPr>
                                    <m:t>𝑡</m:t>
                                  </m:r>
                                  <m:r>
                                    <a:rPr kumimoji="1" lang="en-US" altLang="zh-CN" b="0" i="1" smtClean="0">
                                      <a:latin typeface="Cambria Math" panose="02040503050406030204" pitchFamily="18" charset="0"/>
                                      <a:ea typeface="Source Han Sans SC Normal" panose="020B0400000000000000" pitchFamily="34" charset="-128"/>
                                    </a:rPr>
                                    <m:t>−1&gt;</m:t>
                                  </m:r>
                                </m:sup>
                              </m:sSup>
                              <m:r>
                                <a:rPr kumimoji="1" lang="en-US" altLang="zh-CN" b="0" i="1" smtClean="0">
                                  <a:latin typeface="Cambria Math" panose="02040503050406030204" pitchFamily="18" charset="0"/>
                                  <a:ea typeface="Source Han Sans SC Normal" panose="020B0400000000000000" pitchFamily="34" charset="-128"/>
                                </a:rPr>
                                <m:t>,</m:t>
                              </m:r>
                              <m:sSup>
                                <m:sSupPr>
                                  <m:ctrlPr>
                                    <a:rPr kumimoji="1" lang="en-US" altLang="zh-CN" b="0" i="1" smtClean="0">
                                      <a:latin typeface="Cambria Math" panose="02040503050406030204" pitchFamily="18" charset="0"/>
                                      <a:ea typeface="Source Han Sans SC Normal" panose="020B0400000000000000" pitchFamily="34" charset="-128"/>
                                    </a:rPr>
                                  </m:ctrlPr>
                                </m:sSupPr>
                                <m:e>
                                  <m:r>
                                    <a:rPr kumimoji="1" lang="en-US" altLang="zh-CN" b="0" i="1" smtClean="0">
                                      <a:latin typeface="Cambria Math" panose="02040503050406030204" pitchFamily="18" charset="0"/>
                                      <a:ea typeface="Source Han Sans SC Normal" panose="020B0400000000000000" pitchFamily="34" charset="-128"/>
                                    </a:rPr>
                                    <m:t>𝑥</m:t>
                                  </m:r>
                                </m:e>
                                <m:sup>
                                  <m:r>
                                    <a:rPr kumimoji="1" lang="en-US" altLang="zh-CN" b="0" i="1" smtClean="0">
                                      <a:latin typeface="Cambria Math" panose="02040503050406030204" pitchFamily="18" charset="0"/>
                                      <a:ea typeface="Source Han Sans SC Normal" panose="020B0400000000000000" pitchFamily="34" charset="-128"/>
                                    </a:rPr>
                                    <m:t>𝑡</m:t>
                                  </m:r>
                                </m:sup>
                              </m:sSup>
                            </m:e>
                          </m:d>
                          <m:r>
                            <a:rPr kumimoji="1" lang="en-US" altLang="zh-CN" b="0" i="1" smtClean="0">
                              <a:latin typeface="Cambria Math" panose="02040503050406030204" pitchFamily="18" charset="0"/>
                              <a:ea typeface="Source Han Sans SC Normal" panose="020B0400000000000000" pitchFamily="34" charset="-128"/>
                            </a:rPr>
                            <m:t>+</m:t>
                          </m:r>
                          <m:sSub>
                            <m:sSubPr>
                              <m:ctrlPr>
                                <a:rPr kumimoji="1" lang="en-US" altLang="zh-CN" b="0" i="1" smtClean="0">
                                  <a:latin typeface="Cambria Math" panose="02040503050406030204" pitchFamily="18" charset="0"/>
                                  <a:ea typeface="Source Han Sans SC Normal" panose="020B0400000000000000" pitchFamily="34" charset="-128"/>
                                </a:rPr>
                              </m:ctrlPr>
                            </m:sSubPr>
                            <m:e>
                              <m:r>
                                <a:rPr kumimoji="1" lang="en-US" altLang="zh-CN" b="0" i="1" smtClean="0">
                                  <a:latin typeface="Cambria Math" panose="02040503050406030204" pitchFamily="18" charset="0"/>
                                  <a:ea typeface="Source Han Sans SC Normal" panose="020B0400000000000000" pitchFamily="34" charset="-128"/>
                                </a:rPr>
                                <m:t>𝑏</m:t>
                              </m:r>
                            </m:e>
                            <m:sub>
                              <m:r>
                                <a:rPr kumimoji="1" lang="en-US" altLang="zh-CN" b="0" i="1" smtClean="0">
                                  <a:latin typeface="Cambria Math" panose="02040503050406030204" pitchFamily="18" charset="0"/>
                                  <a:ea typeface="Source Han Sans SC Normal" panose="020B0400000000000000" pitchFamily="34" charset="-128"/>
                                </a:rPr>
                                <m:t>𝑢</m:t>
                              </m:r>
                            </m:sub>
                          </m:sSub>
                        </m:e>
                      </m:d>
                    </m:oMath>
                  </m:oMathPara>
                </a14:m>
                <a:endParaRPr kumimoji="1" lang="en-US" altLang="zh-CN" b="0" dirty="0">
                  <a:latin typeface="Source Han Sans SC Normal" panose="020B0400000000000000" pitchFamily="34" charset="-128"/>
                  <a:ea typeface="Source Han Sans SC Normal" panose="020B0400000000000000" pitchFamily="34" charset="-128"/>
                </a:endParaRPr>
              </a:p>
              <a:p>
                <a:pPr>
                  <a:lnSpc>
                    <a:spcPct val="130000"/>
                  </a:lnSpc>
                </a:pPr>
                <a14:m>
                  <m:oMathPara xmlns:m="http://schemas.openxmlformats.org/officeDocument/2006/math">
                    <m:oMathParaPr>
                      <m:jc m:val="left"/>
                    </m:oMathParaPr>
                    <m:oMath xmlns:m="http://schemas.openxmlformats.org/officeDocument/2006/math">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𝐹</m:t>
                          </m:r>
                        </m:e>
                        <m:sub>
                          <m:r>
                            <a:rPr kumimoji="1" lang="en-US" altLang="zh-CN" b="0" i="1" smtClean="0">
                              <a:latin typeface="Cambria Math" panose="02040503050406030204" pitchFamily="18" charset="0"/>
                              <a:ea typeface="Source Han Sans SC Normal" panose="020B0400000000000000" pitchFamily="34" charset="-128"/>
                            </a:rPr>
                            <m:t>𝑓</m:t>
                          </m:r>
                        </m:sub>
                      </m:sSub>
                      <m:r>
                        <a:rPr kumimoji="1" lang="en-US" altLang="zh-CN" i="1">
                          <a:latin typeface="Cambria Math" panose="02040503050406030204" pitchFamily="18" charset="0"/>
                          <a:ea typeface="Source Han Sans SC Normal" panose="020B0400000000000000" pitchFamily="34" charset="-128"/>
                        </a:rPr>
                        <m:t>=</m:t>
                      </m:r>
                      <m:r>
                        <a:rPr kumimoji="1" lang="en-US" altLang="zh-CN" i="1">
                          <a:latin typeface="Cambria Math" panose="02040503050406030204" pitchFamily="18" charset="0"/>
                          <a:ea typeface="Source Han Sans SC Normal" panose="020B0400000000000000" pitchFamily="34" charset="-128"/>
                        </a:rPr>
                        <m:t>𝑠𝑖𝑔𝑚𝑜𝑖𝑑</m:t>
                      </m:r>
                      <m:r>
                        <a:rPr kumimoji="1" lang="en-US" altLang="zh-CN" i="1">
                          <a:latin typeface="Cambria Math" panose="02040503050406030204" pitchFamily="18" charset="0"/>
                          <a:ea typeface="Source Han Sans SC Normal" panose="020B0400000000000000" pitchFamily="34" charset="-128"/>
                        </a:rPr>
                        <m:t>(</m:t>
                      </m:r>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𝑤</m:t>
                          </m:r>
                        </m:e>
                        <m:sub>
                          <m:r>
                            <a:rPr kumimoji="1" lang="en-US" altLang="zh-CN" b="0" i="1" smtClean="0">
                              <a:latin typeface="Cambria Math" panose="02040503050406030204" pitchFamily="18" charset="0"/>
                              <a:ea typeface="Source Han Sans SC Normal" panose="020B0400000000000000" pitchFamily="34" charset="-128"/>
                            </a:rPr>
                            <m:t>𝑓</m:t>
                          </m:r>
                        </m:sub>
                      </m:sSub>
                      <m:d>
                        <m:dPr>
                          <m:begChr m:val="["/>
                          <m:endChr m:val="]"/>
                          <m:ctrlPr>
                            <a:rPr kumimoji="1" lang="en-US" altLang="zh-CN" i="1">
                              <a:latin typeface="Cambria Math" panose="02040503050406030204" pitchFamily="18" charset="0"/>
                              <a:ea typeface="Source Han Sans SC Normal" panose="020B0400000000000000" pitchFamily="34" charset="-128"/>
                            </a:rPr>
                          </m:ctrlPr>
                        </m:dPr>
                        <m:e>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i="1">
                                  <a:latin typeface="Cambria Math" panose="02040503050406030204" pitchFamily="18" charset="0"/>
                                  <a:ea typeface="Source Han Sans SC Normal" panose="020B0400000000000000" pitchFamily="34" charset="-128"/>
                                </a:rPr>
                                <m:t>𝑎</m:t>
                              </m:r>
                            </m:e>
                            <m:sup>
                              <m:r>
                                <a:rPr kumimoji="1" lang="en-US" altLang="zh-CN" i="1">
                                  <a:latin typeface="Cambria Math" panose="02040503050406030204" pitchFamily="18" charset="0"/>
                                  <a:ea typeface="Source Han Sans SC Normal" panose="020B0400000000000000" pitchFamily="34" charset="-128"/>
                                </a:rPr>
                                <m:t>&lt;</m:t>
                              </m:r>
                              <m:r>
                                <a:rPr kumimoji="1" lang="en-US" altLang="zh-CN" i="1">
                                  <a:latin typeface="Cambria Math" panose="02040503050406030204" pitchFamily="18" charset="0"/>
                                  <a:ea typeface="Source Han Sans SC Normal" panose="020B0400000000000000" pitchFamily="34" charset="-128"/>
                                </a:rPr>
                                <m:t>𝑡</m:t>
                              </m:r>
                              <m:r>
                                <a:rPr kumimoji="1" lang="en-US" altLang="zh-CN" i="1">
                                  <a:latin typeface="Cambria Math" panose="02040503050406030204" pitchFamily="18" charset="0"/>
                                  <a:ea typeface="Source Han Sans SC Normal" panose="020B0400000000000000" pitchFamily="34" charset="-128"/>
                                </a:rPr>
                                <m:t>−1&gt;</m:t>
                              </m:r>
                            </m:sup>
                          </m:sSup>
                          <m:r>
                            <a:rPr kumimoji="1" lang="en-US" altLang="zh-CN" i="1">
                              <a:latin typeface="Cambria Math" panose="02040503050406030204" pitchFamily="18" charset="0"/>
                              <a:ea typeface="Source Han Sans SC Normal" panose="020B0400000000000000" pitchFamily="34" charset="-128"/>
                            </a:rPr>
                            <m:t>,</m:t>
                          </m:r>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i="1">
                                  <a:latin typeface="Cambria Math" panose="02040503050406030204" pitchFamily="18" charset="0"/>
                                  <a:ea typeface="Source Han Sans SC Normal" panose="020B0400000000000000" pitchFamily="34" charset="-128"/>
                                </a:rPr>
                                <m:t>𝑥</m:t>
                              </m:r>
                            </m:e>
                            <m:sup>
                              <m:r>
                                <a:rPr kumimoji="1" lang="en-US" altLang="zh-CN" i="1">
                                  <a:latin typeface="Cambria Math" panose="02040503050406030204" pitchFamily="18" charset="0"/>
                                  <a:ea typeface="Source Han Sans SC Normal" panose="020B0400000000000000" pitchFamily="34" charset="-128"/>
                                </a:rPr>
                                <m:t>𝑡</m:t>
                              </m:r>
                            </m:sup>
                          </m:sSup>
                        </m:e>
                      </m:d>
                      <m:r>
                        <a:rPr kumimoji="1" lang="en-US" altLang="zh-CN" i="1">
                          <a:latin typeface="Cambria Math" panose="02040503050406030204" pitchFamily="18" charset="0"/>
                          <a:ea typeface="Source Han Sans SC Normal" panose="020B0400000000000000" pitchFamily="34" charset="-128"/>
                        </a:rPr>
                        <m:t>+</m:t>
                      </m:r>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𝑏</m:t>
                          </m:r>
                        </m:e>
                        <m:sub>
                          <m:r>
                            <a:rPr kumimoji="1" lang="en-US" altLang="zh-CN" b="0" i="1" smtClean="0">
                              <a:latin typeface="Cambria Math" panose="02040503050406030204" pitchFamily="18" charset="0"/>
                              <a:ea typeface="Source Han Sans SC Normal" panose="020B0400000000000000" pitchFamily="34" charset="-128"/>
                            </a:rPr>
                            <m:t>𝑓</m:t>
                          </m:r>
                        </m:sub>
                      </m:sSub>
                      <m:r>
                        <a:rPr kumimoji="1" lang="en-US" altLang="zh-CN" i="1">
                          <a:latin typeface="Cambria Math" panose="02040503050406030204" pitchFamily="18" charset="0"/>
                          <a:ea typeface="Source Han Sans SC Normal" panose="020B0400000000000000" pitchFamily="34" charset="-128"/>
                        </a:rPr>
                        <m:t>)</m:t>
                      </m:r>
                    </m:oMath>
                  </m:oMathPara>
                </a14:m>
                <a:endParaRPr kumimoji="1" lang="en-US" altLang="zh-CN" dirty="0">
                  <a:latin typeface="Source Han Sans SC Normal" panose="020B0400000000000000" pitchFamily="34" charset="-128"/>
                  <a:ea typeface="Source Han Sans SC Normal" panose="020B0400000000000000" pitchFamily="34" charset="-128"/>
                </a:endParaRPr>
              </a:p>
              <a:p>
                <a:pPr>
                  <a:lnSpc>
                    <a:spcPct val="130000"/>
                  </a:lnSpc>
                </a:pPr>
                <a14:m>
                  <m:oMathPara xmlns:m="http://schemas.openxmlformats.org/officeDocument/2006/math">
                    <m:oMathParaPr>
                      <m:jc m:val="left"/>
                    </m:oMathParaPr>
                    <m:oMath xmlns:m="http://schemas.openxmlformats.org/officeDocument/2006/math">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𝐹</m:t>
                          </m:r>
                        </m:e>
                        <m:sub>
                          <m:r>
                            <a:rPr kumimoji="1" lang="en-US" altLang="zh-CN" b="0" i="1" smtClean="0">
                              <a:latin typeface="Cambria Math" panose="02040503050406030204" pitchFamily="18" charset="0"/>
                              <a:ea typeface="Source Han Sans SC Normal" panose="020B0400000000000000" pitchFamily="34" charset="-128"/>
                            </a:rPr>
                            <m:t>𝑜</m:t>
                          </m:r>
                        </m:sub>
                      </m:sSub>
                      <m:r>
                        <a:rPr kumimoji="1" lang="en-US" altLang="zh-CN" i="1">
                          <a:latin typeface="Cambria Math" panose="02040503050406030204" pitchFamily="18" charset="0"/>
                          <a:ea typeface="Source Han Sans SC Normal" panose="020B0400000000000000" pitchFamily="34" charset="-128"/>
                        </a:rPr>
                        <m:t>=</m:t>
                      </m:r>
                      <m:r>
                        <a:rPr kumimoji="1" lang="en-US" altLang="zh-CN" i="1">
                          <a:latin typeface="Cambria Math" panose="02040503050406030204" pitchFamily="18" charset="0"/>
                          <a:ea typeface="Source Han Sans SC Normal" panose="020B0400000000000000" pitchFamily="34" charset="-128"/>
                        </a:rPr>
                        <m:t>𝑠𝑖𝑔𝑚𝑜𝑖𝑑</m:t>
                      </m:r>
                      <m:d>
                        <m:dPr>
                          <m:ctrlPr>
                            <a:rPr kumimoji="1" lang="en-US" altLang="zh-CN" i="1">
                              <a:latin typeface="Cambria Math" panose="02040503050406030204" pitchFamily="18" charset="0"/>
                              <a:ea typeface="Source Han Sans SC Normal" panose="020B0400000000000000" pitchFamily="34" charset="-128"/>
                            </a:rPr>
                          </m:ctrlPr>
                        </m:dPr>
                        <m:e>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𝑤</m:t>
                              </m:r>
                            </m:e>
                            <m:sub>
                              <m:r>
                                <a:rPr kumimoji="1" lang="en-US" altLang="zh-CN" b="0" i="1" smtClean="0">
                                  <a:latin typeface="Cambria Math" panose="02040503050406030204" pitchFamily="18" charset="0"/>
                                  <a:ea typeface="Source Han Sans SC Normal" panose="020B0400000000000000" pitchFamily="34" charset="-128"/>
                                </a:rPr>
                                <m:t>𝑜</m:t>
                              </m:r>
                            </m:sub>
                          </m:sSub>
                          <m:d>
                            <m:dPr>
                              <m:begChr m:val="["/>
                              <m:endChr m:val="]"/>
                              <m:ctrlPr>
                                <a:rPr kumimoji="1" lang="en-US" altLang="zh-CN" i="1">
                                  <a:latin typeface="Cambria Math" panose="02040503050406030204" pitchFamily="18" charset="0"/>
                                  <a:ea typeface="Source Han Sans SC Normal" panose="020B0400000000000000" pitchFamily="34" charset="-128"/>
                                </a:rPr>
                              </m:ctrlPr>
                            </m:dPr>
                            <m:e>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i="1">
                                      <a:latin typeface="Cambria Math" panose="02040503050406030204" pitchFamily="18" charset="0"/>
                                      <a:ea typeface="Source Han Sans SC Normal" panose="020B0400000000000000" pitchFamily="34" charset="-128"/>
                                    </a:rPr>
                                    <m:t>𝑎</m:t>
                                  </m:r>
                                </m:e>
                                <m:sup>
                                  <m:r>
                                    <a:rPr kumimoji="1" lang="en-US" altLang="zh-CN" i="1">
                                      <a:latin typeface="Cambria Math" panose="02040503050406030204" pitchFamily="18" charset="0"/>
                                      <a:ea typeface="Source Han Sans SC Normal" panose="020B0400000000000000" pitchFamily="34" charset="-128"/>
                                    </a:rPr>
                                    <m:t>&lt;</m:t>
                                  </m:r>
                                  <m:r>
                                    <a:rPr kumimoji="1" lang="en-US" altLang="zh-CN" i="1">
                                      <a:latin typeface="Cambria Math" panose="02040503050406030204" pitchFamily="18" charset="0"/>
                                      <a:ea typeface="Source Han Sans SC Normal" panose="020B0400000000000000" pitchFamily="34" charset="-128"/>
                                    </a:rPr>
                                    <m:t>𝑡</m:t>
                                  </m:r>
                                  <m:r>
                                    <a:rPr kumimoji="1" lang="en-US" altLang="zh-CN" i="1">
                                      <a:latin typeface="Cambria Math" panose="02040503050406030204" pitchFamily="18" charset="0"/>
                                      <a:ea typeface="Source Han Sans SC Normal" panose="020B0400000000000000" pitchFamily="34" charset="-128"/>
                                    </a:rPr>
                                    <m:t>−1&gt;</m:t>
                                  </m:r>
                                </m:sup>
                              </m:sSup>
                              <m:r>
                                <a:rPr kumimoji="1" lang="en-US" altLang="zh-CN" i="1">
                                  <a:latin typeface="Cambria Math" panose="02040503050406030204" pitchFamily="18" charset="0"/>
                                  <a:ea typeface="Source Han Sans SC Normal" panose="020B0400000000000000" pitchFamily="34" charset="-128"/>
                                </a:rPr>
                                <m:t>,</m:t>
                              </m:r>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i="1">
                                      <a:latin typeface="Cambria Math" panose="02040503050406030204" pitchFamily="18" charset="0"/>
                                      <a:ea typeface="Source Han Sans SC Normal" panose="020B0400000000000000" pitchFamily="34" charset="-128"/>
                                    </a:rPr>
                                    <m:t>𝑥</m:t>
                                  </m:r>
                                </m:e>
                                <m:sup>
                                  <m:r>
                                    <a:rPr kumimoji="1" lang="en-US" altLang="zh-CN" i="1">
                                      <a:latin typeface="Cambria Math" panose="02040503050406030204" pitchFamily="18" charset="0"/>
                                      <a:ea typeface="Source Han Sans SC Normal" panose="020B0400000000000000" pitchFamily="34" charset="-128"/>
                                    </a:rPr>
                                    <m:t>𝑡</m:t>
                                  </m:r>
                                </m:sup>
                              </m:sSup>
                            </m:e>
                          </m:d>
                          <m:r>
                            <a:rPr kumimoji="1" lang="en-US" altLang="zh-CN" i="1">
                              <a:latin typeface="Cambria Math" panose="02040503050406030204" pitchFamily="18" charset="0"/>
                              <a:ea typeface="Source Han Sans SC Normal" panose="020B0400000000000000" pitchFamily="34" charset="-128"/>
                            </a:rPr>
                            <m:t>+</m:t>
                          </m:r>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𝑏</m:t>
                              </m:r>
                            </m:e>
                            <m:sub>
                              <m:r>
                                <a:rPr kumimoji="1" lang="en-US" altLang="zh-CN" b="0" i="1" smtClean="0">
                                  <a:latin typeface="Cambria Math" panose="02040503050406030204" pitchFamily="18" charset="0"/>
                                  <a:ea typeface="Source Han Sans SC Normal" panose="020B0400000000000000" pitchFamily="34" charset="-128"/>
                                </a:rPr>
                                <m:t>𝑜</m:t>
                              </m:r>
                            </m:sub>
                          </m:sSub>
                        </m:e>
                      </m:d>
                    </m:oMath>
                  </m:oMathPara>
                </a14:m>
                <a:endParaRPr kumimoji="1" lang="en-US" altLang="zh-CN" dirty="0">
                  <a:latin typeface="Source Han Sans SC Normal" panose="020B0400000000000000" pitchFamily="34" charset="-128"/>
                  <a:ea typeface="Source Han Sans SC Normal" panose="020B0400000000000000" pitchFamily="34" charset="-128"/>
                </a:endParaRPr>
              </a:p>
              <a:p>
                <a:pPr>
                  <a:lnSpc>
                    <a:spcPct val="130000"/>
                  </a:lnSpc>
                </a:pPr>
                <a14:m>
                  <m:oMathPara xmlns:m="http://schemas.openxmlformats.org/officeDocument/2006/math">
                    <m:oMathParaPr>
                      <m:jc m:val="left"/>
                    </m:oMathParaPr>
                    <m:oMath xmlns:m="http://schemas.openxmlformats.org/officeDocument/2006/math">
                      <m:sSup>
                        <m:sSupPr>
                          <m:ctrlPr>
                            <a:rPr kumimoji="1" lang="en-US" altLang="zh-CN" i="1" smtClean="0">
                              <a:latin typeface="Cambria Math" panose="02040503050406030204" pitchFamily="18" charset="0"/>
                              <a:ea typeface="Source Han Sans SC Normal" panose="020B0400000000000000" pitchFamily="34" charset="-128"/>
                            </a:rPr>
                          </m:ctrlPr>
                        </m:sSupPr>
                        <m:e>
                          <m:r>
                            <a:rPr kumimoji="1" lang="en-US" altLang="zh-CN" b="0" i="1" smtClean="0">
                              <a:latin typeface="Cambria Math" panose="02040503050406030204" pitchFamily="18" charset="0"/>
                              <a:ea typeface="Source Han Sans SC Normal" panose="020B0400000000000000" pitchFamily="34" charset="-128"/>
                            </a:rPr>
                            <m:t>𝑐</m:t>
                          </m:r>
                        </m:e>
                        <m:sup>
                          <m:r>
                            <a:rPr kumimoji="1" lang="en-US" altLang="zh-CN" b="0" i="1" smtClean="0">
                              <a:latin typeface="Cambria Math" panose="02040503050406030204" pitchFamily="18" charset="0"/>
                              <a:ea typeface="Source Han Sans SC Normal" panose="020B0400000000000000" pitchFamily="34" charset="-128"/>
                            </a:rPr>
                            <m:t>′&lt;</m:t>
                          </m:r>
                          <m:r>
                            <a:rPr kumimoji="1" lang="en-US" altLang="zh-CN" b="0" i="1" smtClean="0">
                              <a:latin typeface="Cambria Math" panose="02040503050406030204" pitchFamily="18" charset="0"/>
                              <a:ea typeface="Source Han Sans SC Normal" panose="020B0400000000000000" pitchFamily="34" charset="-128"/>
                            </a:rPr>
                            <m:t>𝑡</m:t>
                          </m:r>
                          <m:r>
                            <a:rPr kumimoji="1" lang="en-US" altLang="zh-CN" b="0" i="1" smtClean="0">
                              <a:latin typeface="Cambria Math" panose="02040503050406030204" pitchFamily="18" charset="0"/>
                              <a:ea typeface="Source Han Sans SC Normal" panose="020B0400000000000000" pitchFamily="34" charset="-128"/>
                            </a:rPr>
                            <m:t>&gt;</m:t>
                          </m:r>
                        </m:sup>
                      </m:sSup>
                      <m:r>
                        <a:rPr kumimoji="1" lang="en-US" altLang="zh-CN" b="0" i="1" smtClean="0">
                          <a:latin typeface="Cambria Math" panose="02040503050406030204" pitchFamily="18" charset="0"/>
                          <a:ea typeface="Source Han Sans SC Normal" panose="020B0400000000000000" pitchFamily="34" charset="-128"/>
                        </a:rPr>
                        <m:t>=</m:t>
                      </m:r>
                      <m:r>
                        <m:rPr>
                          <m:sty m:val="p"/>
                        </m:rPr>
                        <a:rPr kumimoji="1" lang="en-US" altLang="zh-CN" b="0" i="0" smtClean="0">
                          <a:latin typeface="Cambria Math" panose="02040503050406030204" pitchFamily="18" charset="0"/>
                          <a:ea typeface="Source Han Sans SC Normal" panose="020B0400000000000000" pitchFamily="34" charset="-128"/>
                        </a:rPr>
                        <m:t>tanh</m:t>
                      </m:r>
                      <m:r>
                        <a:rPr kumimoji="1" lang="en-US" altLang="zh-CN" b="0" i="1" smtClean="0">
                          <a:latin typeface="Cambria Math" panose="02040503050406030204" pitchFamily="18" charset="0"/>
                          <a:ea typeface="Source Han Sans SC Normal" panose="020B0400000000000000" pitchFamily="34" charset="-128"/>
                        </a:rPr>
                        <m:t>⁡(</m:t>
                      </m:r>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𝑤</m:t>
                          </m:r>
                        </m:e>
                        <m:sub>
                          <m:r>
                            <a:rPr kumimoji="1" lang="en-US" altLang="zh-CN" b="0" i="1" smtClean="0">
                              <a:latin typeface="Cambria Math" panose="02040503050406030204" pitchFamily="18" charset="0"/>
                              <a:ea typeface="Source Han Sans SC Normal" panose="020B0400000000000000" pitchFamily="34" charset="-128"/>
                            </a:rPr>
                            <m:t>𝑐</m:t>
                          </m:r>
                        </m:sub>
                      </m:sSub>
                      <m:d>
                        <m:dPr>
                          <m:begChr m:val="["/>
                          <m:endChr m:val="]"/>
                          <m:ctrlPr>
                            <a:rPr kumimoji="1" lang="en-US" altLang="zh-CN" i="1">
                              <a:latin typeface="Cambria Math" panose="02040503050406030204" pitchFamily="18" charset="0"/>
                              <a:ea typeface="Source Han Sans SC Normal" panose="020B0400000000000000" pitchFamily="34" charset="-128"/>
                            </a:rPr>
                          </m:ctrlPr>
                        </m:dPr>
                        <m:e>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i="1">
                                  <a:latin typeface="Cambria Math" panose="02040503050406030204" pitchFamily="18" charset="0"/>
                                  <a:ea typeface="Source Han Sans SC Normal" panose="020B0400000000000000" pitchFamily="34" charset="-128"/>
                                </a:rPr>
                                <m:t>𝑎</m:t>
                              </m:r>
                            </m:e>
                            <m:sup>
                              <m:r>
                                <a:rPr kumimoji="1" lang="en-US" altLang="zh-CN" i="1">
                                  <a:latin typeface="Cambria Math" panose="02040503050406030204" pitchFamily="18" charset="0"/>
                                  <a:ea typeface="Source Han Sans SC Normal" panose="020B0400000000000000" pitchFamily="34" charset="-128"/>
                                </a:rPr>
                                <m:t>&lt;</m:t>
                              </m:r>
                              <m:r>
                                <a:rPr kumimoji="1" lang="en-US" altLang="zh-CN" i="1">
                                  <a:latin typeface="Cambria Math" panose="02040503050406030204" pitchFamily="18" charset="0"/>
                                  <a:ea typeface="Source Han Sans SC Normal" panose="020B0400000000000000" pitchFamily="34" charset="-128"/>
                                </a:rPr>
                                <m:t>𝑡</m:t>
                              </m:r>
                              <m:r>
                                <a:rPr kumimoji="1" lang="en-US" altLang="zh-CN" i="1">
                                  <a:latin typeface="Cambria Math" panose="02040503050406030204" pitchFamily="18" charset="0"/>
                                  <a:ea typeface="Source Han Sans SC Normal" panose="020B0400000000000000" pitchFamily="34" charset="-128"/>
                                </a:rPr>
                                <m:t>−1&gt;</m:t>
                              </m:r>
                            </m:sup>
                          </m:sSup>
                          <m:r>
                            <a:rPr kumimoji="1" lang="en-US" altLang="zh-CN" i="1">
                              <a:latin typeface="Cambria Math" panose="02040503050406030204" pitchFamily="18" charset="0"/>
                              <a:ea typeface="Source Han Sans SC Normal" panose="020B0400000000000000" pitchFamily="34" charset="-128"/>
                            </a:rPr>
                            <m:t>,</m:t>
                          </m:r>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i="1">
                                  <a:latin typeface="Cambria Math" panose="02040503050406030204" pitchFamily="18" charset="0"/>
                                  <a:ea typeface="Source Han Sans SC Normal" panose="020B0400000000000000" pitchFamily="34" charset="-128"/>
                                </a:rPr>
                                <m:t>𝑥</m:t>
                              </m:r>
                            </m:e>
                            <m:sup>
                              <m:r>
                                <a:rPr kumimoji="1" lang="en-US" altLang="zh-CN" i="1">
                                  <a:latin typeface="Cambria Math" panose="02040503050406030204" pitchFamily="18" charset="0"/>
                                  <a:ea typeface="Source Han Sans SC Normal" panose="020B0400000000000000" pitchFamily="34" charset="-128"/>
                                </a:rPr>
                                <m:t>𝑡</m:t>
                              </m:r>
                            </m:sup>
                          </m:sSup>
                        </m:e>
                      </m:d>
                      <m:r>
                        <a:rPr kumimoji="1" lang="en-US" altLang="zh-CN" i="1">
                          <a:latin typeface="Cambria Math" panose="02040503050406030204" pitchFamily="18" charset="0"/>
                          <a:ea typeface="Source Han Sans SC Normal" panose="020B0400000000000000" pitchFamily="34" charset="-128"/>
                        </a:rPr>
                        <m:t>+</m:t>
                      </m:r>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𝑏</m:t>
                          </m:r>
                        </m:e>
                        <m:sub>
                          <m:r>
                            <a:rPr kumimoji="1" lang="en-US" altLang="zh-CN" b="0" i="1" smtClean="0">
                              <a:latin typeface="Cambria Math" panose="02040503050406030204" pitchFamily="18" charset="0"/>
                              <a:ea typeface="Source Han Sans SC Normal" panose="020B0400000000000000" pitchFamily="34" charset="-128"/>
                            </a:rPr>
                            <m:t>𝑐</m:t>
                          </m:r>
                        </m:sub>
                      </m:sSub>
                      <m:r>
                        <a:rPr kumimoji="1" lang="en-US" altLang="zh-CN" b="0" i="1" smtClean="0">
                          <a:latin typeface="Cambria Math" panose="02040503050406030204" pitchFamily="18" charset="0"/>
                          <a:ea typeface="Source Han Sans SC Normal" panose="020B0400000000000000" pitchFamily="34" charset="-128"/>
                        </a:rPr>
                        <m:t>)</m:t>
                      </m:r>
                    </m:oMath>
                  </m:oMathPara>
                </a14:m>
                <a:endParaRPr kumimoji="1" lang="en-US" altLang="zh-CN" dirty="0">
                  <a:latin typeface="Source Han Sans SC Normal" panose="020B0400000000000000" pitchFamily="34" charset="-128"/>
                  <a:ea typeface="Source Han Sans SC Normal" panose="020B0400000000000000" pitchFamily="34" charset="-128"/>
                </a:endParaRPr>
              </a:p>
              <a:p>
                <a:pPr>
                  <a:lnSpc>
                    <a:spcPct val="130000"/>
                  </a:lnSpc>
                </a:pPr>
                <a14:m>
                  <m:oMath xmlns:m="http://schemas.openxmlformats.org/officeDocument/2006/math">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i="1">
                            <a:latin typeface="Cambria Math" panose="02040503050406030204" pitchFamily="18" charset="0"/>
                            <a:ea typeface="Source Han Sans SC Normal" panose="020B0400000000000000" pitchFamily="34" charset="-128"/>
                          </a:rPr>
                          <m:t>𝑐</m:t>
                        </m:r>
                      </m:e>
                      <m:sup>
                        <m:r>
                          <a:rPr kumimoji="1" lang="en-US" altLang="zh-CN" i="1">
                            <a:latin typeface="Cambria Math" panose="02040503050406030204" pitchFamily="18" charset="0"/>
                            <a:ea typeface="Source Han Sans SC Normal" panose="020B0400000000000000" pitchFamily="34" charset="-128"/>
                          </a:rPr>
                          <m:t>&lt;</m:t>
                        </m:r>
                        <m:r>
                          <a:rPr kumimoji="1" lang="en-US" altLang="zh-CN" i="1">
                            <a:latin typeface="Cambria Math" panose="02040503050406030204" pitchFamily="18" charset="0"/>
                            <a:ea typeface="Source Han Sans SC Normal" panose="020B0400000000000000" pitchFamily="34" charset="-128"/>
                          </a:rPr>
                          <m:t>𝑡</m:t>
                        </m:r>
                        <m:r>
                          <a:rPr kumimoji="1" lang="en-US" altLang="zh-CN" i="1">
                            <a:latin typeface="Cambria Math" panose="02040503050406030204" pitchFamily="18" charset="0"/>
                            <a:ea typeface="Source Han Sans SC Normal" panose="020B0400000000000000" pitchFamily="34" charset="-128"/>
                          </a:rPr>
                          <m:t>&gt;</m:t>
                        </m:r>
                      </m:sup>
                    </m:sSup>
                    <m:r>
                      <a:rPr kumimoji="1" lang="en-US" altLang="zh-CN" i="1">
                        <a:latin typeface="Cambria Math" panose="02040503050406030204" pitchFamily="18" charset="0"/>
                        <a:ea typeface="Source Han Sans SC Normal" panose="020B0400000000000000" pitchFamily="34" charset="-128"/>
                      </a:rPr>
                      <m:t>=</m:t>
                    </m:r>
                  </m:oMath>
                </a14:m>
                <a:r>
                  <a:rPr kumimoji="1" lang="en-US" altLang="zh-CN" dirty="0">
                    <a:ea typeface="Source Han Sans SC Normal" panose="020B0400000000000000" pitchFamily="34" charset="-128"/>
                  </a:rPr>
                  <a:t> </a:t>
                </a:r>
                <a14:m>
                  <m:oMath xmlns:m="http://schemas.openxmlformats.org/officeDocument/2006/math">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𝐹</m:t>
                        </m:r>
                      </m:e>
                      <m:sub>
                        <m:r>
                          <m:rPr>
                            <m:sty m:val="p"/>
                          </m:rPr>
                          <a:rPr kumimoji="1" lang="en-US" altLang="zh-CN" i="1">
                            <a:latin typeface="Cambria Math" panose="02040503050406030204" pitchFamily="18" charset="0"/>
                            <a:ea typeface="Source Han Sans SC Normal" panose="020B0400000000000000" pitchFamily="34" charset="-128"/>
                          </a:rPr>
                          <m:t>u</m:t>
                        </m:r>
                      </m:sub>
                    </m:sSub>
                  </m:oMath>
                </a14:m>
                <a:r>
                  <a:rPr kumimoji="1" lang="en-US" altLang="zh-CN" dirty="0">
                    <a:latin typeface="Source Han Sans SC Normal" panose="020B0400000000000000" pitchFamily="34" charset="-128"/>
                    <a:ea typeface="Source Han Sans SC Normal" panose="020B0400000000000000" pitchFamily="34" charset="-128"/>
                  </a:rPr>
                  <a:t>*</a:t>
                </a:r>
                <a:r>
                  <a:rPr kumimoji="1" lang="en-US" altLang="zh-CN" dirty="0">
                    <a:ea typeface="Source Han Sans SC Normal" panose="020B0400000000000000" pitchFamily="34" charset="-128"/>
                  </a:rPr>
                  <a:t> </a:t>
                </a:r>
                <a14:m>
                  <m:oMath xmlns:m="http://schemas.openxmlformats.org/officeDocument/2006/math">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i="1">
                            <a:latin typeface="Cambria Math" panose="02040503050406030204" pitchFamily="18" charset="0"/>
                            <a:ea typeface="Source Han Sans SC Normal" panose="020B0400000000000000" pitchFamily="34" charset="-128"/>
                          </a:rPr>
                          <m:t>𝑐</m:t>
                        </m:r>
                      </m:e>
                      <m:sup>
                        <m:r>
                          <a:rPr kumimoji="1" lang="en-US" altLang="zh-CN" i="1">
                            <a:latin typeface="Cambria Math" panose="02040503050406030204" pitchFamily="18" charset="0"/>
                            <a:ea typeface="Source Han Sans SC Normal" panose="020B0400000000000000" pitchFamily="34" charset="-128"/>
                          </a:rPr>
                          <m:t>′&lt;</m:t>
                        </m:r>
                        <m:r>
                          <a:rPr kumimoji="1" lang="en-US" altLang="zh-CN" i="1">
                            <a:latin typeface="Cambria Math" panose="02040503050406030204" pitchFamily="18" charset="0"/>
                            <a:ea typeface="Source Han Sans SC Normal" panose="020B0400000000000000" pitchFamily="34" charset="-128"/>
                          </a:rPr>
                          <m:t>𝑡</m:t>
                        </m:r>
                        <m:r>
                          <a:rPr kumimoji="1" lang="en-US" altLang="zh-CN" i="1">
                            <a:latin typeface="Cambria Math" panose="02040503050406030204" pitchFamily="18" charset="0"/>
                            <a:ea typeface="Source Han Sans SC Normal" panose="020B0400000000000000" pitchFamily="34" charset="-128"/>
                          </a:rPr>
                          <m:t>&gt;</m:t>
                        </m:r>
                      </m:sup>
                    </m:sSup>
                  </m:oMath>
                </a14:m>
                <a:r>
                  <a:rPr kumimoji="1" lang="en-US" altLang="zh-CN" dirty="0">
                    <a:latin typeface="Source Han Sans SC Normal" panose="020B0400000000000000" pitchFamily="34" charset="-128"/>
                    <a:ea typeface="Source Han Sans SC Normal" panose="020B0400000000000000" pitchFamily="34" charset="-128"/>
                  </a:rPr>
                  <a:t>+</a:t>
                </a:r>
                <a:r>
                  <a:rPr kumimoji="1" lang="en-US" altLang="zh-CN" dirty="0">
                    <a:ea typeface="Source Han Sans SC Normal" panose="020B0400000000000000" pitchFamily="34" charset="-128"/>
                  </a:rPr>
                  <a:t> </a:t>
                </a:r>
                <a14:m>
                  <m:oMath xmlns:m="http://schemas.openxmlformats.org/officeDocument/2006/math">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𝐹</m:t>
                        </m:r>
                      </m:e>
                      <m:sub>
                        <m:r>
                          <a:rPr kumimoji="1" lang="en-US" altLang="zh-CN" i="1">
                            <a:latin typeface="Cambria Math" panose="02040503050406030204" pitchFamily="18" charset="0"/>
                            <a:ea typeface="Source Han Sans SC Normal" panose="020B0400000000000000" pitchFamily="34" charset="-128"/>
                          </a:rPr>
                          <m:t>𝑓</m:t>
                        </m:r>
                      </m:sub>
                    </m:sSub>
                  </m:oMath>
                </a14:m>
                <a:r>
                  <a:rPr kumimoji="1" lang="en-US" altLang="zh-CN" dirty="0">
                    <a:latin typeface="Source Han Sans SC Normal" panose="020B0400000000000000" pitchFamily="34" charset="-128"/>
                    <a:ea typeface="Source Han Sans SC Normal" panose="020B0400000000000000" pitchFamily="34" charset="-128"/>
                  </a:rPr>
                  <a:t>*</a:t>
                </a:r>
                <a:r>
                  <a:rPr kumimoji="1" lang="en-US" altLang="zh-CN" dirty="0">
                    <a:ea typeface="Source Han Sans SC Normal" panose="020B0400000000000000" pitchFamily="34" charset="-128"/>
                  </a:rPr>
                  <a:t> </a:t>
                </a:r>
                <a14:m>
                  <m:oMath xmlns:m="http://schemas.openxmlformats.org/officeDocument/2006/math">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i="1">
                            <a:latin typeface="Cambria Math" panose="02040503050406030204" pitchFamily="18" charset="0"/>
                            <a:ea typeface="Source Han Sans SC Normal" panose="020B0400000000000000" pitchFamily="34" charset="-128"/>
                          </a:rPr>
                          <m:t>𝑐</m:t>
                        </m:r>
                      </m:e>
                      <m:sup>
                        <m:r>
                          <a:rPr kumimoji="1" lang="en-US" altLang="zh-CN" i="1">
                            <a:latin typeface="Cambria Math" panose="02040503050406030204" pitchFamily="18" charset="0"/>
                            <a:ea typeface="Source Han Sans SC Normal" panose="020B0400000000000000" pitchFamily="34" charset="-128"/>
                          </a:rPr>
                          <m:t>&lt;</m:t>
                        </m:r>
                        <m:r>
                          <a:rPr kumimoji="1" lang="en-US" altLang="zh-CN" i="1">
                            <a:latin typeface="Cambria Math" panose="02040503050406030204" pitchFamily="18" charset="0"/>
                            <a:ea typeface="Source Han Sans SC Normal" panose="020B0400000000000000" pitchFamily="34" charset="-128"/>
                          </a:rPr>
                          <m:t>𝑡</m:t>
                        </m:r>
                        <m:r>
                          <a:rPr kumimoji="1" lang="en-US" altLang="zh-CN" b="0" i="1" smtClean="0">
                            <a:latin typeface="Cambria Math" panose="02040503050406030204" pitchFamily="18" charset="0"/>
                            <a:ea typeface="Source Han Sans SC Normal" panose="020B0400000000000000" pitchFamily="34" charset="-128"/>
                          </a:rPr>
                          <m:t>−1</m:t>
                        </m:r>
                        <m:r>
                          <a:rPr kumimoji="1" lang="en-US" altLang="zh-CN" i="1">
                            <a:latin typeface="Cambria Math" panose="02040503050406030204" pitchFamily="18" charset="0"/>
                            <a:ea typeface="Source Han Sans SC Normal" panose="020B0400000000000000" pitchFamily="34" charset="-128"/>
                          </a:rPr>
                          <m:t>&gt;</m:t>
                        </m:r>
                      </m:sup>
                    </m:sSup>
                  </m:oMath>
                </a14:m>
                <a:endParaRPr kumimoji="1" lang="en-US" altLang="zh-CN" dirty="0">
                  <a:latin typeface="Source Han Sans SC Normal" panose="020B0400000000000000" pitchFamily="34" charset="-128"/>
                  <a:ea typeface="Source Han Sans SC Normal" panose="020B0400000000000000" pitchFamily="34" charset="-128"/>
                </a:endParaRPr>
              </a:p>
              <a:p>
                <a:pPr>
                  <a:lnSpc>
                    <a:spcPct val="130000"/>
                  </a:lnSpc>
                </a:pPr>
                <a14:m>
                  <m:oMath xmlns:m="http://schemas.openxmlformats.org/officeDocument/2006/math">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b="0" i="1" smtClean="0">
                            <a:latin typeface="Cambria Math" panose="02040503050406030204" pitchFamily="18" charset="0"/>
                            <a:ea typeface="Source Han Sans SC Normal" panose="020B0400000000000000" pitchFamily="34" charset="-128"/>
                          </a:rPr>
                          <m:t>𝑎</m:t>
                        </m:r>
                      </m:e>
                      <m:sup>
                        <m:r>
                          <a:rPr kumimoji="1" lang="en-US" altLang="zh-CN" i="1">
                            <a:latin typeface="Cambria Math" panose="02040503050406030204" pitchFamily="18" charset="0"/>
                            <a:ea typeface="Source Han Sans SC Normal" panose="020B0400000000000000" pitchFamily="34" charset="-128"/>
                          </a:rPr>
                          <m:t>&lt;</m:t>
                        </m:r>
                        <m:r>
                          <a:rPr kumimoji="1" lang="en-US" altLang="zh-CN" i="1">
                            <a:latin typeface="Cambria Math" panose="02040503050406030204" pitchFamily="18" charset="0"/>
                            <a:ea typeface="Source Han Sans SC Normal" panose="020B0400000000000000" pitchFamily="34" charset="-128"/>
                          </a:rPr>
                          <m:t>𝑡</m:t>
                        </m:r>
                        <m:r>
                          <a:rPr kumimoji="1" lang="en-US" altLang="zh-CN" i="1">
                            <a:latin typeface="Cambria Math" panose="02040503050406030204" pitchFamily="18" charset="0"/>
                            <a:ea typeface="Source Han Sans SC Normal" panose="020B0400000000000000" pitchFamily="34" charset="-128"/>
                          </a:rPr>
                          <m:t>&gt;</m:t>
                        </m:r>
                      </m:sup>
                    </m:sSup>
                    <m:r>
                      <a:rPr kumimoji="1" lang="en-US" altLang="zh-CN" i="1">
                        <a:latin typeface="Cambria Math" panose="02040503050406030204" pitchFamily="18" charset="0"/>
                        <a:ea typeface="Source Han Sans SC Normal" panose="020B0400000000000000" pitchFamily="34" charset="-128"/>
                      </a:rPr>
                      <m:t>=</m:t>
                    </m:r>
                  </m:oMath>
                </a14:m>
                <a:r>
                  <a:rPr kumimoji="1" lang="en-US" altLang="zh-CN" dirty="0">
                    <a:ea typeface="Source Han Sans SC Normal" panose="020B0400000000000000" pitchFamily="34" charset="-128"/>
                  </a:rPr>
                  <a:t> </a:t>
                </a:r>
                <a14:m>
                  <m:oMath xmlns:m="http://schemas.openxmlformats.org/officeDocument/2006/math">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𝐹</m:t>
                        </m:r>
                      </m:e>
                      <m:sub>
                        <m:r>
                          <a:rPr kumimoji="1" lang="en-US" altLang="zh-CN" b="0" i="1" smtClean="0">
                            <a:latin typeface="Cambria Math" panose="02040503050406030204" pitchFamily="18" charset="0"/>
                            <a:ea typeface="Source Han Sans SC Normal" panose="020B0400000000000000" pitchFamily="34" charset="-128"/>
                          </a:rPr>
                          <m:t>𝑜</m:t>
                        </m:r>
                      </m:sub>
                    </m:sSub>
                    <m:r>
                      <a:rPr kumimoji="1" lang="en-US" altLang="zh-CN" b="0" i="1" smtClean="0">
                        <a:latin typeface="Cambria Math" panose="02040503050406030204" pitchFamily="18" charset="0"/>
                        <a:ea typeface="Source Han Sans SC Normal" panose="020B0400000000000000" pitchFamily="34" charset="-128"/>
                      </a:rPr>
                      <m:t>∗</m:t>
                    </m:r>
                    <m:r>
                      <m:rPr>
                        <m:sty m:val="p"/>
                      </m:rPr>
                      <a:rPr kumimoji="1" lang="en-US" altLang="zh-CN" b="0" i="0" smtClean="0">
                        <a:latin typeface="Cambria Math" panose="02040503050406030204" pitchFamily="18" charset="0"/>
                        <a:ea typeface="Source Han Sans SC Normal" panose="020B0400000000000000" pitchFamily="34" charset="-128"/>
                      </a:rPr>
                      <m:t>tanh</m:t>
                    </m:r>
                    <m:r>
                      <a:rPr kumimoji="1" lang="en-US" altLang="zh-CN" b="0" i="1" smtClean="0">
                        <a:latin typeface="Cambria Math" panose="02040503050406030204" pitchFamily="18" charset="0"/>
                        <a:ea typeface="Source Han Sans SC Normal" panose="020B0400000000000000" pitchFamily="34" charset="-128"/>
                      </a:rPr>
                      <m:t>⁡(</m:t>
                    </m:r>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i="1">
                            <a:latin typeface="Cambria Math" panose="02040503050406030204" pitchFamily="18" charset="0"/>
                            <a:ea typeface="Source Han Sans SC Normal" panose="020B0400000000000000" pitchFamily="34" charset="-128"/>
                          </a:rPr>
                          <m:t>𝑐</m:t>
                        </m:r>
                      </m:e>
                      <m:sup>
                        <m:r>
                          <a:rPr kumimoji="1" lang="en-US" altLang="zh-CN" i="1">
                            <a:latin typeface="Cambria Math" panose="02040503050406030204" pitchFamily="18" charset="0"/>
                            <a:ea typeface="Source Han Sans SC Normal" panose="020B0400000000000000" pitchFamily="34" charset="-128"/>
                          </a:rPr>
                          <m:t>&lt;</m:t>
                        </m:r>
                        <m:r>
                          <a:rPr kumimoji="1" lang="en-US" altLang="zh-CN" i="1">
                            <a:latin typeface="Cambria Math" panose="02040503050406030204" pitchFamily="18" charset="0"/>
                            <a:ea typeface="Source Han Sans SC Normal" panose="020B0400000000000000" pitchFamily="34" charset="-128"/>
                          </a:rPr>
                          <m:t>𝑡</m:t>
                        </m:r>
                        <m:r>
                          <a:rPr kumimoji="1" lang="en-US" altLang="zh-CN" i="1">
                            <a:latin typeface="Cambria Math" panose="02040503050406030204" pitchFamily="18" charset="0"/>
                            <a:ea typeface="Source Han Sans SC Normal" panose="020B0400000000000000" pitchFamily="34" charset="-128"/>
                          </a:rPr>
                          <m:t>&gt;</m:t>
                        </m:r>
                      </m:sup>
                    </m:sSup>
                    <m:r>
                      <a:rPr kumimoji="1" lang="en-US" altLang="zh-CN" b="0" i="1" smtClean="0">
                        <a:latin typeface="Cambria Math" panose="02040503050406030204" pitchFamily="18" charset="0"/>
                        <a:ea typeface="Source Han Sans SC Normal" panose="020B0400000000000000" pitchFamily="34" charset="-128"/>
                      </a:rPr>
                      <m:t>)</m:t>
                    </m:r>
                  </m:oMath>
                </a14:m>
                <a:endParaRPr kumimoji="1" lang="en-US" altLang="zh-CN" dirty="0">
                  <a:latin typeface="Source Han Sans SC Normal" panose="020B0400000000000000" pitchFamily="34" charset="-128"/>
                  <a:ea typeface="Source Han Sans SC Normal" panose="020B0400000000000000" pitchFamily="34" charset="-128"/>
                </a:endParaRPr>
              </a:p>
              <a:p>
                <a:pPr>
                  <a:lnSpc>
                    <a:spcPct val="130000"/>
                  </a:lnSpc>
                </a:pPr>
                <a14:m>
                  <m:oMath xmlns:m="http://schemas.openxmlformats.org/officeDocument/2006/math">
                    <m:r>
                      <a:rPr kumimoji="1" lang="en-US" altLang="zh-CN" b="0" i="1" smtClean="0">
                        <a:latin typeface="Cambria Math" panose="02040503050406030204" pitchFamily="18" charset="0"/>
                        <a:ea typeface="Source Han Sans SC Normal" panose="020B0400000000000000" pitchFamily="34" charset="-128"/>
                      </a:rPr>
                      <m:t>𝐶𝑜𝑛𝑡𝑒𝑥𝑡</m:t>
                    </m:r>
                    <m:r>
                      <a:rPr kumimoji="1" lang="en-US" altLang="zh-CN" b="0" i="1" smtClean="0">
                        <a:latin typeface="Cambria Math" panose="02040503050406030204" pitchFamily="18" charset="0"/>
                        <a:ea typeface="Source Han Sans SC Normal" panose="020B0400000000000000" pitchFamily="34" charset="-128"/>
                      </a:rPr>
                      <m:t> </m:t>
                    </m:r>
                    <m:r>
                      <a:rPr kumimoji="1" lang="en-US" altLang="zh-CN" b="0" i="1" smtClean="0">
                        <a:latin typeface="Cambria Math" panose="02040503050406030204" pitchFamily="18" charset="0"/>
                        <a:ea typeface="Source Han Sans SC Normal" panose="020B0400000000000000" pitchFamily="34" charset="-128"/>
                      </a:rPr>
                      <m:t>𝑣𝑒𝑐𝑡𝑜𝑟</m:t>
                    </m:r>
                    <m:r>
                      <a:rPr kumimoji="1" lang="en-US" altLang="zh-CN" b="0" i="1" smtClean="0">
                        <a:latin typeface="Cambria Math" panose="02040503050406030204" pitchFamily="18" charset="0"/>
                        <a:ea typeface="Source Han Sans SC Normal" panose="020B0400000000000000" pitchFamily="34" charset="-128"/>
                      </a:rPr>
                      <m:t>=</m:t>
                    </m:r>
                    <m:sSup>
                      <m:sSupPr>
                        <m:ctrlPr>
                          <a:rPr kumimoji="1" lang="en-US" altLang="zh-CN" b="0" i="1" smtClean="0">
                            <a:latin typeface="Cambria Math" panose="02040503050406030204" pitchFamily="18" charset="0"/>
                            <a:ea typeface="Source Han Sans SC Normal" panose="020B0400000000000000" pitchFamily="34" charset="-128"/>
                          </a:rPr>
                        </m:ctrlPr>
                      </m:sSupPr>
                      <m:e>
                        <m:r>
                          <a:rPr kumimoji="1" lang="en-US" altLang="zh-CN" b="0" i="1" smtClean="0">
                            <a:latin typeface="Cambria Math" panose="02040503050406030204" pitchFamily="18" charset="0"/>
                            <a:ea typeface="Source Han Sans SC Normal" panose="020B0400000000000000" pitchFamily="34" charset="-128"/>
                          </a:rPr>
                          <m:t>𝑎</m:t>
                        </m:r>
                      </m:e>
                      <m:sup>
                        <m:r>
                          <a:rPr kumimoji="1" lang="en-US" altLang="zh-CN" b="0" i="1" smtClean="0">
                            <a:latin typeface="Cambria Math" panose="02040503050406030204" pitchFamily="18" charset="0"/>
                            <a:ea typeface="Source Han Sans SC Normal" panose="020B0400000000000000" pitchFamily="34" charset="-128"/>
                          </a:rPr>
                          <m:t>&lt;</m:t>
                        </m:r>
                        <m:r>
                          <a:rPr kumimoji="1" lang="en-US" altLang="zh-CN" b="0" i="1" smtClean="0">
                            <a:latin typeface="Cambria Math" panose="02040503050406030204" pitchFamily="18" charset="0"/>
                            <a:ea typeface="Source Han Sans SC Normal" panose="020B0400000000000000" pitchFamily="34" charset="-128"/>
                          </a:rPr>
                          <m:t>𝑇</m:t>
                        </m:r>
                        <m:r>
                          <a:rPr kumimoji="1" lang="en-US" altLang="zh-CN" b="0" i="1" smtClean="0">
                            <a:latin typeface="Cambria Math" panose="02040503050406030204" pitchFamily="18" charset="0"/>
                            <a:ea typeface="Source Han Sans SC Normal" panose="020B0400000000000000" pitchFamily="34" charset="-128"/>
                          </a:rPr>
                          <m:t>&gt;</m:t>
                        </m:r>
                      </m:sup>
                    </m:sSup>
                  </m:oMath>
                </a14:m>
                <a:r>
                  <a:rPr kumimoji="1" lang="en-US" altLang="zh-CN" dirty="0">
                    <a:latin typeface="Source Han Sans SC Normal" panose="020B0400000000000000" pitchFamily="34" charset="-128"/>
                    <a:ea typeface="Source Han Sans SC Normal" panose="020B0400000000000000" pitchFamily="34" charset="-128"/>
                  </a:rPr>
                  <a:t>=</a:t>
                </a:r>
                <a:r>
                  <a:rPr kumimoji="1" lang="en-US" altLang="zh-CN" dirty="0">
                    <a:ea typeface="Source Han Sans SC Normal" panose="020B0400000000000000" pitchFamily="34" charset="-128"/>
                  </a:rPr>
                  <a:t> </a:t>
                </a:r>
                <a14:m>
                  <m:oMath xmlns:m="http://schemas.openxmlformats.org/officeDocument/2006/math">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b="0" i="1" smtClean="0">
                            <a:latin typeface="Cambria Math" panose="02040503050406030204" pitchFamily="18" charset="0"/>
                            <a:ea typeface="Source Han Sans SC Normal" panose="020B0400000000000000" pitchFamily="34" charset="-128"/>
                          </a:rPr>
                          <m:t>𝑠</m:t>
                        </m:r>
                      </m:e>
                      <m:sup>
                        <m:r>
                          <a:rPr kumimoji="1" lang="en-US" altLang="zh-CN" i="1">
                            <a:latin typeface="Cambria Math" panose="02040503050406030204" pitchFamily="18" charset="0"/>
                            <a:ea typeface="Source Han Sans SC Normal" panose="020B0400000000000000" pitchFamily="34" charset="-128"/>
                          </a:rPr>
                          <m:t>&lt;</m:t>
                        </m:r>
                        <m:r>
                          <a:rPr kumimoji="1" lang="en-US" altLang="zh-CN" b="0" i="1" smtClean="0">
                            <a:latin typeface="Cambria Math" panose="02040503050406030204" pitchFamily="18" charset="0"/>
                            <a:ea typeface="Source Han Sans SC Normal" panose="020B0400000000000000" pitchFamily="34" charset="-128"/>
                          </a:rPr>
                          <m:t>0</m:t>
                        </m:r>
                        <m:r>
                          <a:rPr kumimoji="1" lang="en-US" altLang="zh-CN" i="1">
                            <a:latin typeface="Cambria Math" panose="02040503050406030204" pitchFamily="18" charset="0"/>
                            <a:ea typeface="Source Han Sans SC Normal" panose="020B0400000000000000" pitchFamily="34" charset="-128"/>
                          </a:rPr>
                          <m:t>&gt;</m:t>
                        </m:r>
                      </m:sup>
                    </m:sSup>
                  </m:oMath>
                </a14:m>
                <a:endParaRPr kumimoji="1" lang="en-US" altLang="zh-CN" dirty="0">
                  <a:latin typeface="Source Han Sans SC Normal" panose="020B0400000000000000" pitchFamily="34" charset="-128"/>
                  <a:ea typeface="Source Han Sans SC Normal" panose="020B0400000000000000" pitchFamily="34" charset="-128"/>
                </a:endParaRPr>
              </a:p>
              <a:p>
                <a:pPr>
                  <a:lnSpc>
                    <a:spcPct val="130000"/>
                  </a:lnSpc>
                </a:pPr>
                <a:r>
                  <a:rPr kumimoji="1" lang="en-US" altLang="zh-CN" sz="2000" dirty="0">
                    <a:latin typeface="微软雅黑" panose="020B0503020204020204" pitchFamily="34" charset="-122"/>
                    <a:ea typeface="微软雅黑" panose="020B0503020204020204" pitchFamily="34" charset="-122"/>
                  </a:rPr>
                  <a:t>Decoder:</a:t>
                </a:r>
              </a:p>
              <a:p>
                <a:pPr>
                  <a:lnSpc>
                    <a:spcPct val="130000"/>
                  </a:lnSpc>
                </a:pPr>
                <a14:m>
                  <m:oMathPara xmlns:m="http://schemas.openxmlformats.org/officeDocument/2006/math">
                    <m:oMathParaPr>
                      <m:jc m:val="left"/>
                    </m:oMathParaPr>
                    <m:oMath xmlns:m="http://schemas.openxmlformats.org/officeDocument/2006/math">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i="1">
                              <a:latin typeface="Cambria Math" panose="02040503050406030204" pitchFamily="18" charset="0"/>
                              <a:ea typeface="Source Han Sans SC Normal" panose="020B0400000000000000" pitchFamily="34" charset="-128"/>
                            </a:rPr>
                            <m:t>𝑦</m:t>
                          </m:r>
                          <m:r>
                            <a:rPr kumimoji="1" lang="en-US" altLang="zh-CN" i="1">
                              <a:latin typeface="Cambria Math" panose="02040503050406030204" pitchFamily="18" charset="0"/>
                              <a:ea typeface="Source Han Sans SC Normal" panose="020B0400000000000000" pitchFamily="34" charset="-128"/>
                            </a:rPr>
                            <m:t>′</m:t>
                          </m:r>
                        </m:e>
                        <m:sup>
                          <m:r>
                            <a:rPr kumimoji="1" lang="en-US" altLang="zh-CN" i="1">
                              <a:latin typeface="Cambria Math" panose="02040503050406030204" pitchFamily="18" charset="0"/>
                              <a:ea typeface="Source Han Sans SC Normal" panose="020B0400000000000000" pitchFamily="34" charset="-128"/>
                            </a:rPr>
                            <m:t>&lt;</m:t>
                          </m:r>
                          <m:r>
                            <a:rPr kumimoji="1" lang="en-US" altLang="zh-CN" i="1">
                              <a:latin typeface="Cambria Math" panose="02040503050406030204" pitchFamily="18" charset="0"/>
                              <a:ea typeface="Source Han Sans SC Normal" panose="020B0400000000000000" pitchFamily="34" charset="-128"/>
                            </a:rPr>
                            <m:t>𝑡</m:t>
                          </m:r>
                          <m:r>
                            <a:rPr kumimoji="1" lang="en-US" altLang="zh-CN" i="1">
                              <a:latin typeface="Cambria Math" panose="02040503050406030204" pitchFamily="18" charset="0"/>
                              <a:ea typeface="Source Han Sans SC Normal" panose="020B0400000000000000" pitchFamily="34" charset="-128"/>
                            </a:rPr>
                            <m:t>′&gt;</m:t>
                          </m:r>
                        </m:sup>
                      </m:sSup>
                      <m:r>
                        <a:rPr kumimoji="1" lang="en-US" altLang="zh-CN" i="1">
                          <a:latin typeface="Cambria Math" panose="02040503050406030204" pitchFamily="18" charset="0"/>
                          <a:ea typeface="Source Han Sans SC Normal" panose="020B0400000000000000" pitchFamily="34" charset="-128"/>
                        </a:rPr>
                        <m:t>=</m:t>
                      </m:r>
                      <m:r>
                        <m:rPr>
                          <m:sty m:val="p"/>
                        </m:rPr>
                        <a:rPr kumimoji="1" lang="en-US" altLang="zh-CN">
                          <a:latin typeface="Cambria Math" panose="02040503050406030204" pitchFamily="18" charset="0"/>
                          <a:ea typeface="Source Han Sans SC Normal" panose="020B0400000000000000" pitchFamily="34" charset="-128"/>
                        </a:rPr>
                        <m:t>g</m:t>
                      </m:r>
                      <m:r>
                        <a:rPr kumimoji="1" lang="en-US" altLang="zh-CN" i="1">
                          <a:latin typeface="Cambria Math" panose="02040503050406030204" pitchFamily="18" charset="0"/>
                          <a:ea typeface="Source Han Sans SC Normal" panose="020B0400000000000000" pitchFamily="34" charset="-128"/>
                        </a:rPr>
                        <m:t>⁡(</m:t>
                      </m:r>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𝑤</m:t>
                          </m:r>
                        </m:e>
                        <m:sub>
                          <m:r>
                            <a:rPr kumimoji="1" lang="en-US" altLang="zh-CN" i="1">
                              <a:latin typeface="Cambria Math" panose="02040503050406030204" pitchFamily="18" charset="0"/>
                              <a:ea typeface="Source Han Sans SC Normal" panose="020B0400000000000000" pitchFamily="34" charset="-128"/>
                            </a:rPr>
                            <m:t>𝑦</m:t>
                          </m:r>
                        </m:sub>
                      </m:sSub>
                      <m:r>
                        <a:rPr kumimoji="1" lang="en-US" altLang="zh-CN" i="1">
                          <a:latin typeface="Cambria Math" panose="02040503050406030204" pitchFamily="18" charset="0"/>
                          <a:ea typeface="Source Han Sans SC Normal" panose="020B0400000000000000" pitchFamily="34" charset="-128"/>
                        </a:rPr>
                        <m:t>∗</m:t>
                      </m:r>
                      <m:sSup>
                        <m:sSupPr>
                          <m:ctrlPr>
                            <a:rPr kumimoji="1" lang="en-US" altLang="zh-CN" i="1">
                              <a:latin typeface="Cambria Math" panose="02040503050406030204" pitchFamily="18" charset="0"/>
                              <a:ea typeface="Source Han Sans SC Normal" panose="020B0400000000000000" pitchFamily="34" charset="-128"/>
                            </a:rPr>
                          </m:ctrlPr>
                        </m:sSupPr>
                        <m:e>
                          <m:r>
                            <a:rPr kumimoji="1" lang="en-US" altLang="zh-CN" i="1">
                              <a:latin typeface="Cambria Math" panose="02040503050406030204" pitchFamily="18" charset="0"/>
                              <a:ea typeface="Source Han Sans SC Normal" panose="020B0400000000000000" pitchFamily="34" charset="-128"/>
                            </a:rPr>
                            <m:t>𝑠</m:t>
                          </m:r>
                        </m:e>
                        <m:sup>
                          <m:r>
                            <a:rPr kumimoji="1" lang="en-US" altLang="zh-CN" i="1">
                              <a:latin typeface="Cambria Math" panose="02040503050406030204" pitchFamily="18" charset="0"/>
                              <a:ea typeface="Source Han Sans SC Normal" panose="020B0400000000000000" pitchFamily="34" charset="-128"/>
                            </a:rPr>
                            <m:t>&lt;</m:t>
                          </m:r>
                          <m:r>
                            <a:rPr kumimoji="1" lang="en-US" altLang="zh-CN" i="1">
                              <a:latin typeface="Cambria Math" panose="02040503050406030204" pitchFamily="18" charset="0"/>
                              <a:ea typeface="Source Han Sans SC Normal" panose="020B0400000000000000" pitchFamily="34" charset="-128"/>
                            </a:rPr>
                            <m:t>𝑡</m:t>
                          </m:r>
                          <m:r>
                            <a:rPr kumimoji="1" lang="en-US" altLang="zh-CN" i="1">
                              <a:latin typeface="Cambria Math" panose="02040503050406030204" pitchFamily="18" charset="0"/>
                              <a:ea typeface="Source Han Sans SC Normal" panose="020B0400000000000000" pitchFamily="34" charset="-128"/>
                            </a:rPr>
                            <m:t>−1&gt;</m:t>
                          </m:r>
                        </m:sup>
                      </m:sSup>
                      <m:r>
                        <a:rPr kumimoji="1" lang="en-US" altLang="zh-CN" i="1">
                          <a:latin typeface="Cambria Math" panose="02040503050406030204" pitchFamily="18" charset="0"/>
                          <a:ea typeface="Source Han Sans SC Normal" panose="020B0400000000000000" pitchFamily="34" charset="-128"/>
                        </a:rPr>
                        <m:t>+</m:t>
                      </m:r>
                      <m:sSub>
                        <m:sSubPr>
                          <m:ctrlPr>
                            <a:rPr kumimoji="1" lang="en-US" altLang="zh-CN" i="1">
                              <a:latin typeface="Cambria Math" panose="02040503050406030204" pitchFamily="18" charset="0"/>
                              <a:ea typeface="Source Han Sans SC Normal" panose="020B0400000000000000" pitchFamily="34" charset="-128"/>
                            </a:rPr>
                          </m:ctrlPr>
                        </m:sSubPr>
                        <m:e>
                          <m:r>
                            <a:rPr kumimoji="1" lang="en-US" altLang="zh-CN" i="1">
                              <a:latin typeface="Cambria Math" panose="02040503050406030204" pitchFamily="18" charset="0"/>
                              <a:ea typeface="Source Han Sans SC Normal" panose="020B0400000000000000" pitchFamily="34" charset="-128"/>
                            </a:rPr>
                            <m:t>𝑏</m:t>
                          </m:r>
                        </m:e>
                        <m:sub>
                          <m:r>
                            <a:rPr kumimoji="1" lang="en-US" altLang="zh-CN" i="1">
                              <a:latin typeface="Cambria Math" panose="02040503050406030204" pitchFamily="18" charset="0"/>
                              <a:ea typeface="Source Han Sans SC Normal" panose="020B0400000000000000" pitchFamily="34" charset="-128"/>
                            </a:rPr>
                            <m:t>𝑦</m:t>
                          </m:r>
                        </m:sub>
                      </m:sSub>
                      <m:r>
                        <a:rPr kumimoji="1" lang="en-US" altLang="zh-CN" i="1">
                          <a:latin typeface="Cambria Math" panose="02040503050406030204" pitchFamily="18" charset="0"/>
                          <a:ea typeface="Source Han Sans SC Normal" panose="020B0400000000000000" pitchFamily="34" charset="-128"/>
                        </a:rPr>
                        <m:t>)</m:t>
                      </m:r>
                    </m:oMath>
                  </m:oMathPara>
                </a14:m>
                <a:endParaRPr kumimoji="1" lang="en-US" altLang="zh-CN" dirty="0">
                  <a:latin typeface="Source Han Sans SC Normal" panose="020B0400000000000000" pitchFamily="34" charset="-128"/>
                  <a:ea typeface="Source Han Sans SC Normal" panose="020B0400000000000000" pitchFamily="34" charset="-128"/>
                </a:endParaRPr>
              </a:p>
            </p:txBody>
          </p:sp>
        </mc:Choice>
        <mc:Fallback>
          <p:sp>
            <p:nvSpPr>
              <p:cNvPr id="3" name="文本框 2">
                <a:extLst>
                  <a:ext uri="{FF2B5EF4-FFF2-40B4-BE49-F238E27FC236}">
                    <a16:creationId xmlns:a16="http://schemas.microsoft.com/office/drawing/2014/main" id="{12F44FF3-2A47-4790-9EF3-A8AF42DE3555}"/>
                  </a:ext>
                </a:extLst>
              </p:cNvPr>
              <p:cNvSpPr txBox="1">
                <a:spLocks noRot="1" noChangeAspect="1" noMove="1" noResize="1" noEditPoints="1" noAdjustHandles="1" noChangeArrowheads="1" noChangeShapeType="1" noTextEdit="1"/>
              </p:cNvSpPr>
              <p:nvPr/>
            </p:nvSpPr>
            <p:spPr>
              <a:xfrm>
                <a:off x="5929905" y="2051205"/>
                <a:ext cx="5386185" cy="3872535"/>
              </a:xfrm>
              <a:prstGeom prst="rect">
                <a:avLst/>
              </a:prstGeom>
              <a:blipFill>
                <a:blip r:embed="rId7"/>
                <a:stretch>
                  <a:fillRect l="-12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07409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706F3D8F-FAAA-2140-B796-1157B4BE68D0}"/>
              </a:ext>
            </a:extLst>
          </p:cNvPr>
          <p:cNvGrpSpPr/>
          <p:nvPr/>
        </p:nvGrpSpPr>
        <p:grpSpPr>
          <a:xfrm>
            <a:off x="0" y="-1"/>
            <a:ext cx="12192000" cy="6858002"/>
            <a:chOff x="0" y="-1"/>
            <a:chExt cx="12192000" cy="6858002"/>
          </a:xfrm>
        </p:grpSpPr>
        <p:sp>
          <p:nvSpPr>
            <p:cNvPr id="41" name="矩形 40">
              <a:extLst>
                <a:ext uri="{FF2B5EF4-FFF2-40B4-BE49-F238E27FC236}">
                  <a16:creationId xmlns:a16="http://schemas.microsoft.com/office/drawing/2014/main" id="{91AEFDA7-4F58-8342-A9E1-CBBEDB06E01B}"/>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2" name="矩形 41">
              <a:extLst>
                <a:ext uri="{FF2B5EF4-FFF2-40B4-BE49-F238E27FC236}">
                  <a16:creationId xmlns:a16="http://schemas.microsoft.com/office/drawing/2014/main" id="{7519A2E4-7654-7049-8574-E43694ED98FB}"/>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3" name="矩形 42">
              <a:extLst>
                <a:ext uri="{FF2B5EF4-FFF2-40B4-BE49-F238E27FC236}">
                  <a16:creationId xmlns:a16="http://schemas.microsoft.com/office/drawing/2014/main" id="{3A78FB99-47D7-DA43-90CB-EBB967406AA4}"/>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44" name="组合 43">
            <a:extLst>
              <a:ext uri="{FF2B5EF4-FFF2-40B4-BE49-F238E27FC236}">
                <a16:creationId xmlns:a16="http://schemas.microsoft.com/office/drawing/2014/main" id="{77B7BD4A-0299-7142-A299-2C8531632FCA}"/>
              </a:ext>
            </a:extLst>
          </p:cNvPr>
          <p:cNvGrpSpPr/>
          <p:nvPr/>
        </p:nvGrpSpPr>
        <p:grpSpPr>
          <a:xfrm>
            <a:off x="133400" y="140547"/>
            <a:ext cx="11901234" cy="6795389"/>
            <a:chOff x="133400" y="140547"/>
            <a:chExt cx="11901234" cy="6795389"/>
          </a:xfrm>
        </p:grpSpPr>
        <p:pic>
          <p:nvPicPr>
            <p:cNvPr id="45" name="图片 44">
              <a:extLst>
                <a:ext uri="{FF2B5EF4-FFF2-40B4-BE49-F238E27FC236}">
                  <a16:creationId xmlns:a16="http://schemas.microsoft.com/office/drawing/2014/main" id="{5F8EFFCB-99B0-654F-8FED-0485190172FD}"/>
                </a:ext>
              </a:extLst>
            </p:cNvPr>
            <p:cNvPicPr>
              <a:picLocks noChangeAspect="1"/>
            </p:cNvPicPr>
            <p:nvPr/>
          </p:nvPicPr>
          <p:blipFill>
            <a:blip r:embed="rId3"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46" name="图片 45">
              <a:extLst>
                <a:ext uri="{FF2B5EF4-FFF2-40B4-BE49-F238E27FC236}">
                  <a16:creationId xmlns:a16="http://schemas.microsoft.com/office/drawing/2014/main" id="{93080F77-5917-384C-AFD1-66264B40DFAC}"/>
                </a:ext>
              </a:extLst>
            </p:cNvPr>
            <p:cNvPicPr>
              <a:picLocks noChangeAspect="1"/>
            </p:cNvPicPr>
            <p:nvPr/>
          </p:nvPicPr>
          <p:blipFill>
            <a:blip r:embed="rId4"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47" name="图片 46" descr="图片包含 游戏机, 画, 钟表&#10;&#10;描述已自动生成">
              <a:extLst>
                <a:ext uri="{FF2B5EF4-FFF2-40B4-BE49-F238E27FC236}">
                  <a16:creationId xmlns:a16="http://schemas.microsoft.com/office/drawing/2014/main" id="{FE29D0C4-9C03-A64C-8458-ED23D8D76224}"/>
                </a:ext>
              </a:extLst>
            </p:cNvPr>
            <p:cNvPicPr>
              <a:picLocks noChangeAspect="1"/>
            </p:cNvPicPr>
            <p:nvPr/>
          </p:nvPicPr>
          <p:blipFill>
            <a:blip r:embed="rId5"/>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572B192-1A8B-0944-BC5E-3183B0CBCBA6}"/>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数学原理</a:t>
            </a:r>
          </a:p>
        </p:txBody>
      </p:sp>
      <p:sp>
        <p:nvSpPr>
          <p:cNvPr id="14" name="文本框 13">
            <a:extLst>
              <a:ext uri="{FF2B5EF4-FFF2-40B4-BE49-F238E27FC236}">
                <a16:creationId xmlns:a16="http://schemas.microsoft.com/office/drawing/2014/main" id="{124A3600-F159-B64D-BF63-4388A1F5289C}"/>
              </a:ext>
            </a:extLst>
          </p:cNvPr>
          <p:cNvSpPr txBox="1"/>
          <p:nvPr/>
        </p:nvSpPr>
        <p:spPr>
          <a:xfrm>
            <a:off x="1314500" y="1305501"/>
            <a:ext cx="1656223" cy="400110"/>
          </a:xfrm>
          <a:prstGeom prst="rect">
            <a:avLst/>
          </a:prstGeom>
          <a:noFill/>
        </p:spPr>
        <p:txBody>
          <a:bodyPr wrap="none" rtlCol="0">
            <a:spAutoFit/>
          </a:bodyPr>
          <a:lstStyle/>
          <a:p>
            <a:pPr algn="l"/>
            <a:r>
              <a:rPr kumimoji="1" lang="en-US" altLang="zh-CN"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Attention</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endParaRPr>
          </a:p>
        </p:txBody>
      </p:sp>
      <p:cxnSp>
        <p:nvCxnSpPr>
          <p:cNvPr id="16" name="直线连接符 15">
            <a:extLst>
              <a:ext uri="{FF2B5EF4-FFF2-40B4-BE49-F238E27FC236}">
                <a16:creationId xmlns:a16="http://schemas.microsoft.com/office/drawing/2014/main" id="{D8648111-DA66-0C4F-8D4E-74F9F9E79346}"/>
              </a:ext>
            </a:extLst>
          </p:cNvPr>
          <p:cNvCxnSpPr>
            <a:cxnSpLocks/>
          </p:cNvCxnSpPr>
          <p:nvPr/>
        </p:nvCxnSpPr>
        <p:spPr>
          <a:xfrm>
            <a:off x="1314500" y="1791497"/>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12F44FF3-2A47-4790-9EF3-A8AF42DE3555}"/>
                  </a:ext>
                </a:extLst>
              </p:cNvPr>
              <p:cNvSpPr txBox="1"/>
              <p:nvPr/>
            </p:nvSpPr>
            <p:spPr>
              <a:xfrm>
                <a:off x="6015873" y="1980654"/>
                <a:ext cx="5386185" cy="4278544"/>
              </a:xfrm>
              <a:prstGeom prst="rect">
                <a:avLst/>
              </a:prstGeom>
              <a:noFill/>
            </p:spPr>
            <p:txBody>
              <a:bodyPr wrap="square" rtlCol="0">
                <a:spAutoFit/>
              </a:bodyPr>
              <a:lstStyle/>
              <a:p>
                <a:pPr>
                  <a:lnSpc>
                    <a:spcPct val="130000"/>
                  </a:lnSpc>
                </a:pP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在解码器</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a:t>
                </a: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设计中，各个时刻使用的是相同的</a:t>
                </a:r>
                <a:r>
                  <a:rPr lang="en-US" altLang="zh-CN" kern="100" dirty="0">
                    <a:solidFill>
                      <a:srgbClr val="000000"/>
                    </a:solidFill>
                    <a:latin typeface="Times New Roman" panose="02020603050405020304" pitchFamily="18" charset="0"/>
                    <a:ea typeface="宋体" panose="02010600030101010101" pitchFamily="2" charset="-122"/>
                  </a:rPr>
                  <a:t>context vector</a:t>
                </a: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。而注意力机制模型在于，在不同时刻采用不同的</a:t>
                </a:r>
                <a:r>
                  <a:rPr lang="en-US" altLang="zh-CN" kern="100" dirty="0">
                    <a:solidFill>
                      <a:srgbClr val="000000"/>
                    </a:solidFill>
                    <a:latin typeface="Times New Roman" panose="02020603050405020304" pitchFamily="18" charset="0"/>
                    <a:ea typeface="宋体" panose="02010600030101010101" pitchFamily="2" charset="-122"/>
                  </a:rPr>
                  <a:t>context vector </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𝐶</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ub>
                    </m:sSub>
                  </m:oMath>
                </a14:m>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普通的</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seq2seq</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模型</a:t>
                </a: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直接取编码器隐藏层</a:t>
                </a:r>
                <a:r>
                  <a:rPr lang="zh-CN" altLang="zh-CN" kern="100" dirty="0">
                    <a:solidFill>
                      <a:srgbClr val="000000"/>
                    </a:solidFill>
                    <a:ea typeface="Times New Roman" panose="02020603050405020304" pitchFamily="18" charset="0"/>
                  </a:rPr>
                  <a:t> </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rPr>
                        </m:ctrlPr>
                      </m:sSubPr>
                      <m:e>
                        <m:r>
                          <m:rPr>
                            <m:sty m:val="p"/>
                          </m:rPr>
                          <a:rPr lang="en-US" altLang="zh-CN" i="1" smtClean="0">
                            <a:solidFill>
                              <a:srgbClr val="000000"/>
                            </a:solidFill>
                            <a:latin typeface="Cambria Math" panose="02040503050406030204" pitchFamily="18" charset="0"/>
                            <a:ea typeface="Cambria Math" panose="02040503050406030204" pitchFamily="18" charset="0"/>
                          </a:rPr>
                          <m:t>h</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的最后一个值或者</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平均</a:t>
                </a: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，而注意力机制则是对</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h</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oMath>
                </a14:m>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取加权平均，即：</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30000"/>
                  </a:lnSpc>
                </a:pP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𝐶</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b="0" i="1" kern="100" smtClean="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ub>
                    </m:s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nary>
                      <m:naryPr>
                        <m:chr m:val="∑"/>
                        <m:limLoc m:val="subSup"/>
                        <m:ctrlPr>
                          <a:rPr lang="zh-CN" altLang="zh-CN" i="1">
                            <a:solidFill>
                              <a:srgbClr val="000000"/>
                            </a:solidFill>
                            <a:latin typeface="Cambria Math" panose="02040503050406030204" pitchFamily="18" charset="0"/>
                            <a:ea typeface="Cambria Math" panose="02040503050406030204" pitchFamily="18" charset="0"/>
                          </a:rPr>
                        </m:ctrlPr>
                      </m:naryPr>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𝑇</m:t>
                        </m:r>
                      </m:sup>
                      <m:e>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𝛼</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h</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e>
                    </m:nary>
                  </m:oMath>
                </a14:m>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如何计算权重，</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rPr>
                        </m:ctrlPr>
                      </m:sSubPr>
                      <m:e>
                        <m:r>
                          <m:rPr>
                            <m:nor/>
                          </m:rP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m:t>需要设计一个变量</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𝑒</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oMath>
                </a14:m>
                <a:r>
                  <a:rPr lang="en-US" altLang="zh-CN" kern="100" dirty="0">
                    <a:solidFill>
                      <a:srgbClr val="000000"/>
                    </a:solidFill>
                    <a:latin typeface="Times New Roman" panose="02020603050405020304" pitchFamily="18" charset="0"/>
                    <a:ea typeface="宋体" panose="02010600030101010101" pitchFamily="2" charset="-122"/>
                  </a:rPr>
                  <a:t>,</a:t>
                </a: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再用</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𝑒</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oMath>
                </a14:m>
                <a:r>
                  <a:rPr lang="en-US" altLang="zh-CN" kern="100" dirty="0">
                    <a:solidFill>
                      <a:srgbClr val="000000"/>
                    </a:solidFill>
                    <a:latin typeface="Times New Roman" panose="02020603050405020304" pitchFamily="18" charset="0"/>
                    <a:ea typeface="宋体" panose="02010600030101010101" pitchFamily="2" charset="-122"/>
                  </a:rPr>
                  <a:t>,</a:t>
                </a: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计算</a:t>
                </a:r>
                <a:r>
                  <a:rPr lang="en-US" altLang="zh-CN" kern="100" dirty="0" err="1">
                    <a:solidFill>
                      <a:srgbClr val="000000"/>
                    </a:solidFill>
                    <a:latin typeface="Times New Roman" panose="02020603050405020304" pitchFamily="18" charset="0"/>
                    <a:ea typeface="宋体" panose="02010600030101010101" pitchFamily="2" charset="-122"/>
                  </a:rPr>
                  <a:t>softmax</a:t>
                </a: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以输出概率。即</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𝛼</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latin typeface="Cambria Math" panose="02040503050406030204" pitchFamily="18" charset="0"/>
                            <a:ea typeface="Cambria Math" panose="02040503050406030204" pitchFamily="18" charset="0"/>
                          </a:rPr>
                        </m:ctrlPr>
                      </m:fPr>
                      <m:num>
                        <m:r>
                          <m:rPr>
                            <m:sty m:val="p"/>
                          </m:rPr>
                          <a:rPr lang="en-US" altLang="zh-CN"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exp</m:t>
                        </m:r>
                        <m:r>
                          <a:rPr lang="en-US" altLang="zh-CN"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𝑒</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num>
                      <m:den>
                        <m:nary>
                          <m:naryPr>
                            <m:chr m:val="∑"/>
                            <m:limLoc m:val="undOvr"/>
                            <m:ctrlPr>
                              <a:rPr lang="zh-CN" altLang="zh-CN" i="1">
                                <a:solidFill>
                                  <a:srgbClr val="000000"/>
                                </a:solidFill>
                                <a:latin typeface="Cambria Math" panose="02040503050406030204" pitchFamily="18" charset="0"/>
                                <a:ea typeface="Cambria Math" panose="02040503050406030204" pitchFamily="18" charset="0"/>
                              </a:rPr>
                            </m:ctrlPr>
                          </m:naryPr>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𝑘</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𝑇</m:t>
                            </m:r>
                          </m:sup>
                          <m:e>
                            <m:r>
                              <m:rPr>
                                <m:sty m:val="p"/>
                              </m:rPr>
                              <a:rPr lang="en-US" altLang="zh-CN"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exp</m:t>
                            </m:r>
                            <m:r>
                              <a:rPr lang="en-US" altLang="zh-CN"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𝑒</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e>
                        </m:nary>
                      </m:den>
                    </m:f>
                  </m:oMath>
                </a14:m>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如何设计</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𝑒</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oMath>
                </a14:m>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，可以认为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𝑒</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oMath>
                </a14:m>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与当前时刻编码器的隐藏层</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h</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oMath>
                </a14:m>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，以及上一时刻解码器的隐藏层</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𝑆</m:t>
                        </m:r>
                      </m:e>
                      <m:sub>
                        <m:sSup>
                          <m:sSupPr>
                            <m:ctrlPr>
                              <a:rPr lang="zh-CN" altLang="zh-CN" i="1">
                                <a:solidFill>
                                  <a:srgbClr val="000000"/>
                                </a:solidFill>
                                <a:latin typeface="Cambria Math" panose="02040503050406030204" pitchFamily="18" charset="0"/>
                                <a:ea typeface="Cambria Math" panose="02040503050406030204" pitchFamily="18" charset="0"/>
                              </a:rPr>
                            </m:ctrlPr>
                          </m:sSup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e>
                          <m:sup>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有关，即</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𝑒</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𝑔</m:t>
                    </m:r>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𝑠</m:t>
                        </m:r>
                      </m:e>
                      <m:sub>
                        <m:sSup>
                          <m:sSupPr>
                            <m:ctrlPr>
                              <a:rPr lang="zh-CN" altLang="zh-CN" i="1">
                                <a:solidFill>
                                  <a:srgbClr val="000000"/>
                                </a:solidFill>
                                <a:latin typeface="Cambria Math" panose="02040503050406030204" pitchFamily="18" charset="0"/>
                                <a:ea typeface="Cambria Math" panose="02040503050406030204" pitchFamily="18" charset="0"/>
                              </a:rPr>
                            </m:ctrlPr>
                          </m:sSup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e>
                          <m:sup>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rPr>
                        </m:ctrlPr>
                      </m:sSubPr>
                      <m:e>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h</m:t>
                        </m:r>
                      </m:e>
                      <m: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r>
                      <a:rPr lang="en-US" altLang="zh-CN"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kern="100" dirty="0">
                    <a:solidFill>
                      <a:srgbClr val="000000"/>
                    </a:solidFill>
                    <a:latin typeface="Times New Roman" panose="02020603050405020304" pitchFamily="18" charset="0"/>
                    <a:ea typeface="宋体" panose="02010600030101010101" pitchFamily="2" charset="-122"/>
                  </a:rPr>
                  <a:t>,</a:t>
                </a:r>
                <a:endParaRPr kumimoji="1" lang="en-US" altLang="zh-CN" dirty="0">
                  <a:latin typeface="Source Han Sans SC Normal" panose="020B0400000000000000" pitchFamily="34" charset="-128"/>
                  <a:ea typeface="Source Han Sans SC Normal" panose="020B0400000000000000" pitchFamily="34" charset="-128"/>
                </a:endParaRPr>
              </a:p>
            </p:txBody>
          </p:sp>
        </mc:Choice>
        <mc:Fallback>
          <p:sp>
            <p:nvSpPr>
              <p:cNvPr id="3" name="文本框 2">
                <a:extLst>
                  <a:ext uri="{FF2B5EF4-FFF2-40B4-BE49-F238E27FC236}">
                    <a16:creationId xmlns:a16="http://schemas.microsoft.com/office/drawing/2014/main" id="{12F44FF3-2A47-4790-9EF3-A8AF42DE3555}"/>
                  </a:ext>
                </a:extLst>
              </p:cNvPr>
              <p:cNvSpPr txBox="1">
                <a:spLocks noRot="1" noChangeAspect="1" noMove="1" noResize="1" noEditPoints="1" noAdjustHandles="1" noChangeArrowheads="1" noChangeShapeType="1" noTextEdit="1"/>
              </p:cNvSpPr>
              <p:nvPr/>
            </p:nvSpPr>
            <p:spPr>
              <a:xfrm>
                <a:off x="6015873" y="1980654"/>
                <a:ext cx="5386185" cy="4278544"/>
              </a:xfrm>
              <a:prstGeom prst="rect">
                <a:avLst/>
              </a:prstGeom>
              <a:blipFill>
                <a:blip r:embed="rId6"/>
                <a:stretch>
                  <a:fillRect l="-1019" t="-142" r="-906" b="-1140"/>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07EA5828-63A2-4F71-B6D1-3FE6EDE7A17F}"/>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1248512" y="1986950"/>
            <a:ext cx="4021071" cy="4185048"/>
          </a:xfrm>
          <a:prstGeom prst="rect">
            <a:avLst/>
          </a:prstGeom>
        </p:spPr>
      </p:pic>
      <p:sp>
        <p:nvSpPr>
          <p:cNvPr id="2" name="AutoShape 2">
            <a:extLst>
              <a:ext uri="{FF2B5EF4-FFF2-40B4-BE49-F238E27FC236}">
                <a16:creationId xmlns:a16="http://schemas.microsoft.com/office/drawing/2014/main" id="{672FE863-19A5-407A-A194-295950B8E400}"/>
              </a:ext>
            </a:extLst>
          </p:cNvPr>
          <p:cNvSpPr>
            <a:spLocks noChangeAspect="1" noChangeArrowheads="1"/>
          </p:cNvSpPr>
          <p:nvPr/>
        </p:nvSpPr>
        <p:spPr bwMode="auto">
          <a:xfrm>
            <a:off x="6096000" y="32863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321313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706F3D8F-FAAA-2140-B796-1157B4BE68D0}"/>
              </a:ext>
            </a:extLst>
          </p:cNvPr>
          <p:cNvGrpSpPr/>
          <p:nvPr/>
        </p:nvGrpSpPr>
        <p:grpSpPr>
          <a:xfrm>
            <a:off x="0" y="-1"/>
            <a:ext cx="12192000" cy="6858002"/>
            <a:chOff x="0" y="-1"/>
            <a:chExt cx="12192000" cy="6858002"/>
          </a:xfrm>
        </p:grpSpPr>
        <p:sp>
          <p:nvSpPr>
            <p:cNvPr id="41" name="矩形 40">
              <a:extLst>
                <a:ext uri="{FF2B5EF4-FFF2-40B4-BE49-F238E27FC236}">
                  <a16:creationId xmlns:a16="http://schemas.microsoft.com/office/drawing/2014/main" id="{91AEFDA7-4F58-8342-A9E1-CBBEDB06E01B}"/>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2" name="矩形 41">
              <a:extLst>
                <a:ext uri="{FF2B5EF4-FFF2-40B4-BE49-F238E27FC236}">
                  <a16:creationId xmlns:a16="http://schemas.microsoft.com/office/drawing/2014/main" id="{7519A2E4-7654-7049-8574-E43694ED98FB}"/>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3" name="矩形 42">
              <a:extLst>
                <a:ext uri="{FF2B5EF4-FFF2-40B4-BE49-F238E27FC236}">
                  <a16:creationId xmlns:a16="http://schemas.microsoft.com/office/drawing/2014/main" id="{3A78FB99-47D7-DA43-90CB-EBB967406AA4}"/>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44" name="组合 43">
            <a:extLst>
              <a:ext uri="{FF2B5EF4-FFF2-40B4-BE49-F238E27FC236}">
                <a16:creationId xmlns:a16="http://schemas.microsoft.com/office/drawing/2014/main" id="{77B7BD4A-0299-7142-A299-2C8531632FCA}"/>
              </a:ext>
            </a:extLst>
          </p:cNvPr>
          <p:cNvGrpSpPr/>
          <p:nvPr/>
        </p:nvGrpSpPr>
        <p:grpSpPr>
          <a:xfrm>
            <a:off x="133400" y="140547"/>
            <a:ext cx="11901234" cy="6795389"/>
            <a:chOff x="133400" y="140547"/>
            <a:chExt cx="11901234" cy="6795389"/>
          </a:xfrm>
        </p:grpSpPr>
        <p:pic>
          <p:nvPicPr>
            <p:cNvPr id="45" name="图片 44">
              <a:extLst>
                <a:ext uri="{FF2B5EF4-FFF2-40B4-BE49-F238E27FC236}">
                  <a16:creationId xmlns:a16="http://schemas.microsoft.com/office/drawing/2014/main" id="{5F8EFFCB-99B0-654F-8FED-0485190172FD}"/>
                </a:ext>
              </a:extLst>
            </p:cNvPr>
            <p:cNvPicPr>
              <a:picLocks noChangeAspect="1"/>
            </p:cNvPicPr>
            <p:nvPr/>
          </p:nvPicPr>
          <p:blipFill>
            <a:blip r:embed="rId3"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46" name="图片 45">
              <a:extLst>
                <a:ext uri="{FF2B5EF4-FFF2-40B4-BE49-F238E27FC236}">
                  <a16:creationId xmlns:a16="http://schemas.microsoft.com/office/drawing/2014/main" id="{93080F77-5917-384C-AFD1-66264B40DFAC}"/>
                </a:ext>
              </a:extLst>
            </p:cNvPr>
            <p:cNvPicPr>
              <a:picLocks noChangeAspect="1"/>
            </p:cNvPicPr>
            <p:nvPr/>
          </p:nvPicPr>
          <p:blipFill>
            <a:blip r:embed="rId4"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47" name="图片 46" descr="图片包含 游戏机, 画, 钟表&#10;&#10;描述已自动生成">
              <a:extLst>
                <a:ext uri="{FF2B5EF4-FFF2-40B4-BE49-F238E27FC236}">
                  <a16:creationId xmlns:a16="http://schemas.microsoft.com/office/drawing/2014/main" id="{FE29D0C4-9C03-A64C-8458-ED23D8D76224}"/>
                </a:ext>
              </a:extLst>
            </p:cNvPr>
            <p:cNvPicPr>
              <a:picLocks noChangeAspect="1"/>
            </p:cNvPicPr>
            <p:nvPr/>
          </p:nvPicPr>
          <p:blipFill>
            <a:blip r:embed="rId5"/>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572B192-1A8B-0944-BC5E-3183B0CBCBA6}"/>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数学原理</a:t>
            </a:r>
          </a:p>
        </p:txBody>
      </p:sp>
      <p:sp>
        <p:nvSpPr>
          <p:cNvPr id="14" name="文本框 13">
            <a:extLst>
              <a:ext uri="{FF2B5EF4-FFF2-40B4-BE49-F238E27FC236}">
                <a16:creationId xmlns:a16="http://schemas.microsoft.com/office/drawing/2014/main" id="{124A3600-F159-B64D-BF63-4388A1F5289C}"/>
              </a:ext>
            </a:extLst>
          </p:cNvPr>
          <p:cNvSpPr txBox="1"/>
          <p:nvPr/>
        </p:nvSpPr>
        <p:spPr>
          <a:xfrm>
            <a:off x="1314500" y="1305501"/>
            <a:ext cx="1656223" cy="400110"/>
          </a:xfrm>
          <a:prstGeom prst="rect">
            <a:avLst/>
          </a:prstGeom>
          <a:noFill/>
        </p:spPr>
        <p:txBody>
          <a:bodyPr wrap="none" rtlCol="0">
            <a:spAutoFit/>
          </a:bodyPr>
          <a:lstStyle/>
          <a:p>
            <a:r>
              <a:rPr kumimoji="1" lang="en-US" altLang="zh-CN"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Attention</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endParaRPr>
          </a:p>
        </p:txBody>
      </p:sp>
      <p:cxnSp>
        <p:nvCxnSpPr>
          <p:cNvPr id="16" name="直线连接符 15">
            <a:extLst>
              <a:ext uri="{FF2B5EF4-FFF2-40B4-BE49-F238E27FC236}">
                <a16:creationId xmlns:a16="http://schemas.microsoft.com/office/drawing/2014/main" id="{D8648111-DA66-0C4F-8D4E-74F9F9E79346}"/>
              </a:ext>
            </a:extLst>
          </p:cNvPr>
          <p:cNvCxnSpPr>
            <a:cxnSpLocks/>
          </p:cNvCxnSpPr>
          <p:nvPr/>
        </p:nvCxnSpPr>
        <p:spPr>
          <a:xfrm>
            <a:off x="1314500" y="1791497"/>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0D776569-73F4-48B7-AA87-78058593B2C9}"/>
                  </a:ext>
                </a:extLst>
              </p:cNvPr>
              <p:cNvSpPr txBox="1"/>
              <p:nvPr/>
            </p:nvSpPr>
            <p:spPr>
              <a:xfrm>
                <a:off x="1523542" y="1956392"/>
                <a:ext cx="9700181" cy="4904291"/>
              </a:xfrm>
              <a:prstGeom prst="rect">
                <a:avLst/>
              </a:prstGeom>
              <a:noFill/>
            </p:spPr>
            <p:txBody>
              <a:bodyPr wrap="square" rtlCol="0">
                <a:spAutoFit/>
              </a:bodyPr>
              <a:lstStyle/>
              <a:p>
                <a:pPr>
                  <a:lnSpc>
                    <a:spcPct val="150000"/>
                  </a:lnSpc>
                </a:pPr>
                <a14:m>
                  <m:oMath xmlns:m="http://schemas.openxmlformats.org/officeDocument/2006/math">
                    <m:r>
                      <a:rPr kumimoji="1" lang="en-US" altLang="zh-CN" sz="1400" b="0" i="1" smtClean="0">
                        <a:latin typeface="Cambria Math" panose="02040503050406030204" pitchFamily="18" charset="0"/>
                        <a:ea typeface="Source Han Sans SC Normal" panose="020B0400000000000000" pitchFamily="34" charset="-128"/>
                      </a:rPr>
                      <m:t>𝑖𝑛𝑝𝑢𝑡</m:t>
                    </m:r>
                    <m:r>
                      <a:rPr kumimoji="1" lang="zh-CN" altLang="en-US" sz="1400" i="1">
                        <a:latin typeface="Cambria Math" panose="02040503050406030204" pitchFamily="18" charset="0"/>
                        <a:ea typeface="Source Han Sans SC Normal" panose="020B0400000000000000" pitchFamily="34" charset="-128"/>
                      </a:rPr>
                      <m:t>：</m:t>
                    </m:r>
                    <m:r>
                      <m:rPr>
                        <m:sty m:val="p"/>
                      </m:rPr>
                      <a:rPr kumimoji="1" lang="en-US" altLang="zh-CN" sz="1400" i="1" smtClean="0">
                        <a:latin typeface="Cambria Math" panose="02040503050406030204" pitchFamily="18" charset="0"/>
                        <a:ea typeface="Source Han Sans SC Normal" panose="020B0400000000000000" pitchFamily="34" charset="-128"/>
                      </a:rPr>
                      <m:t>x</m:t>
                    </m:r>
                  </m:oMath>
                </a14:m>
                <a:r>
                  <a:rPr kumimoji="1" lang="en-US" altLang="zh-CN" sz="1400" dirty="0">
                    <a:latin typeface="Source Han Sans SC Normal" panose="020B0400000000000000" pitchFamily="34" charset="-128"/>
                    <a:ea typeface="Source Han Sans SC Normal" panose="020B0400000000000000" pitchFamily="34" charset="-128"/>
                  </a:rPr>
                  <a:t>=(</a:t>
                </a:r>
                <a14:m>
                  <m:oMath xmlns:m="http://schemas.openxmlformats.org/officeDocument/2006/math">
                    <m:sSub>
                      <m:sSubPr>
                        <m:ctrlPr>
                          <a:rPr kumimoji="1" lang="en-US" altLang="zh-CN" sz="1400" i="1" smtClean="0">
                            <a:latin typeface="Cambria Math" panose="02040503050406030204" pitchFamily="18" charset="0"/>
                            <a:ea typeface="Source Han Sans SC Normal" panose="020B0400000000000000" pitchFamily="34" charset="-128"/>
                          </a:rPr>
                        </m:ctrlPr>
                      </m:sSubPr>
                      <m:e>
                        <m:r>
                          <a:rPr kumimoji="1" lang="en-US" altLang="zh-CN" sz="1400" b="0" i="1" smtClean="0">
                            <a:latin typeface="Cambria Math" panose="02040503050406030204" pitchFamily="18" charset="0"/>
                            <a:ea typeface="Source Han Sans SC Normal" panose="020B0400000000000000" pitchFamily="34" charset="-128"/>
                          </a:rPr>
                          <m:t>𝑥</m:t>
                        </m:r>
                      </m:e>
                      <m:sub>
                        <m:r>
                          <a:rPr kumimoji="1" lang="en-US" altLang="zh-CN" sz="1400" b="0" i="1" smtClean="0">
                            <a:latin typeface="Cambria Math" panose="02040503050406030204" pitchFamily="18" charset="0"/>
                            <a:ea typeface="Source Han Sans SC Normal" panose="020B0400000000000000" pitchFamily="34" charset="-128"/>
                          </a:rPr>
                          <m:t>1</m:t>
                        </m:r>
                      </m:sub>
                    </m:sSub>
                    <m:r>
                      <a:rPr kumimoji="1" lang="en-US" altLang="zh-CN" sz="1400" b="0" i="1" smtClean="0">
                        <a:latin typeface="Cambria Math" panose="02040503050406030204" pitchFamily="18" charset="0"/>
                        <a:ea typeface="Source Han Sans SC Normal" panose="020B0400000000000000" pitchFamily="34" charset="-128"/>
                      </a:rPr>
                      <m:t>,</m:t>
                    </m:r>
                    <m:sSub>
                      <m:sSubPr>
                        <m:ctrlPr>
                          <a:rPr kumimoji="1" lang="en-US" altLang="zh-CN" sz="1400" b="0" i="1" smtClean="0">
                            <a:latin typeface="Cambria Math" panose="02040503050406030204" pitchFamily="18" charset="0"/>
                            <a:ea typeface="Source Han Sans SC Normal" panose="020B0400000000000000" pitchFamily="34" charset="-128"/>
                          </a:rPr>
                        </m:ctrlPr>
                      </m:sSubPr>
                      <m:e>
                        <m:r>
                          <a:rPr kumimoji="1" lang="en-US" altLang="zh-CN" sz="1400" b="0" i="1" smtClean="0">
                            <a:latin typeface="Cambria Math" panose="02040503050406030204" pitchFamily="18" charset="0"/>
                            <a:ea typeface="Source Han Sans SC Normal" panose="020B0400000000000000" pitchFamily="34" charset="-128"/>
                          </a:rPr>
                          <m:t>𝑥</m:t>
                        </m:r>
                      </m:e>
                      <m:sub>
                        <m:r>
                          <a:rPr kumimoji="1" lang="en-US" altLang="zh-CN" sz="1400" b="0" i="1" smtClean="0">
                            <a:latin typeface="Cambria Math" panose="02040503050406030204" pitchFamily="18" charset="0"/>
                            <a:ea typeface="Source Han Sans SC Normal" panose="020B0400000000000000" pitchFamily="34" charset="-128"/>
                          </a:rPr>
                          <m:t>2</m:t>
                        </m:r>
                      </m:sub>
                    </m:sSub>
                    <m:r>
                      <a:rPr kumimoji="1" lang="en-US" altLang="zh-CN" sz="1400" b="0" i="1" smtClean="0">
                        <a:latin typeface="Cambria Math" panose="02040503050406030204" pitchFamily="18" charset="0"/>
                        <a:ea typeface="Source Han Sans SC Normal" panose="020B0400000000000000" pitchFamily="34" charset="-128"/>
                      </a:rPr>
                      <m:t>,..,</m:t>
                    </m:r>
                    <m:sSub>
                      <m:sSubPr>
                        <m:ctrlPr>
                          <a:rPr kumimoji="1" lang="en-US" altLang="zh-CN" sz="1400" b="0" i="1" smtClean="0">
                            <a:latin typeface="Cambria Math" panose="02040503050406030204" pitchFamily="18" charset="0"/>
                            <a:ea typeface="Source Han Sans SC Normal" panose="020B0400000000000000" pitchFamily="34" charset="-128"/>
                          </a:rPr>
                        </m:ctrlPr>
                      </m:sSubPr>
                      <m:e>
                        <m:r>
                          <a:rPr kumimoji="1" lang="en-US" altLang="zh-CN" sz="1400" b="0" i="1" smtClean="0">
                            <a:latin typeface="Cambria Math" panose="02040503050406030204" pitchFamily="18" charset="0"/>
                            <a:ea typeface="Source Han Sans SC Normal" panose="020B0400000000000000" pitchFamily="34" charset="-128"/>
                          </a:rPr>
                          <m:t>𝑥</m:t>
                        </m:r>
                      </m:e>
                      <m:sub>
                        <m:r>
                          <a:rPr kumimoji="1" lang="en-US" altLang="zh-CN" sz="1400" b="0" i="1" smtClean="0">
                            <a:latin typeface="Cambria Math" panose="02040503050406030204" pitchFamily="18" charset="0"/>
                            <a:ea typeface="Source Han Sans SC Normal" panose="020B0400000000000000" pitchFamily="34" charset="-128"/>
                          </a:rPr>
                          <m:t>𝑁</m:t>
                        </m:r>
                      </m:sub>
                    </m:sSub>
                  </m:oMath>
                </a14:m>
                <a:r>
                  <a:rPr kumimoji="1" lang="en-US" altLang="zh-CN" sz="1400" dirty="0">
                    <a:latin typeface="Source Han Sans SC Normal" panose="020B0400000000000000" pitchFamily="34" charset="-128"/>
                    <a:ea typeface="Source Han Sans SC Normal" panose="020B0400000000000000" pitchFamily="34" charset="-128"/>
                  </a:rPr>
                  <a:t>)</a:t>
                </a:r>
              </a:p>
              <a:p>
                <a:pPr>
                  <a:lnSpc>
                    <a:spcPct val="150000"/>
                  </a:lnSpc>
                </a:pPr>
                <a14:m>
                  <m:oMath xmlns:m="http://schemas.openxmlformats.org/officeDocument/2006/math">
                    <m:r>
                      <a:rPr kumimoji="1" lang="en-US" altLang="zh-CN" sz="1400" b="0" i="1" smtClean="0">
                        <a:latin typeface="Cambria Math" panose="02040503050406030204" pitchFamily="18" charset="0"/>
                        <a:ea typeface="Source Han Sans SC Normal" panose="020B0400000000000000" pitchFamily="34" charset="-128"/>
                      </a:rPr>
                      <m:t>𝑜𝑢𝑡𝑝𝑢𝑡</m:t>
                    </m:r>
                    <m:r>
                      <a:rPr kumimoji="1" lang="zh-CN" altLang="en-US" sz="1400" i="1">
                        <a:latin typeface="Cambria Math" panose="02040503050406030204" pitchFamily="18" charset="0"/>
                        <a:ea typeface="Source Han Sans SC Normal" panose="020B0400000000000000" pitchFamily="34" charset="-128"/>
                      </a:rPr>
                      <m:t>：</m:t>
                    </m:r>
                    <m:r>
                      <m:rPr>
                        <m:sty m:val="p"/>
                      </m:rPr>
                      <a:rPr kumimoji="1" lang="en-US" altLang="zh-CN" sz="1400" i="1">
                        <a:latin typeface="Cambria Math" panose="02040503050406030204" pitchFamily="18" charset="0"/>
                        <a:ea typeface="Source Han Sans SC Normal" panose="020B0400000000000000" pitchFamily="34" charset="-128"/>
                      </a:rPr>
                      <m:t>x</m:t>
                    </m:r>
                  </m:oMath>
                </a14:m>
                <a:r>
                  <a:rPr kumimoji="1" lang="en-US" altLang="zh-CN" sz="1400" dirty="0">
                    <a:latin typeface="Source Han Sans SC Normal" panose="020B0400000000000000" pitchFamily="34" charset="-128"/>
                    <a:ea typeface="Source Han Sans SC Normal" panose="020B0400000000000000" pitchFamily="34" charset="-128"/>
                  </a:rPr>
                  <a:t>=(</a:t>
                </a:r>
                <a14:m>
                  <m:oMath xmlns:m="http://schemas.openxmlformats.org/officeDocument/2006/math">
                    <m:sSub>
                      <m:sSubPr>
                        <m:ctrlPr>
                          <a:rPr kumimoji="1" lang="en-US" altLang="zh-CN" sz="1400" i="1">
                            <a:latin typeface="Cambria Math" panose="02040503050406030204" pitchFamily="18" charset="0"/>
                            <a:ea typeface="Source Han Sans SC Normal" panose="020B0400000000000000" pitchFamily="34" charset="-128"/>
                          </a:rPr>
                        </m:ctrlPr>
                      </m:sSubPr>
                      <m:e>
                        <m:r>
                          <a:rPr kumimoji="1" lang="en-US" altLang="zh-CN" sz="1400" b="0" i="1" smtClean="0">
                            <a:latin typeface="Cambria Math" panose="02040503050406030204" pitchFamily="18" charset="0"/>
                            <a:ea typeface="Source Han Sans SC Normal" panose="020B0400000000000000" pitchFamily="34" charset="-128"/>
                          </a:rPr>
                          <m:t>𝑦</m:t>
                        </m:r>
                      </m:e>
                      <m:sub>
                        <m:r>
                          <a:rPr kumimoji="1" lang="en-US" altLang="zh-CN" sz="1400" i="1">
                            <a:latin typeface="Cambria Math" panose="02040503050406030204" pitchFamily="18" charset="0"/>
                            <a:ea typeface="Source Han Sans SC Normal" panose="020B0400000000000000" pitchFamily="34" charset="-128"/>
                          </a:rPr>
                          <m:t>1</m:t>
                        </m:r>
                      </m:sub>
                    </m:sSub>
                    <m:r>
                      <a:rPr kumimoji="1" lang="en-US" altLang="zh-CN" sz="1400" i="1">
                        <a:latin typeface="Cambria Math" panose="02040503050406030204" pitchFamily="18" charset="0"/>
                        <a:ea typeface="Source Han Sans SC Normal" panose="020B0400000000000000" pitchFamily="34" charset="-128"/>
                      </a:rPr>
                      <m:t>,</m:t>
                    </m:r>
                    <m:sSub>
                      <m:sSubPr>
                        <m:ctrlPr>
                          <a:rPr kumimoji="1" lang="en-US" altLang="zh-CN" sz="1400" i="1">
                            <a:latin typeface="Cambria Math" panose="02040503050406030204" pitchFamily="18" charset="0"/>
                            <a:ea typeface="Source Han Sans SC Normal" panose="020B0400000000000000" pitchFamily="34" charset="-128"/>
                          </a:rPr>
                        </m:ctrlPr>
                      </m:sSubPr>
                      <m:e>
                        <m:r>
                          <a:rPr kumimoji="1" lang="en-US" altLang="zh-CN" sz="1400" b="0" i="1" smtClean="0">
                            <a:latin typeface="Cambria Math" panose="02040503050406030204" pitchFamily="18" charset="0"/>
                            <a:ea typeface="Source Han Sans SC Normal" panose="020B0400000000000000" pitchFamily="34" charset="-128"/>
                          </a:rPr>
                          <m:t>𝑦</m:t>
                        </m:r>
                      </m:e>
                      <m:sub>
                        <m:r>
                          <a:rPr kumimoji="1" lang="en-US" altLang="zh-CN" sz="1400" i="1">
                            <a:latin typeface="Cambria Math" panose="02040503050406030204" pitchFamily="18" charset="0"/>
                            <a:ea typeface="Source Han Sans SC Normal" panose="020B0400000000000000" pitchFamily="34" charset="-128"/>
                          </a:rPr>
                          <m:t>2</m:t>
                        </m:r>
                      </m:sub>
                    </m:sSub>
                    <m:r>
                      <a:rPr kumimoji="1" lang="en-US" altLang="zh-CN" sz="1400" i="1">
                        <a:latin typeface="Cambria Math" panose="02040503050406030204" pitchFamily="18" charset="0"/>
                        <a:ea typeface="Source Han Sans SC Normal" panose="020B0400000000000000" pitchFamily="34" charset="-128"/>
                      </a:rPr>
                      <m:t>,..,</m:t>
                    </m:r>
                    <m:sSub>
                      <m:sSubPr>
                        <m:ctrlPr>
                          <a:rPr kumimoji="1" lang="en-US" altLang="zh-CN" sz="1400" i="1">
                            <a:latin typeface="Cambria Math" panose="02040503050406030204" pitchFamily="18" charset="0"/>
                            <a:ea typeface="Source Han Sans SC Normal" panose="020B0400000000000000" pitchFamily="34" charset="-128"/>
                          </a:rPr>
                        </m:ctrlPr>
                      </m:sSubPr>
                      <m:e>
                        <m:r>
                          <a:rPr kumimoji="1" lang="en-US" altLang="zh-CN" sz="1400" b="0" i="1" smtClean="0">
                            <a:latin typeface="Cambria Math" panose="02040503050406030204" pitchFamily="18" charset="0"/>
                            <a:ea typeface="Source Han Sans SC Normal" panose="020B0400000000000000" pitchFamily="34" charset="-128"/>
                          </a:rPr>
                          <m:t>𝑦</m:t>
                        </m:r>
                      </m:e>
                      <m:sub>
                        <m:r>
                          <a:rPr kumimoji="1" lang="en-US" altLang="zh-CN" sz="1400" i="1">
                            <a:latin typeface="Cambria Math" panose="02040503050406030204" pitchFamily="18" charset="0"/>
                            <a:ea typeface="Source Han Sans SC Normal" panose="020B0400000000000000" pitchFamily="34" charset="-128"/>
                          </a:rPr>
                          <m:t>𝑁</m:t>
                        </m:r>
                      </m:sub>
                    </m:sSub>
                  </m:oMath>
                </a14:m>
                <a:r>
                  <a:rPr kumimoji="1" lang="en-US" altLang="zh-CN" sz="1400" dirty="0">
                    <a:latin typeface="Source Han Sans SC Normal" panose="020B0400000000000000" pitchFamily="34" charset="-128"/>
                    <a:ea typeface="Source Han Sans SC Normal" panose="020B0400000000000000" pitchFamily="34" charset="-128"/>
                  </a:rPr>
                  <a:t>)</a:t>
                </a:r>
              </a:p>
              <a:p>
                <a:pPr>
                  <a:lnSpc>
                    <a:spcPct val="150000"/>
                  </a:lnSpc>
                </a:pPr>
                <a14:m>
                  <m:oMathPara xmlns:m="http://schemas.openxmlformats.org/officeDocument/2006/math">
                    <m:oMathParaPr>
                      <m:jc m:val="left"/>
                    </m:oMathParaPr>
                    <m:oMath xmlns:m="http://schemas.openxmlformats.org/officeDocument/2006/math">
                      <m:sSup>
                        <m:sSupPr>
                          <m:ctrlPr>
                            <a:rPr kumimoji="1" lang="en-US" altLang="zh-CN" sz="1400" b="0" i="1" smtClean="0">
                              <a:latin typeface="Cambria Math" panose="02040503050406030204" pitchFamily="18" charset="0"/>
                              <a:ea typeface="Source Han Sans SC Normal" panose="020B0400000000000000" pitchFamily="34" charset="-128"/>
                            </a:rPr>
                          </m:ctrlPr>
                        </m:sSupPr>
                        <m:e>
                          <m:r>
                            <a:rPr kumimoji="1" lang="en-US" altLang="zh-CN" sz="1400" b="0" i="1" smtClean="0">
                              <a:latin typeface="Cambria Math" panose="02040503050406030204" pitchFamily="18" charset="0"/>
                              <a:ea typeface="Source Han Sans SC Normal" panose="020B0400000000000000" pitchFamily="34" charset="-128"/>
                            </a:rPr>
                            <m:t>𝑒𝑛𝑐𝑜𝑑𝑒𝑟</m:t>
                          </m:r>
                          <m:r>
                            <a:rPr kumimoji="1" lang="en-US" altLang="zh-CN" sz="1400" b="0" i="1" smtClean="0">
                              <a:latin typeface="Cambria Math" panose="02040503050406030204" pitchFamily="18" charset="0"/>
                              <a:ea typeface="Source Han Sans SC Normal" panose="020B0400000000000000" pitchFamily="34" charset="-128"/>
                            </a:rPr>
                            <m:t>:</m:t>
                          </m:r>
                          <m:r>
                            <a:rPr kumimoji="1" lang="en-US" altLang="zh-CN" sz="1400" b="0" i="1" smtClean="0">
                              <a:latin typeface="Cambria Math" panose="02040503050406030204" pitchFamily="18" charset="0"/>
                              <a:ea typeface="Source Han Sans SC Normal" panose="020B0400000000000000" pitchFamily="34" charset="-128"/>
                            </a:rPr>
                            <m:t>𝑎</m:t>
                          </m:r>
                        </m:e>
                        <m:sup>
                          <m:r>
                            <a:rPr kumimoji="1" lang="en-US" altLang="zh-CN" sz="1400" b="0" i="1" smtClean="0">
                              <a:latin typeface="Cambria Math" panose="02040503050406030204" pitchFamily="18" charset="0"/>
                              <a:ea typeface="Source Han Sans SC Normal" panose="020B0400000000000000" pitchFamily="34" charset="-128"/>
                            </a:rPr>
                            <m:t>𝑡</m:t>
                          </m:r>
                        </m:sup>
                      </m:sSup>
                      <m:r>
                        <a:rPr kumimoji="1" lang="en-US" altLang="zh-CN" sz="1400" b="0" i="1" smtClean="0">
                          <a:latin typeface="Cambria Math" panose="02040503050406030204" pitchFamily="18" charset="0"/>
                          <a:ea typeface="Source Han Sans SC Normal" panose="020B0400000000000000" pitchFamily="34" charset="-128"/>
                        </a:rPr>
                        <m:t>=</m:t>
                      </m:r>
                      <m:r>
                        <a:rPr kumimoji="1" lang="en-US" altLang="zh-CN" sz="1400" b="0" i="1" smtClean="0">
                          <a:latin typeface="Cambria Math" panose="02040503050406030204" pitchFamily="18" charset="0"/>
                          <a:ea typeface="Source Han Sans SC Normal" panose="020B0400000000000000" pitchFamily="34" charset="-128"/>
                        </a:rPr>
                        <m:t>𝐵𝑖𝐿𝑆𝑇𝑀</m:t>
                      </m:r>
                      <m:d>
                        <m:dPr>
                          <m:ctrlPr>
                            <a:rPr kumimoji="1" lang="en-US" altLang="zh-CN" sz="1400" b="0" i="1" smtClean="0">
                              <a:latin typeface="Cambria Math" panose="02040503050406030204" pitchFamily="18" charset="0"/>
                              <a:ea typeface="Source Han Sans SC Normal" panose="020B0400000000000000" pitchFamily="34" charset="-128"/>
                            </a:rPr>
                          </m:ctrlPr>
                        </m:dPr>
                        <m:e>
                          <m:sSup>
                            <m:sSupPr>
                              <m:ctrlPr>
                                <a:rPr kumimoji="1" lang="en-US" altLang="zh-CN" sz="1400" b="0" i="1" smtClean="0">
                                  <a:latin typeface="Cambria Math" panose="02040503050406030204" pitchFamily="18" charset="0"/>
                                  <a:ea typeface="Source Han Sans SC Normal" panose="020B0400000000000000" pitchFamily="34" charset="-128"/>
                                </a:rPr>
                              </m:ctrlPr>
                            </m:sSupPr>
                            <m:e>
                              <m:r>
                                <a:rPr kumimoji="1" lang="en-US" altLang="zh-CN" sz="1400" b="0" i="1" smtClean="0">
                                  <a:latin typeface="Cambria Math" panose="02040503050406030204" pitchFamily="18" charset="0"/>
                                  <a:ea typeface="Source Han Sans SC Normal" panose="020B0400000000000000" pitchFamily="34" charset="-128"/>
                                </a:rPr>
                                <m:t>𝑎</m:t>
                              </m:r>
                            </m:e>
                            <m:sup>
                              <m:r>
                                <a:rPr kumimoji="1" lang="en-US" altLang="zh-CN" sz="1400" b="0" i="1" smtClean="0">
                                  <a:latin typeface="Cambria Math" panose="02040503050406030204" pitchFamily="18" charset="0"/>
                                  <a:ea typeface="Source Han Sans SC Normal" panose="020B0400000000000000" pitchFamily="34" charset="-128"/>
                                </a:rPr>
                                <m:t>𝑡</m:t>
                              </m:r>
                              <m:r>
                                <a:rPr kumimoji="1" lang="en-US" altLang="zh-CN" sz="1400" b="0" i="1" smtClean="0">
                                  <a:latin typeface="Cambria Math" panose="02040503050406030204" pitchFamily="18" charset="0"/>
                                  <a:ea typeface="Source Han Sans SC Normal" panose="020B0400000000000000" pitchFamily="34" charset="-128"/>
                                </a:rPr>
                                <m:t>−1</m:t>
                              </m:r>
                            </m:sup>
                          </m:sSup>
                          <m:r>
                            <a:rPr kumimoji="1" lang="en-US" altLang="zh-CN" sz="1400" b="0" i="1" smtClean="0">
                              <a:latin typeface="Cambria Math" panose="02040503050406030204" pitchFamily="18" charset="0"/>
                              <a:ea typeface="Source Han Sans SC Normal" panose="020B0400000000000000" pitchFamily="34" charset="-128"/>
                            </a:rPr>
                            <m:t>,</m:t>
                          </m:r>
                          <m:sSup>
                            <m:sSupPr>
                              <m:ctrlPr>
                                <a:rPr kumimoji="1" lang="en-US" altLang="zh-CN" sz="1400" b="0" i="1" smtClean="0">
                                  <a:latin typeface="Cambria Math" panose="02040503050406030204" pitchFamily="18" charset="0"/>
                                  <a:ea typeface="Source Han Sans SC Normal" panose="020B0400000000000000" pitchFamily="34" charset="-128"/>
                                </a:rPr>
                              </m:ctrlPr>
                            </m:sSupPr>
                            <m:e>
                              <m:r>
                                <a:rPr kumimoji="1" lang="en-US" altLang="zh-CN" sz="1400" b="0" i="1" smtClean="0">
                                  <a:latin typeface="Cambria Math" panose="02040503050406030204" pitchFamily="18" charset="0"/>
                                  <a:ea typeface="Source Han Sans SC Normal" panose="020B0400000000000000" pitchFamily="34" charset="-128"/>
                                </a:rPr>
                                <m:t>𝑥</m:t>
                              </m:r>
                            </m:e>
                            <m:sup>
                              <m:r>
                                <a:rPr kumimoji="1" lang="en-US" altLang="zh-CN" sz="1400" b="0" i="1" smtClean="0">
                                  <a:latin typeface="Cambria Math" panose="02040503050406030204" pitchFamily="18" charset="0"/>
                                  <a:ea typeface="Source Han Sans SC Normal" panose="020B0400000000000000" pitchFamily="34" charset="-128"/>
                                </a:rPr>
                                <m:t>𝑡</m:t>
                              </m:r>
                            </m:sup>
                          </m:sSup>
                        </m:e>
                      </m:d>
                    </m:oMath>
                  </m:oMathPara>
                </a14:m>
                <a:endParaRPr kumimoji="1" lang="en-US" altLang="zh-CN" sz="1400" b="0" dirty="0">
                  <a:latin typeface="Source Han Sans SC Normal" panose="020B0400000000000000" pitchFamily="34" charset="-128"/>
                  <a:ea typeface="Source Han Sans SC Normal" panose="020B0400000000000000" pitchFamily="34" charset="-128"/>
                </a:endParaRPr>
              </a:p>
              <a:p>
                <a:pPr>
                  <a:lnSpc>
                    <a:spcPct val="150000"/>
                  </a:lnSpc>
                </a:pPr>
                <a14:m>
                  <m:oMathPara xmlns:m="http://schemas.openxmlformats.org/officeDocument/2006/math">
                    <m:oMathParaPr>
                      <m:jc m:val="left"/>
                    </m:oMathParaPr>
                    <m:oMath xmlns:m="http://schemas.openxmlformats.org/officeDocument/2006/math">
                      <m:sSup>
                        <m:sSupPr>
                          <m:ctrlPr>
                            <a:rPr kumimoji="1" lang="en-US" altLang="zh-CN" sz="1400" i="1">
                              <a:latin typeface="Cambria Math" panose="02040503050406030204" pitchFamily="18" charset="0"/>
                              <a:ea typeface="Source Han Sans SC Normal" panose="020B0400000000000000" pitchFamily="34" charset="-128"/>
                            </a:rPr>
                          </m:ctrlPr>
                        </m:sSupPr>
                        <m:e>
                          <m:r>
                            <a:rPr kumimoji="1" lang="en-US" altLang="zh-CN" sz="1400" b="0" i="1" smtClean="0">
                              <a:latin typeface="Cambria Math" panose="02040503050406030204" pitchFamily="18" charset="0"/>
                              <a:ea typeface="Source Han Sans SC Normal" panose="020B0400000000000000" pitchFamily="34" charset="-128"/>
                            </a:rPr>
                            <m:t>𝑑𝑒</m:t>
                          </m:r>
                          <m:r>
                            <a:rPr kumimoji="1" lang="en-US" altLang="zh-CN" sz="1400" i="1">
                              <a:latin typeface="Cambria Math" panose="02040503050406030204" pitchFamily="18" charset="0"/>
                              <a:ea typeface="Source Han Sans SC Normal" panose="020B0400000000000000" pitchFamily="34" charset="-128"/>
                            </a:rPr>
                            <m:t>𝑐𝑜𝑑𝑒𝑟</m:t>
                          </m:r>
                          <m:r>
                            <a:rPr kumimoji="1" lang="en-US" altLang="zh-CN" sz="1400" i="1">
                              <a:latin typeface="Cambria Math" panose="02040503050406030204" pitchFamily="18" charset="0"/>
                              <a:ea typeface="Source Han Sans SC Normal" panose="020B0400000000000000" pitchFamily="34" charset="-128"/>
                            </a:rPr>
                            <m:t>:</m:t>
                          </m:r>
                          <m:r>
                            <a:rPr kumimoji="1" lang="en-US" altLang="zh-CN" sz="1400" b="0" i="1" smtClean="0">
                              <a:latin typeface="Cambria Math" panose="02040503050406030204" pitchFamily="18" charset="0"/>
                              <a:ea typeface="Source Han Sans SC Normal" panose="020B0400000000000000" pitchFamily="34" charset="-128"/>
                            </a:rPr>
                            <m:t>𝑠</m:t>
                          </m:r>
                        </m:e>
                        <m:sup>
                          <m:r>
                            <a:rPr kumimoji="1" lang="en-US" altLang="zh-CN" sz="1400" i="1">
                              <a:latin typeface="Cambria Math" panose="02040503050406030204" pitchFamily="18" charset="0"/>
                              <a:ea typeface="Source Han Sans SC Normal" panose="020B0400000000000000" pitchFamily="34" charset="-128"/>
                            </a:rPr>
                            <m:t>𝑡</m:t>
                          </m:r>
                          <m:r>
                            <a:rPr kumimoji="1" lang="en-US" altLang="zh-CN" sz="1400" b="0" i="1" smtClean="0">
                              <a:latin typeface="Cambria Math" panose="02040503050406030204" pitchFamily="18" charset="0"/>
                              <a:ea typeface="Source Han Sans SC Normal" panose="020B0400000000000000" pitchFamily="34" charset="-128"/>
                            </a:rPr>
                            <m:t>′</m:t>
                          </m:r>
                        </m:sup>
                      </m:sSup>
                      <m:r>
                        <a:rPr kumimoji="1" lang="en-US" altLang="zh-CN" sz="1400" i="1">
                          <a:latin typeface="Cambria Math" panose="02040503050406030204" pitchFamily="18" charset="0"/>
                          <a:ea typeface="Source Han Sans SC Normal" panose="020B0400000000000000" pitchFamily="34" charset="-128"/>
                        </a:rPr>
                        <m:t>=</m:t>
                      </m:r>
                      <m:r>
                        <a:rPr kumimoji="1" lang="en-US" altLang="zh-CN" sz="1400" i="1">
                          <a:latin typeface="Cambria Math" panose="02040503050406030204" pitchFamily="18" charset="0"/>
                          <a:ea typeface="Source Han Sans SC Normal" panose="020B0400000000000000" pitchFamily="34" charset="-128"/>
                        </a:rPr>
                        <m:t>𝐵𝑖𝐿𝑆𝑇𝑀</m:t>
                      </m:r>
                      <m:r>
                        <a:rPr kumimoji="1" lang="en-US" altLang="zh-CN" sz="1400" i="1">
                          <a:latin typeface="Cambria Math" panose="02040503050406030204" pitchFamily="18" charset="0"/>
                          <a:ea typeface="Source Han Sans SC Normal" panose="020B0400000000000000" pitchFamily="34" charset="-128"/>
                        </a:rPr>
                        <m:t>(</m:t>
                      </m:r>
                      <m:sSup>
                        <m:sSupPr>
                          <m:ctrlPr>
                            <a:rPr kumimoji="1" lang="en-US" altLang="zh-CN" sz="1400" i="1">
                              <a:latin typeface="Cambria Math" panose="02040503050406030204" pitchFamily="18" charset="0"/>
                              <a:ea typeface="Source Han Sans SC Normal" panose="020B0400000000000000" pitchFamily="34" charset="-128"/>
                            </a:rPr>
                          </m:ctrlPr>
                        </m:sSupPr>
                        <m:e>
                          <m:r>
                            <a:rPr kumimoji="1" lang="en-US" altLang="zh-CN" sz="1400" b="0" i="1" smtClean="0">
                              <a:latin typeface="Cambria Math" panose="02040503050406030204" pitchFamily="18" charset="0"/>
                              <a:ea typeface="Source Han Sans SC Normal" panose="020B0400000000000000" pitchFamily="34" charset="-128"/>
                            </a:rPr>
                            <m:t>𝑠</m:t>
                          </m:r>
                        </m:e>
                        <m:sup>
                          <m:r>
                            <a:rPr kumimoji="1" lang="en-US" altLang="zh-CN" sz="1400" i="1">
                              <a:latin typeface="Cambria Math" panose="02040503050406030204" pitchFamily="18" charset="0"/>
                              <a:ea typeface="Source Han Sans SC Normal" panose="020B0400000000000000" pitchFamily="34" charset="-128"/>
                            </a:rPr>
                            <m:t>𝑡</m:t>
                          </m:r>
                          <m:r>
                            <a:rPr kumimoji="1" lang="en-US" altLang="zh-CN" sz="1400" i="1">
                              <a:latin typeface="Cambria Math" panose="02040503050406030204" pitchFamily="18" charset="0"/>
                              <a:ea typeface="Source Han Sans SC Normal" panose="020B0400000000000000" pitchFamily="34" charset="-128"/>
                            </a:rPr>
                            <m:t>−1′</m:t>
                          </m:r>
                        </m:sup>
                      </m:sSup>
                      <m:r>
                        <a:rPr kumimoji="1" lang="en-US" altLang="zh-CN" sz="1400" i="1">
                          <a:latin typeface="Cambria Math" panose="02040503050406030204" pitchFamily="18" charset="0"/>
                          <a:ea typeface="Source Han Sans SC Normal" panose="020B0400000000000000" pitchFamily="34" charset="-128"/>
                        </a:rPr>
                        <m:t>,</m:t>
                      </m:r>
                      <m:sSup>
                        <m:sSupPr>
                          <m:ctrlPr>
                            <a:rPr kumimoji="1" lang="en-US" altLang="zh-CN" sz="1400" i="1">
                              <a:latin typeface="Cambria Math" panose="02040503050406030204" pitchFamily="18" charset="0"/>
                              <a:ea typeface="Source Han Sans SC Normal" panose="020B0400000000000000" pitchFamily="34" charset="-128"/>
                            </a:rPr>
                          </m:ctrlPr>
                        </m:sSupPr>
                        <m:e>
                          <m:r>
                            <a:rPr kumimoji="1" lang="en-US" altLang="zh-CN" sz="1400" b="0" i="1" smtClean="0">
                              <a:latin typeface="Cambria Math" panose="02040503050406030204" pitchFamily="18" charset="0"/>
                              <a:ea typeface="Source Han Sans SC Normal" panose="020B0400000000000000" pitchFamily="34" charset="-128"/>
                            </a:rPr>
                            <m:t>𝑐</m:t>
                          </m:r>
                        </m:e>
                        <m:sup>
                          <m:r>
                            <a:rPr kumimoji="1" lang="en-US" altLang="zh-CN" sz="1400" b="0" i="1" smtClean="0">
                              <a:latin typeface="Cambria Math" panose="02040503050406030204" pitchFamily="18" charset="0"/>
                              <a:ea typeface="Source Han Sans SC Normal" panose="020B0400000000000000" pitchFamily="34" charset="-128"/>
                            </a:rPr>
                            <m:t>𝑡</m:t>
                          </m:r>
                          <m:r>
                            <a:rPr kumimoji="1" lang="en-US" altLang="zh-CN" sz="1400" b="0" i="1" smtClean="0">
                              <a:latin typeface="Cambria Math" panose="02040503050406030204" pitchFamily="18" charset="0"/>
                              <a:ea typeface="Source Han Sans SC Normal" panose="020B0400000000000000" pitchFamily="34" charset="-128"/>
                            </a:rPr>
                            <m:t>′</m:t>
                          </m:r>
                        </m:sup>
                      </m:sSup>
                      <m:r>
                        <a:rPr kumimoji="1" lang="en-US" altLang="zh-CN" sz="1400" i="1">
                          <a:latin typeface="Cambria Math" panose="02040503050406030204" pitchFamily="18" charset="0"/>
                          <a:ea typeface="Source Han Sans SC Normal" panose="020B0400000000000000" pitchFamily="34" charset="-128"/>
                        </a:rPr>
                        <m:t>)</m:t>
                      </m:r>
                    </m:oMath>
                  </m:oMathPara>
                </a14:m>
                <a:endParaRPr kumimoji="1" lang="en-US" altLang="zh-CN" sz="1400" dirty="0">
                  <a:latin typeface="Source Han Sans SC Normal" panose="020B0400000000000000" pitchFamily="34" charset="-128"/>
                  <a:ea typeface="Source Han Sans SC Normal" panose="020B0400000000000000" pitchFamily="34" charset="-128"/>
                </a:endParaRPr>
              </a:p>
              <a:p>
                <a:pPr>
                  <a:lnSpc>
                    <a:spcPct val="150000"/>
                  </a:lnSpc>
                </a:pPr>
                <a14:m>
                  <m:oMathPara xmlns:m="http://schemas.openxmlformats.org/officeDocument/2006/math">
                    <m:oMathParaPr>
                      <m:jc m:val="left"/>
                    </m:oMathParaPr>
                    <m:oMath xmlns:m="http://schemas.openxmlformats.org/officeDocument/2006/math">
                      <m:sSup>
                        <m:sSupPr>
                          <m:ctrlPr>
                            <a:rPr lang="en-US" altLang="zh-CN" sz="1400" i="1" smtClean="0">
                              <a:solidFill>
                                <a:srgbClr val="000000"/>
                              </a:solidFill>
                              <a:latin typeface="Cambria Math" panose="02040503050406030204" pitchFamily="18" charset="0"/>
                              <a:ea typeface="Cambria Math" panose="02040503050406030204" pitchFamily="18" charset="0"/>
                            </a:rPr>
                          </m:ctrlPr>
                        </m:sSupPr>
                        <m:e>
                          <m:r>
                            <a:rPr lang="en-US" altLang="zh-CN" sz="1400" b="0" i="1" smtClean="0">
                              <a:solidFill>
                                <a:srgbClr val="000000"/>
                              </a:solidFill>
                              <a:latin typeface="Cambria Math" panose="02040503050406030204" pitchFamily="18" charset="0"/>
                              <a:ea typeface="Cambria Math" panose="02040503050406030204" pitchFamily="18" charset="0"/>
                            </a:rPr>
                            <m:t>𝐶</m:t>
                          </m:r>
                        </m:e>
                        <m:sup>
                          <m:r>
                            <a:rPr lang="en-US" altLang="zh-CN" sz="1400" b="0" i="1" smtClean="0">
                              <a:solidFill>
                                <a:srgbClr val="000000"/>
                              </a:solidFill>
                              <a:latin typeface="Cambria Math" panose="02040503050406030204" pitchFamily="18" charset="0"/>
                              <a:ea typeface="Cambria Math" panose="02040503050406030204" pitchFamily="18" charset="0"/>
                            </a:rPr>
                            <m:t>𝑡</m:t>
                          </m:r>
                          <m:r>
                            <a:rPr lang="en-US" altLang="zh-CN" sz="1400" b="0" i="1" smtClean="0">
                              <a:solidFill>
                                <a:srgbClr val="000000"/>
                              </a:solidFill>
                              <a:latin typeface="Cambria Math" panose="02040503050406030204" pitchFamily="18" charset="0"/>
                              <a:ea typeface="Cambria Math" panose="02040503050406030204" pitchFamily="18" charset="0"/>
                            </a:rPr>
                            <m:t>′</m:t>
                          </m:r>
                        </m:sup>
                      </m:sSup>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nary>
                        <m:naryPr>
                          <m:chr m:val="∑"/>
                          <m:limLoc m:val="subSup"/>
                          <m:ctrlPr>
                            <a:rPr lang="zh-CN" altLang="zh-CN" sz="1400" i="1">
                              <a:solidFill>
                                <a:srgbClr val="000000"/>
                              </a:solidFill>
                              <a:latin typeface="Cambria Math" panose="02040503050406030204" pitchFamily="18" charset="0"/>
                              <a:ea typeface="Cambria Math" panose="02040503050406030204" pitchFamily="18" charset="0"/>
                            </a:rPr>
                          </m:ctrlPr>
                        </m:naryPr>
                        <m:sub>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𝑇</m:t>
                          </m:r>
                        </m:sup>
                        <m:e>
                          <m:sSup>
                            <m:sSupPr>
                              <m:ctrlPr>
                                <a:rPr lang="zh-CN" altLang="zh-CN" sz="1400" i="1" smtClean="0">
                                  <a:solidFill>
                                    <a:srgbClr val="000000"/>
                                  </a:solidFill>
                                  <a:latin typeface="Cambria Math" panose="02040503050406030204" pitchFamily="18" charset="0"/>
                                  <a:ea typeface="Cambria Math" panose="02040503050406030204" pitchFamily="18" charset="0"/>
                                </a:rPr>
                              </m:ctrlPr>
                            </m:sSupPr>
                            <m:e>
                              <m:r>
                                <m:rPr>
                                  <m:sty m:val="p"/>
                                </m:rPr>
                                <a:rPr lang="en-US" altLang="zh-CN" sz="1400" i="1">
                                  <a:solidFill>
                                    <a:srgbClr val="000000"/>
                                  </a:solidFill>
                                  <a:latin typeface="Cambria Math" panose="02040503050406030204" pitchFamily="18" charset="0"/>
                                  <a:ea typeface="Cambria Math" panose="02040503050406030204" pitchFamily="18" charset="0"/>
                                </a:rPr>
                                <m:t>α</m:t>
                              </m:r>
                            </m:e>
                            <m:sup>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p>
                          </m:sSup>
                          <m:sSup>
                            <m:sSupPr>
                              <m:ctrlPr>
                                <a:rPr lang="zh-CN" altLang="zh-CN" sz="1400" i="1" smtClean="0">
                                  <a:solidFill>
                                    <a:srgbClr val="000000"/>
                                  </a:solidFill>
                                  <a:latin typeface="Cambria Math" panose="02040503050406030204" pitchFamily="18" charset="0"/>
                                  <a:ea typeface="Cambria Math" panose="02040503050406030204" pitchFamily="18" charset="0"/>
                                </a:rPr>
                              </m:ctrlPr>
                            </m:sSupPr>
                            <m:e>
                              <m:r>
                                <a:rPr lang="en-US" altLang="zh-CN" sz="1400" b="0" i="1" smtClean="0">
                                  <a:solidFill>
                                    <a:srgbClr val="000000"/>
                                  </a:solidFill>
                                  <a:latin typeface="Cambria Math" panose="02040503050406030204" pitchFamily="18" charset="0"/>
                                  <a:ea typeface="Cambria Math" panose="02040503050406030204" pitchFamily="18" charset="0"/>
                                </a:rPr>
                                <m:t>𝑎</m:t>
                              </m:r>
                            </m:e>
                            <m:sup>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p>
                          </m:sSup>
                        </m:e>
                      </m:nary>
                    </m:oMath>
                  </m:oMathPara>
                </a14:m>
                <a:endParaRPr lang="en-US" altLang="zh-CN" sz="1400" kern="100" dirty="0">
                  <a:solidFill>
                    <a:srgbClr val="000000"/>
                  </a:solidFill>
                  <a:latin typeface="Source Han Sans SC Normal" panose="020B0400000000000000" pitchFamily="34" charset="-128"/>
                  <a:ea typeface="宋体" panose="02010600030101010101" pitchFamily="2" charset="-122"/>
                  <a:cs typeface="Times New Roman" panose="02020603050405020304" pitchFamily="18" charset="0"/>
                </a:endParaRPr>
              </a:p>
              <a:p>
                <a:pPr>
                  <a:lnSpc>
                    <a:spcPct val="150000"/>
                  </a:lnSpc>
                </a:pPr>
                <a14:m>
                  <m:oMath xmlns:m="http://schemas.openxmlformats.org/officeDocument/2006/math">
                    <m:sSup>
                      <m:sSupPr>
                        <m:ctrlPr>
                          <a:rPr lang="zh-CN" altLang="zh-CN" sz="1400" i="1" smtClean="0">
                            <a:solidFill>
                              <a:srgbClr val="000000"/>
                            </a:solidFill>
                            <a:latin typeface="Cambria Math" panose="02040503050406030204" pitchFamily="18" charset="0"/>
                            <a:ea typeface="Cambria Math" panose="02040503050406030204" pitchFamily="18" charset="0"/>
                          </a:rPr>
                        </m:ctrlPr>
                      </m:sSupPr>
                      <m:e>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𝛼</m:t>
                        </m:r>
                      </m:e>
                      <m:sup>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p>
                    </m:sSup>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1400" i="1">
                            <a:solidFill>
                              <a:srgbClr val="000000"/>
                            </a:solidFill>
                            <a:latin typeface="Cambria Math" panose="02040503050406030204" pitchFamily="18" charset="0"/>
                            <a:ea typeface="Cambria Math" panose="02040503050406030204" pitchFamily="18" charset="0"/>
                          </a:rPr>
                        </m:ctrlPr>
                      </m:fPr>
                      <m:num>
                        <m:r>
                          <m:rPr>
                            <m:sty m:val="p"/>
                          </m:rPr>
                          <a:rPr lang="en-US" altLang="zh-CN" sz="1400"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exp</m:t>
                        </m:r>
                        <m:r>
                          <a:rPr lang="en-US" altLang="zh-CN" sz="1400"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rPr>
                            </m:ctrlPr>
                          </m:sSubPr>
                          <m:e>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𝑒</m:t>
                            </m:r>
                          </m:e>
                          <m:sub>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sub>
                        </m:sSub>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num>
                      <m:den>
                        <m:nary>
                          <m:naryPr>
                            <m:chr m:val="∑"/>
                            <m:limLoc m:val="undOvr"/>
                            <m:ctrlPr>
                              <a:rPr lang="zh-CN" altLang="zh-CN" sz="1400" i="1">
                                <a:solidFill>
                                  <a:srgbClr val="000000"/>
                                </a:solidFill>
                                <a:latin typeface="Cambria Math" panose="02040503050406030204" pitchFamily="18" charset="0"/>
                                <a:ea typeface="Cambria Math" panose="02040503050406030204" pitchFamily="18" charset="0"/>
                              </a:rPr>
                            </m:ctrlPr>
                          </m:naryPr>
                          <m:sub>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𝑘</m:t>
                            </m:r>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𝑇</m:t>
                            </m:r>
                          </m:sup>
                          <m:e>
                            <m:r>
                              <m:rPr>
                                <m:sty m:val="p"/>
                              </m:rPr>
                              <a:rPr lang="en-US" altLang="zh-CN" sz="1400"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exp</m:t>
                            </m:r>
                            <m:r>
                              <a:rPr lang="en-US" altLang="zh-CN" sz="1400"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rPr>
                                </m:ctrlPr>
                              </m:sSubPr>
                              <m:e>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𝑒</m:t>
                                </m:r>
                              </m:e>
                              <m:sub>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𝑡</m:t>
                                </m:r>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1400" i="1" kern="100">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e>
                        </m:nary>
                      </m:den>
                    </m:f>
                  </m:oMath>
                </a14:m>
                <a:r>
                  <a:rPr kumimoji="1" lang="en-US" altLang="zh-CN" sz="1400" dirty="0">
                    <a:latin typeface="Source Han Sans SC Normal" panose="020B0400000000000000" pitchFamily="34" charset="-128"/>
                    <a:ea typeface="Source Han Sans SC Normal" panose="020B0400000000000000" pitchFamily="34" charset="-128"/>
                  </a:rPr>
                  <a:t>	</a:t>
                </a:r>
                <a14:m>
                  <m:oMath xmlns:m="http://schemas.openxmlformats.org/officeDocument/2006/math">
                    <m:sSub>
                      <m:sSubPr>
                        <m:ctrlPr>
                          <a:rPr kumimoji="1" lang="en-US" altLang="zh-CN" sz="1400" i="1">
                            <a:latin typeface="Cambria Math" panose="02040503050406030204" pitchFamily="18" charset="0"/>
                            <a:ea typeface="Source Han Sans SC Normal" panose="020B0400000000000000" pitchFamily="34" charset="-128"/>
                          </a:rPr>
                        </m:ctrlPr>
                      </m:sSubPr>
                      <m:e>
                        <m:r>
                          <m:rPr>
                            <m:sty m:val="p"/>
                          </m:rPr>
                          <a:rPr kumimoji="1" lang="en-US" altLang="zh-CN" sz="1400" i="1">
                            <a:latin typeface="Cambria Math" panose="02040503050406030204" pitchFamily="18" charset="0"/>
                            <a:ea typeface="Source Han Sans SC Normal" panose="020B0400000000000000" pitchFamily="34" charset="-128"/>
                          </a:rPr>
                          <m:t>e</m:t>
                        </m:r>
                      </m:e>
                      <m:sub>
                        <m:r>
                          <a:rPr kumimoji="1" lang="en-US" altLang="zh-CN" sz="1400" i="1">
                            <a:latin typeface="Cambria Math" panose="02040503050406030204" pitchFamily="18" charset="0"/>
                            <a:ea typeface="Source Han Sans SC Normal" panose="020B0400000000000000" pitchFamily="34" charset="-128"/>
                          </a:rPr>
                          <m:t>𝑡</m:t>
                        </m:r>
                        <m:r>
                          <a:rPr kumimoji="1" lang="en-US" altLang="zh-CN" sz="1400" i="1">
                            <a:latin typeface="Cambria Math" panose="02040503050406030204" pitchFamily="18" charset="0"/>
                            <a:ea typeface="Source Han Sans SC Normal" panose="020B0400000000000000" pitchFamily="34" charset="-128"/>
                          </a:rPr>
                          <m:t>′</m:t>
                        </m:r>
                        <m:r>
                          <a:rPr kumimoji="1" lang="en-US" altLang="zh-CN" sz="1400" i="1">
                            <a:latin typeface="Cambria Math" panose="02040503050406030204" pitchFamily="18" charset="0"/>
                            <a:ea typeface="Source Han Sans SC Normal" panose="020B0400000000000000" pitchFamily="34" charset="-128"/>
                          </a:rPr>
                          <m:t>𝑡</m:t>
                        </m:r>
                      </m:sub>
                    </m:sSub>
                    <m:r>
                      <a:rPr kumimoji="1" lang="en-US" altLang="zh-CN" sz="1400" i="1">
                        <a:latin typeface="Cambria Math" panose="02040503050406030204" pitchFamily="18" charset="0"/>
                        <a:ea typeface="Source Han Sans SC Normal" panose="020B0400000000000000" pitchFamily="34" charset="-128"/>
                      </a:rPr>
                      <m:t>=</m:t>
                    </m:r>
                    <m:r>
                      <a:rPr kumimoji="1" lang="en-US" altLang="zh-CN" sz="1400" i="1">
                        <a:latin typeface="Cambria Math" panose="02040503050406030204" pitchFamily="18" charset="0"/>
                        <a:ea typeface="Source Han Sans SC Normal" panose="020B0400000000000000" pitchFamily="34" charset="-128"/>
                      </a:rPr>
                      <m:t>𝑠𝑐𝑜𝑟𝑒</m:t>
                    </m:r>
                    <m:r>
                      <a:rPr kumimoji="1" lang="en-US" altLang="zh-CN" sz="1400" i="1">
                        <a:latin typeface="Cambria Math" panose="02040503050406030204" pitchFamily="18" charset="0"/>
                        <a:ea typeface="Source Han Sans SC Normal" panose="020B0400000000000000" pitchFamily="34" charset="-128"/>
                      </a:rPr>
                      <m:t> (</m:t>
                    </m:r>
                    <m:sSup>
                      <m:sSupPr>
                        <m:ctrlPr>
                          <a:rPr kumimoji="1" lang="en-US" altLang="zh-CN" sz="1400" i="1">
                            <a:latin typeface="Cambria Math" panose="02040503050406030204" pitchFamily="18" charset="0"/>
                            <a:ea typeface="Source Han Sans SC Normal" panose="020B0400000000000000" pitchFamily="34" charset="-128"/>
                          </a:rPr>
                        </m:ctrlPr>
                      </m:sSupPr>
                      <m:e>
                        <m:r>
                          <a:rPr kumimoji="1" lang="en-US" altLang="zh-CN" sz="1400" i="1">
                            <a:latin typeface="Cambria Math" panose="02040503050406030204" pitchFamily="18" charset="0"/>
                            <a:ea typeface="Source Han Sans SC Normal" panose="020B0400000000000000" pitchFamily="34" charset="-128"/>
                          </a:rPr>
                          <m:t>𝑎</m:t>
                        </m:r>
                      </m:e>
                      <m:sup>
                        <m:r>
                          <a:rPr kumimoji="1" lang="en-US" altLang="zh-CN" sz="1400" i="1">
                            <a:latin typeface="Cambria Math" panose="02040503050406030204" pitchFamily="18" charset="0"/>
                            <a:ea typeface="Source Han Sans SC Normal" panose="020B0400000000000000" pitchFamily="34" charset="-128"/>
                          </a:rPr>
                          <m:t>𝑡</m:t>
                        </m:r>
                      </m:sup>
                    </m:sSup>
                    <m:r>
                      <a:rPr kumimoji="1" lang="en-US" altLang="zh-CN" sz="1400" i="1">
                        <a:latin typeface="Cambria Math" panose="02040503050406030204" pitchFamily="18" charset="0"/>
                        <a:ea typeface="Source Han Sans SC Normal" panose="020B0400000000000000" pitchFamily="34" charset="-128"/>
                      </a:rPr>
                      <m:t>,</m:t>
                    </m:r>
                    <m:sSup>
                      <m:sSupPr>
                        <m:ctrlPr>
                          <a:rPr kumimoji="1" lang="en-US" altLang="zh-CN" sz="1400" i="1">
                            <a:latin typeface="Cambria Math" panose="02040503050406030204" pitchFamily="18" charset="0"/>
                            <a:ea typeface="Source Han Sans SC Normal" panose="020B0400000000000000" pitchFamily="34" charset="-128"/>
                          </a:rPr>
                        </m:ctrlPr>
                      </m:sSupPr>
                      <m:e>
                        <m:r>
                          <a:rPr kumimoji="1" lang="en-US" altLang="zh-CN" sz="1400" i="1">
                            <a:latin typeface="Cambria Math" panose="02040503050406030204" pitchFamily="18" charset="0"/>
                            <a:ea typeface="Source Han Sans SC Normal" panose="020B0400000000000000" pitchFamily="34" charset="-128"/>
                          </a:rPr>
                          <m:t>𝑠</m:t>
                        </m:r>
                      </m:e>
                      <m:sup>
                        <m:r>
                          <a:rPr kumimoji="1" lang="en-US" altLang="zh-CN" sz="1400" i="1">
                            <a:latin typeface="Cambria Math" panose="02040503050406030204" pitchFamily="18" charset="0"/>
                            <a:ea typeface="Source Han Sans SC Normal" panose="020B0400000000000000" pitchFamily="34" charset="-128"/>
                          </a:rPr>
                          <m:t>&lt;</m:t>
                        </m:r>
                        <m:r>
                          <a:rPr kumimoji="1" lang="en-US" altLang="zh-CN" sz="1400" i="1">
                            <a:latin typeface="Cambria Math" panose="02040503050406030204" pitchFamily="18" charset="0"/>
                            <a:ea typeface="Source Han Sans SC Normal" panose="020B0400000000000000" pitchFamily="34" charset="-128"/>
                          </a:rPr>
                          <m:t>𝑡</m:t>
                        </m:r>
                        <m:r>
                          <a:rPr kumimoji="1" lang="en-US" altLang="zh-CN" sz="1400" i="1">
                            <a:latin typeface="Cambria Math" panose="02040503050406030204" pitchFamily="18" charset="0"/>
                            <a:ea typeface="Source Han Sans SC Normal" panose="020B0400000000000000" pitchFamily="34" charset="-128"/>
                          </a:rPr>
                          <m:t>−1′&gt;</m:t>
                        </m:r>
                      </m:sup>
                    </m:sSup>
                  </m:oMath>
                </a14:m>
                <a:r>
                  <a:rPr kumimoji="1" lang="en-US" altLang="zh-CN" sz="1400" i="0" dirty="0">
                    <a:latin typeface="+mj-lt"/>
                    <a:ea typeface="Source Han Sans SC Normal" panose="020B0400000000000000" pitchFamily="34" charset="-128"/>
                  </a:rPr>
                  <a:t>)</a:t>
                </a:r>
                <a14:m>
                  <m:oMath xmlns:m="http://schemas.openxmlformats.org/officeDocument/2006/math">
                    <m:r>
                      <a:rPr kumimoji="1" lang="en-US" altLang="zh-CN" sz="1400" b="0" i="1" dirty="0" smtClean="0">
                        <a:latin typeface="Cambria Math" panose="02040503050406030204" pitchFamily="18" charset="0"/>
                        <a:ea typeface="Source Han Sans SC Normal" panose="020B0400000000000000" pitchFamily="34" charset="-128"/>
                      </a:rPr>
                      <m:t>=</m:t>
                    </m:r>
                    <m:r>
                      <m:rPr>
                        <m:sty m:val="p"/>
                      </m:rPr>
                      <a:rPr kumimoji="1" lang="en-US" altLang="zh-CN" sz="1400" b="0" i="1" dirty="0" smtClean="0">
                        <a:latin typeface="Cambria Math" panose="02040503050406030204" pitchFamily="18" charset="0"/>
                        <a:ea typeface="Source Han Sans SC Normal" panose="020B0400000000000000" pitchFamily="34" charset="-128"/>
                      </a:rPr>
                      <m:t>tanh</m:t>
                    </m:r>
                    <m:r>
                      <a:rPr kumimoji="1" lang="en-US" altLang="zh-CN" sz="1400" b="0" i="1" dirty="0" smtClean="0">
                        <a:latin typeface="Cambria Math" panose="02040503050406030204" pitchFamily="18" charset="0"/>
                        <a:ea typeface="Source Han Sans SC Normal" panose="020B0400000000000000" pitchFamily="34" charset="-128"/>
                      </a:rPr>
                      <m:t>⁡(</m:t>
                    </m:r>
                    <m:sSub>
                      <m:sSubPr>
                        <m:ctrlPr>
                          <a:rPr kumimoji="1" lang="en-US" altLang="zh-CN" sz="1400" b="0" i="1" dirty="0" smtClean="0">
                            <a:latin typeface="Cambria Math" panose="02040503050406030204" pitchFamily="18" charset="0"/>
                            <a:ea typeface="Source Han Sans SC Normal" panose="020B0400000000000000" pitchFamily="34" charset="-128"/>
                          </a:rPr>
                        </m:ctrlPr>
                      </m:sSubPr>
                      <m:e>
                        <m:r>
                          <a:rPr kumimoji="1" lang="en-US" altLang="zh-CN" sz="1400" b="0" i="1" dirty="0" smtClean="0">
                            <a:latin typeface="Cambria Math" panose="02040503050406030204" pitchFamily="18" charset="0"/>
                            <a:ea typeface="Source Han Sans SC Normal" panose="020B0400000000000000" pitchFamily="34" charset="-128"/>
                          </a:rPr>
                          <m:t>𝑤</m:t>
                        </m:r>
                      </m:e>
                      <m:sub>
                        <m:r>
                          <a:rPr kumimoji="1" lang="en-US" altLang="zh-CN" sz="1400" b="0" i="1" dirty="0" smtClean="0">
                            <a:latin typeface="Cambria Math" panose="02040503050406030204" pitchFamily="18" charset="0"/>
                            <a:ea typeface="Source Han Sans SC Normal" panose="020B0400000000000000" pitchFamily="34" charset="-128"/>
                          </a:rPr>
                          <m:t>𝑎</m:t>
                        </m:r>
                      </m:sub>
                    </m:sSub>
                    <m:r>
                      <a:rPr kumimoji="1" lang="en-US" altLang="zh-CN" sz="1400" b="0" i="1" dirty="0" smtClean="0">
                        <a:latin typeface="Cambria Math" panose="02040503050406030204" pitchFamily="18" charset="0"/>
                        <a:ea typeface="Source Han Sans SC Normal" panose="020B0400000000000000" pitchFamily="34" charset="-128"/>
                      </a:rPr>
                      <m:t>∗[</m:t>
                    </m:r>
                    <m:sSup>
                      <m:sSupPr>
                        <m:ctrlPr>
                          <a:rPr kumimoji="1" lang="en-US" altLang="zh-CN" sz="1400" b="0" i="1" dirty="0" smtClean="0">
                            <a:latin typeface="Cambria Math" panose="02040503050406030204" pitchFamily="18" charset="0"/>
                            <a:ea typeface="Source Han Sans SC Normal" panose="020B0400000000000000" pitchFamily="34" charset="-128"/>
                          </a:rPr>
                        </m:ctrlPr>
                      </m:sSupPr>
                      <m:e>
                        <m:r>
                          <a:rPr kumimoji="1" lang="en-US" altLang="zh-CN" sz="1400" b="0" i="1" dirty="0" smtClean="0">
                            <a:latin typeface="Cambria Math" panose="02040503050406030204" pitchFamily="18" charset="0"/>
                            <a:ea typeface="Source Han Sans SC Normal" panose="020B0400000000000000" pitchFamily="34" charset="-128"/>
                          </a:rPr>
                          <m:t>𝑎</m:t>
                        </m:r>
                      </m:e>
                      <m:sup>
                        <m:r>
                          <a:rPr kumimoji="1" lang="en-US" altLang="zh-CN" sz="1400" b="0" i="1" dirty="0" smtClean="0">
                            <a:latin typeface="Cambria Math" panose="02040503050406030204" pitchFamily="18" charset="0"/>
                            <a:ea typeface="Source Han Sans SC Normal" panose="020B0400000000000000" pitchFamily="34" charset="-128"/>
                          </a:rPr>
                          <m:t>𝑡</m:t>
                        </m:r>
                      </m:sup>
                    </m:sSup>
                    <m:r>
                      <a:rPr kumimoji="1" lang="en-US" altLang="zh-CN" sz="1400" b="0" i="1" dirty="0" smtClean="0">
                        <a:latin typeface="Cambria Math" panose="02040503050406030204" pitchFamily="18" charset="0"/>
                        <a:ea typeface="Source Han Sans SC Normal" panose="020B0400000000000000" pitchFamily="34" charset="-128"/>
                      </a:rPr>
                      <m:t>,</m:t>
                    </m:r>
                    <m:sSup>
                      <m:sSupPr>
                        <m:ctrlPr>
                          <a:rPr kumimoji="1" lang="en-US" altLang="zh-CN" sz="1400" b="0" i="1" dirty="0" smtClean="0">
                            <a:latin typeface="Cambria Math" panose="02040503050406030204" pitchFamily="18" charset="0"/>
                            <a:ea typeface="Source Han Sans SC Normal" panose="020B0400000000000000" pitchFamily="34" charset="-128"/>
                          </a:rPr>
                        </m:ctrlPr>
                      </m:sSupPr>
                      <m:e>
                        <m:r>
                          <a:rPr kumimoji="1" lang="en-US" altLang="zh-CN" sz="1400" b="0" i="1" dirty="0" smtClean="0">
                            <a:latin typeface="Cambria Math" panose="02040503050406030204" pitchFamily="18" charset="0"/>
                            <a:ea typeface="Source Han Sans SC Normal" panose="020B0400000000000000" pitchFamily="34" charset="-128"/>
                          </a:rPr>
                          <m:t>𝑠</m:t>
                        </m:r>
                      </m:e>
                      <m:sup>
                        <m:r>
                          <a:rPr kumimoji="1" lang="en-US" altLang="zh-CN" sz="1400" b="0" i="1" dirty="0" smtClean="0">
                            <a:latin typeface="Cambria Math" panose="02040503050406030204" pitchFamily="18" charset="0"/>
                            <a:ea typeface="Source Han Sans SC Normal" panose="020B0400000000000000" pitchFamily="34" charset="-128"/>
                          </a:rPr>
                          <m:t>&lt;</m:t>
                        </m:r>
                        <m:r>
                          <a:rPr kumimoji="1" lang="en-US" altLang="zh-CN" sz="1400" b="0" i="1" dirty="0" smtClean="0">
                            <a:latin typeface="Cambria Math" panose="02040503050406030204" pitchFamily="18" charset="0"/>
                            <a:ea typeface="Source Han Sans SC Normal" panose="020B0400000000000000" pitchFamily="34" charset="-128"/>
                          </a:rPr>
                          <m:t>𝑡</m:t>
                        </m:r>
                        <m:r>
                          <a:rPr kumimoji="1" lang="en-US" altLang="zh-CN" sz="1400" b="0" i="1" dirty="0" smtClean="0">
                            <a:latin typeface="Cambria Math" panose="02040503050406030204" pitchFamily="18" charset="0"/>
                            <a:ea typeface="Source Han Sans SC Normal" panose="020B0400000000000000" pitchFamily="34" charset="-128"/>
                          </a:rPr>
                          <m:t>−1′&gt;</m:t>
                        </m:r>
                      </m:sup>
                    </m:sSup>
                    <m:r>
                      <a:rPr kumimoji="1" lang="en-US" altLang="zh-CN" sz="1400" b="0" i="1" dirty="0" smtClean="0">
                        <a:latin typeface="Cambria Math" panose="02040503050406030204" pitchFamily="18" charset="0"/>
                        <a:ea typeface="Source Han Sans SC Normal" panose="020B0400000000000000" pitchFamily="34" charset="-128"/>
                      </a:rPr>
                      <m:t>])</m:t>
                    </m:r>
                  </m:oMath>
                </a14:m>
                <a:endParaRPr kumimoji="1" lang="en-US" altLang="zh-CN" sz="1400" dirty="0">
                  <a:latin typeface="Source Han Sans SC Normal" panose="020B0400000000000000" pitchFamily="34" charset="-128"/>
                  <a:ea typeface="Source Han Sans SC Normal" panose="020B0400000000000000" pitchFamily="34" charset="-128"/>
                </a:endParaRPr>
              </a:p>
              <a:p>
                <a:pPr>
                  <a:lnSpc>
                    <a:spcPct val="150000"/>
                  </a:lnSpc>
                </a:pPr>
                <a:endParaRPr kumimoji="1" lang="en-US" altLang="zh-CN" sz="1400" dirty="0">
                  <a:latin typeface="Source Han Sans SC Normal" panose="020B0400000000000000" pitchFamily="34" charset="-128"/>
                  <a:ea typeface="Source Han Sans SC Normal" panose="020B0400000000000000" pitchFamily="34" charset="-128"/>
                </a:endParaRPr>
              </a:p>
              <a:p>
                <a:pPr>
                  <a:lnSpc>
                    <a:spcPct val="150000"/>
                  </a:lnSpc>
                </a:pPr>
                <a14:m>
                  <m:oMath xmlns:m="http://schemas.openxmlformats.org/officeDocument/2006/math">
                    <m:sSup>
                      <m:sSupPr>
                        <m:ctrlPr>
                          <a:rPr kumimoji="1" lang="en-US" altLang="zh-CN" sz="1400" i="1" smtClean="0">
                            <a:latin typeface="Cambria Math" panose="02040503050406030204" pitchFamily="18" charset="0"/>
                            <a:ea typeface="Source Han Sans SC Normal" panose="020B0400000000000000" pitchFamily="34" charset="-128"/>
                          </a:rPr>
                        </m:ctrlPr>
                      </m:sSupPr>
                      <m:e>
                        <m:r>
                          <a:rPr kumimoji="1" lang="en-US" altLang="zh-CN" sz="1400" b="0" i="1" smtClean="0">
                            <a:latin typeface="Cambria Math" panose="02040503050406030204" pitchFamily="18" charset="0"/>
                            <a:ea typeface="Source Han Sans SC Normal" panose="020B0400000000000000" pitchFamily="34" charset="-128"/>
                          </a:rPr>
                          <m:t>𝑠</m:t>
                        </m:r>
                      </m:e>
                      <m:sup>
                        <m:r>
                          <a:rPr kumimoji="1" lang="en-US" altLang="zh-CN" sz="1400" b="0" i="1" smtClean="0">
                            <a:latin typeface="Cambria Math" panose="02040503050406030204" pitchFamily="18" charset="0"/>
                            <a:ea typeface="Source Han Sans SC Normal" panose="020B0400000000000000" pitchFamily="34" charset="-128"/>
                          </a:rPr>
                          <m:t>&lt;</m:t>
                        </m:r>
                        <m:r>
                          <a:rPr kumimoji="1" lang="en-US" altLang="zh-CN" sz="1400" b="0" i="1" smtClean="0">
                            <a:latin typeface="Cambria Math" panose="02040503050406030204" pitchFamily="18" charset="0"/>
                            <a:ea typeface="Source Han Sans SC Normal" panose="020B0400000000000000" pitchFamily="34" charset="-128"/>
                          </a:rPr>
                          <m:t>𝑡</m:t>
                        </m:r>
                        <m:r>
                          <a:rPr kumimoji="1" lang="en-US" altLang="zh-CN" sz="1400" b="0" i="1" smtClean="0">
                            <a:latin typeface="Cambria Math" panose="02040503050406030204" pitchFamily="18" charset="0"/>
                            <a:ea typeface="Source Han Sans SC Normal" panose="020B0400000000000000" pitchFamily="34" charset="-128"/>
                          </a:rPr>
                          <m:t>′&gt;</m:t>
                        </m:r>
                      </m:sup>
                    </m:sSup>
                  </m:oMath>
                </a14:m>
                <a:r>
                  <a:rPr kumimoji="1" lang="en-US" altLang="zh-CN" sz="1400" dirty="0">
                    <a:latin typeface="Source Han Sans SC Normal" panose="020B0400000000000000" pitchFamily="34" charset="-128"/>
                    <a:ea typeface="Source Han Sans SC Normal" panose="020B0400000000000000" pitchFamily="34" charset="-128"/>
                  </a:rPr>
                  <a:t>=</a:t>
                </a:r>
                <a14:m>
                  <m:oMath xmlns:m="http://schemas.openxmlformats.org/officeDocument/2006/math">
                    <m:r>
                      <m:rPr>
                        <m:sty m:val="p"/>
                      </m:rPr>
                      <a:rPr kumimoji="1" lang="en-US" altLang="zh-CN" sz="1400" b="0" i="0" dirty="0" smtClean="0">
                        <a:latin typeface="Cambria Math" panose="02040503050406030204" pitchFamily="18" charset="0"/>
                        <a:ea typeface="Source Han Sans SC Normal" panose="020B0400000000000000" pitchFamily="34" charset="-128"/>
                      </a:rPr>
                      <m:t>tanh</m:t>
                    </m:r>
                    <m:r>
                      <a:rPr kumimoji="1" lang="en-US" altLang="zh-CN" sz="1400" b="0" i="1" dirty="0" smtClean="0">
                        <a:latin typeface="Cambria Math" panose="02040503050406030204" pitchFamily="18" charset="0"/>
                        <a:ea typeface="Source Han Sans SC Normal" panose="020B0400000000000000" pitchFamily="34" charset="-128"/>
                      </a:rPr>
                      <m:t>⁡(</m:t>
                    </m:r>
                    <m:sSub>
                      <m:sSubPr>
                        <m:ctrlPr>
                          <a:rPr kumimoji="1" lang="en-US" altLang="zh-CN" sz="1400" b="0" i="1" dirty="0" smtClean="0">
                            <a:latin typeface="Cambria Math" panose="02040503050406030204" pitchFamily="18" charset="0"/>
                            <a:ea typeface="Source Han Sans SC Normal" panose="020B0400000000000000" pitchFamily="34" charset="-128"/>
                          </a:rPr>
                        </m:ctrlPr>
                      </m:sSubPr>
                      <m:e>
                        <m:r>
                          <a:rPr kumimoji="1" lang="en-US" altLang="zh-CN" sz="1400" b="0" i="1" dirty="0" smtClean="0">
                            <a:latin typeface="Cambria Math" panose="02040503050406030204" pitchFamily="18" charset="0"/>
                            <a:ea typeface="Source Han Sans SC Normal" panose="020B0400000000000000" pitchFamily="34" charset="-128"/>
                          </a:rPr>
                          <m:t>𝑤</m:t>
                        </m:r>
                      </m:e>
                      <m:sub>
                        <m:r>
                          <a:rPr kumimoji="1" lang="en-US" altLang="zh-CN" sz="1400" b="0" i="1" dirty="0" smtClean="0">
                            <a:latin typeface="Cambria Math" panose="02040503050406030204" pitchFamily="18" charset="0"/>
                            <a:ea typeface="Source Han Sans SC Normal" panose="020B0400000000000000" pitchFamily="34" charset="-128"/>
                          </a:rPr>
                          <m:t>𝑐</m:t>
                        </m:r>
                      </m:sub>
                    </m:sSub>
                    <m:r>
                      <a:rPr kumimoji="1" lang="en-US" altLang="zh-CN" sz="1400" b="0" i="1" dirty="0" smtClean="0">
                        <a:latin typeface="Cambria Math" panose="02040503050406030204" pitchFamily="18" charset="0"/>
                        <a:ea typeface="Source Han Sans SC Normal" panose="020B0400000000000000" pitchFamily="34" charset="-128"/>
                      </a:rPr>
                      <m:t>[</m:t>
                    </m:r>
                    <m:sSup>
                      <m:sSupPr>
                        <m:ctrlPr>
                          <a:rPr kumimoji="1" lang="en-US" altLang="zh-CN" sz="1400" b="0" i="1" dirty="0" smtClean="0">
                            <a:latin typeface="Cambria Math" panose="02040503050406030204" pitchFamily="18" charset="0"/>
                            <a:ea typeface="Source Han Sans SC Normal" panose="020B0400000000000000" pitchFamily="34" charset="-128"/>
                          </a:rPr>
                        </m:ctrlPr>
                      </m:sSupPr>
                      <m:e>
                        <m:r>
                          <a:rPr kumimoji="1" lang="en-US" altLang="zh-CN" sz="1400" b="0" i="1" dirty="0" smtClean="0">
                            <a:latin typeface="Cambria Math" panose="02040503050406030204" pitchFamily="18" charset="0"/>
                            <a:ea typeface="Source Han Sans SC Normal" panose="020B0400000000000000" pitchFamily="34" charset="-128"/>
                          </a:rPr>
                          <m:t>𝑐</m:t>
                        </m:r>
                      </m:e>
                      <m:sup>
                        <m:sSup>
                          <m:sSupPr>
                            <m:ctrlPr>
                              <a:rPr kumimoji="1" lang="en-US" altLang="zh-CN" sz="1400" b="0" i="1" dirty="0" smtClean="0">
                                <a:latin typeface="Cambria Math" panose="02040503050406030204" pitchFamily="18" charset="0"/>
                                <a:ea typeface="Source Han Sans SC Normal" panose="020B0400000000000000" pitchFamily="34" charset="-128"/>
                              </a:rPr>
                            </m:ctrlPr>
                          </m:sSupPr>
                          <m:e>
                            <m:r>
                              <a:rPr kumimoji="1" lang="en-US" altLang="zh-CN" sz="1400" b="0" i="1" dirty="0" smtClean="0">
                                <a:latin typeface="Cambria Math" panose="02040503050406030204" pitchFamily="18" charset="0"/>
                                <a:ea typeface="Source Han Sans SC Normal" panose="020B0400000000000000" pitchFamily="34" charset="-128"/>
                              </a:rPr>
                              <m:t>𝑡</m:t>
                            </m:r>
                          </m:e>
                          <m:sup>
                            <m:r>
                              <a:rPr kumimoji="1" lang="en-US" altLang="zh-CN" sz="1400" b="0" i="1" dirty="0" smtClean="0">
                                <a:latin typeface="Cambria Math" panose="02040503050406030204" pitchFamily="18" charset="0"/>
                                <a:ea typeface="Source Han Sans SC Normal" panose="020B0400000000000000" pitchFamily="34" charset="-128"/>
                              </a:rPr>
                              <m:t>′</m:t>
                            </m:r>
                          </m:sup>
                        </m:sSup>
                      </m:sup>
                    </m:sSup>
                    <m:r>
                      <a:rPr kumimoji="1" lang="en-US" altLang="zh-CN" sz="1400" b="0" i="1" dirty="0" smtClean="0">
                        <a:latin typeface="Cambria Math" panose="02040503050406030204" pitchFamily="18" charset="0"/>
                        <a:ea typeface="Source Han Sans SC Normal" panose="020B0400000000000000" pitchFamily="34" charset="-128"/>
                      </a:rPr>
                      <m:t>,</m:t>
                    </m:r>
                    <m:sSup>
                      <m:sSupPr>
                        <m:ctrlPr>
                          <a:rPr kumimoji="1" lang="en-US" altLang="zh-CN" sz="1400" b="0" i="1" dirty="0" smtClean="0">
                            <a:latin typeface="Cambria Math" panose="02040503050406030204" pitchFamily="18" charset="0"/>
                            <a:ea typeface="Source Han Sans SC Normal" panose="020B0400000000000000" pitchFamily="34" charset="-128"/>
                          </a:rPr>
                        </m:ctrlPr>
                      </m:sSupPr>
                      <m:e>
                        <m:r>
                          <a:rPr kumimoji="1" lang="en-US" altLang="zh-CN" sz="1400" b="0" i="1" dirty="0" smtClean="0">
                            <a:latin typeface="Cambria Math" panose="02040503050406030204" pitchFamily="18" charset="0"/>
                            <a:ea typeface="Source Han Sans SC Normal" panose="020B0400000000000000" pitchFamily="34" charset="-128"/>
                          </a:rPr>
                          <m:t>𝑠</m:t>
                        </m:r>
                      </m:e>
                      <m:sup>
                        <m:r>
                          <a:rPr kumimoji="1" lang="en-US" altLang="zh-CN" sz="1400" b="0" i="1" dirty="0" smtClean="0">
                            <a:latin typeface="Cambria Math" panose="02040503050406030204" pitchFamily="18" charset="0"/>
                            <a:ea typeface="Source Han Sans SC Normal" panose="020B0400000000000000" pitchFamily="34" charset="-128"/>
                          </a:rPr>
                          <m:t>&lt;</m:t>
                        </m:r>
                        <m:r>
                          <a:rPr kumimoji="1" lang="en-US" altLang="zh-CN" sz="1400" b="0" i="1" dirty="0" smtClean="0">
                            <a:latin typeface="Cambria Math" panose="02040503050406030204" pitchFamily="18" charset="0"/>
                            <a:ea typeface="Source Han Sans SC Normal" panose="020B0400000000000000" pitchFamily="34" charset="-128"/>
                          </a:rPr>
                          <m:t>𝑡</m:t>
                        </m:r>
                        <m:r>
                          <a:rPr kumimoji="1" lang="en-US" altLang="zh-CN" sz="1400" b="0" i="1" dirty="0" smtClean="0">
                            <a:latin typeface="Cambria Math" panose="02040503050406030204" pitchFamily="18" charset="0"/>
                            <a:ea typeface="Source Han Sans SC Normal" panose="020B0400000000000000" pitchFamily="34" charset="-128"/>
                          </a:rPr>
                          <m:t>−1′&gt;</m:t>
                        </m:r>
                      </m:sup>
                    </m:sSup>
                    <m:r>
                      <a:rPr kumimoji="1" lang="en-US" altLang="zh-CN" sz="1400" b="0" i="1" dirty="0" smtClean="0">
                        <a:latin typeface="Cambria Math" panose="02040503050406030204" pitchFamily="18" charset="0"/>
                        <a:ea typeface="Source Han Sans SC Normal" panose="020B0400000000000000" pitchFamily="34" charset="-128"/>
                      </a:rPr>
                      <m:t>])</m:t>
                    </m:r>
                  </m:oMath>
                </a14:m>
                <a:r>
                  <a:rPr kumimoji="1" lang="en-US" altLang="zh-CN" sz="1400" dirty="0">
                    <a:latin typeface="Source Han Sans SC Normal" panose="020B0400000000000000" pitchFamily="34" charset="-128"/>
                    <a:ea typeface="Source Han Sans SC Normal" panose="020B0400000000000000" pitchFamily="34" charset="-128"/>
                  </a:rPr>
                  <a:t>                            </a:t>
                </a:r>
              </a:p>
              <a:p>
                <a:pPr>
                  <a:lnSpc>
                    <a:spcPct val="150000"/>
                  </a:lnSpc>
                </a:pPr>
                <a:endParaRPr kumimoji="1" lang="en-US" altLang="zh-CN" sz="1400" dirty="0">
                  <a:latin typeface="Source Han Sans SC Normal" panose="020B0400000000000000" pitchFamily="34" charset="-128"/>
                  <a:ea typeface="Source Han Sans SC Normal" panose="020B0400000000000000" pitchFamily="34" charset="-128"/>
                </a:endParaRPr>
              </a:p>
              <a:p>
                <a:pPr>
                  <a:lnSpc>
                    <a:spcPct val="150000"/>
                  </a:lnSpc>
                </a:pPr>
                <a14:m>
                  <m:oMathPara xmlns:m="http://schemas.openxmlformats.org/officeDocument/2006/math">
                    <m:oMathParaPr>
                      <m:jc m:val="left"/>
                    </m:oMathParaPr>
                    <m:oMath xmlns:m="http://schemas.openxmlformats.org/officeDocument/2006/math">
                      <m:sSup>
                        <m:sSupPr>
                          <m:ctrlPr>
                            <a:rPr kumimoji="1" lang="en-US" altLang="zh-CN" sz="1400" i="1" smtClean="0">
                              <a:latin typeface="Cambria Math" panose="02040503050406030204" pitchFamily="18" charset="0"/>
                              <a:ea typeface="Source Han Sans SC Normal" panose="020B0400000000000000" pitchFamily="34" charset="-128"/>
                            </a:rPr>
                          </m:ctrlPr>
                        </m:sSupPr>
                        <m:e>
                          <m:r>
                            <a:rPr kumimoji="1" lang="en-US" altLang="zh-CN" sz="1400" b="0" i="1" smtClean="0">
                              <a:latin typeface="Cambria Math" panose="02040503050406030204" pitchFamily="18" charset="0"/>
                              <a:ea typeface="Source Han Sans SC Normal" panose="020B0400000000000000" pitchFamily="34" charset="-128"/>
                            </a:rPr>
                            <m:t>𝑦</m:t>
                          </m:r>
                        </m:e>
                        <m:sup>
                          <m:r>
                            <a:rPr kumimoji="1" lang="en-US" altLang="zh-CN" sz="1400" b="0" i="1" smtClean="0">
                              <a:latin typeface="Cambria Math" panose="02040503050406030204" pitchFamily="18" charset="0"/>
                              <a:ea typeface="Source Han Sans SC Normal" panose="020B0400000000000000" pitchFamily="34" charset="-128"/>
                            </a:rPr>
                            <m:t>&lt;</m:t>
                          </m:r>
                          <m:r>
                            <a:rPr kumimoji="1" lang="en-US" altLang="zh-CN" sz="1400" b="0" i="1" smtClean="0">
                              <a:latin typeface="Cambria Math" panose="02040503050406030204" pitchFamily="18" charset="0"/>
                              <a:ea typeface="Source Han Sans SC Normal" panose="020B0400000000000000" pitchFamily="34" charset="-128"/>
                            </a:rPr>
                            <m:t>𝑡</m:t>
                          </m:r>
                          <m:r>
                            <a:rPr kumimoji="1" lang="en-US" altLang="zh-CN" sz="1400" b="0" i="1" smtClean="0">
                              <a:latin typeface="Cambria Math" panose="02040503050406030204" pitchFamily="18" charset="0"/>
                              <a:ea typeface="Source Han Sans SC Normal" panose="020B0400000000000000" pitchFamily="34" charset="-128"/>
                            </a:rPr>
                            <m:t>′&gt;</m:t>
                          </m:r>
                        </m:sup>
                      </m:sSup>
                      <m:r>
                        <a:rPr kumimoji="1" lang="en-US" altLang="zh-CN" sz="1400" b="0" i="1" smtClean="0">
                          <a:latin typeface="Cambria Math" panose="02040503050406030204" pitchFamily="18" charset="0"/>
                          <a:ea typeface="Source Han Sans SC Normal" panose="020B0400000000000000" pitchFamily="34" charset="-128"/>
                        </a:rPr>
                        <m:t>=</m:t>
                      </m:r>
                      <m:r>
                        <a:rPr kumimoji="1" lang="en-US" altLang="zh-CN" sz="1400" b="0" i="1" smtClean="0">
                          <a:latin typeface="Cambria Math" panose="02040503050406030204" pitchFamily="18" charset="0"/>
                          <a:ea typeface="Source Han Sans SC Normal" panose="020B0400000000000000" pitchFamily="34" charset="-128"/>
                        </a:rPr>
                        <m:t>𝑠𝑜𝑓𝑡𝑚𝑎𝑥</m:t>
                      </m:r>
                      <m:r>
                        <a:rPr kumimoji="1" lang="en-US" altLang="zh-CN" sz="1400" b="0" i="1" smtClean="0">
                          <a:latin typeface="Cambria Math" panose="02040503050406030204" pitchFamily="18" charset="0"/>
                          <a:ea typeface="Source Han Sans SC Normal" panose="020B0400000000000000" pitchFamily="34" charset="-128"/>
                        </a:rPr>
                        <m:t>(</m:t>
                      </m:r>
                      <m:sSub>
                        <m:sSubPr>
                          <m:ctrlPr>
                            <a:rPr kumimoji="1" lang="en-US" altLang="zh-CN" sz="1400" b="0" i="1" smtClean="0">
                              <a:latin typeface="Cambria Math" panose="02040503050406030204" pitchFamily="18" charset="0"/>
                              <a:ea typeface="Source Han Sans SC Normal" panose="020B0400000000000000" pitchFamily="34" charset="-128"/>
                            </a:rPr>
                          </m:ctrlPr>
                        </m:sSubPr>
                        <m:e>
                          <m:r>
                            <a:rPr kumimoji="1" lang="en-US" altLang="zh-CN" sz="1400" b="0" i="1" smtClean="0">
                              <a:latin typeface="Cambria Math" panose="02040503050406030204" pitchFamily="18" charset="0"/>
                              <a:ea typeface="Source Han Sans SC Normal" panose="020B0400000000000000" pitchFamily="34" charset="-128"/>
                            </a:rPr>
                            <m:t>𝑤</m:t>
                          </m:r>
                        </m:e>
                        <m:sub>
                          <m:r>
                            <a:rPr kumimoji="1" lang="en-US" altLang="zh-CN" sz="1400" b="0" i="1" smtClean="0">
                              <a:latin typeface="Cambria Math" panose="02040503050406030204" pitchFamily="18" charset="0"/>
                              <a:ea typeface="Source Han Sans SC Normal" panose="020B0400000000000000" pitchFamily="34" charset="-128"/>
                            </a:rPr>
                            <m:t>𝑠</m:t>
                          </m:r>
                        </m:sub>
                      </m:sSub>
                      <m:r>
                        <a:rPr kumimoji="1" lang="en-US" altLang="zh-CN" sz="1400" b="0" i="1" smtClean="0">
                          <a:latin typeface="Cambria Math" panose="02040503050406030204" pitchFamily="18" charset="0"/>
                          <a:ea typeface="Source Han Sans SC Normal" panose="020B0400000000000000" pitchFamily="34" charset="-128"/>
                        </a:rPr>
                        <m:t>∗</m:t>
                      </m:r>
                      <m:sSup>
                        <m:sSupPr>
                          <m:ctrlPr>
                            <a:rPr kumimoji="1" lang="en-US" altLang="zh-CN" sz="1400" i="1">
                              <a:latin typeface="Cambria Math" panose="02040503050406030204" pitchFamily="18" charset="0"/>
                              <a:ea typeface="Source Han Sans SC Normal" panose="020B0400000000000000" pitchFamily="34" charset="-128"/>
                            </a:rPr>
                          </m:ctrlPr>
                        </m:sSupPr>
                        <m:e>
                          <m:r>
                            <a:rPr kumimoji="1" lang="en-US" altLang="zh-CN" sz="1400" i="1">
                              <a:latin typeface="Cambria Math" panose="02040503050406030204" pitchFamily="18" charset="0"/>
                              <a:ea typeface="Source Han Sans SC Normal" panose="020B0400000000000000" pitchFamily="34" charset="-128"/>
                            </a:rPr>
                            <m:t>𝑠</m:t>
                          </m:r>
                        </m:e>
                        <m:sup>
                          <m:r>
                            <a:rPr kumimoji="1" lang="en-US" altLang="zh-CN" sz="1400" i="1">
                              <a:latin typeface="Cambria Math" panose="02040503050406030204" pitchFamily="18" charset="0"/>
                              <a:ea typeface="Source Han Sans SC Normal" panose="020B0400000000000000" pitchFamily="34" charset="-128"/>
                            </a:rPr>
                            <m:t>&lt;</m:t>
                          </m:r>
                          <m:r>
                            <a:rPr kumimoji="1" lang="en-US" altLang="zh-CN" sz="1400" i="1">
                              <a:latin typeface="Cambria Math" panose="02040503050406030204" pitchFamily="18" charset="0"/>
                              <a:ea typeface="Source Han Sans SC Normal" panose="020B0400000000000000" pitchFamily="34" charset="-128"/>
                            </a:rPr>
                            <m:t>𝑡</m:t>
                          </m:r>
                          <m:r>
                            <a:rPr kumimoji="1" lang="en-US" altLang="zh-CN" sz="1400" i="1">
                              <a:latin typeface="Cambria Math" panose="02040503050406030204" pitchFamily="18" charset="0"/>
                              <a:ea typeface="Source Han Sans SC Normal" panose="020B0400000000000000" pitchFamily="34" charset="-128"/>
                            </a:rPr>
                            <m:t>′&gt;</m:t>
                          </m:r>
                        </m:sup>
                      </m:sSup>
                      <m:r>
                        <a:rPr kumimoji="1" lang="en-US" altLang="zh-CN" sz="1400" b="0" i="1" smtClean="0">
                          <a:latin typeface="Cambria Math" panose="02040503050406030204" pitchFamily="18" charset="0"/>
                          <a:ea typeface="Source Han Sans SC Normal" panose="020B0400000000000000" pitchFamily="34" charset="-128"/>
                        </a:rPr>
                        <m:t>)</m:t>
                      </m:r>
                    </m:oMath>
                  </m:oMathPara>
                </a14:m>
                <a:endParaRPr kumimoji="1" lang="en-US" altLang="zh-CN" sz="1400" dirty="0">
                  <a:latin typeface="Source Han Sans SC Normal" panose="020B0400000000000000" pitchFamily="34" charset="-128"/>
                  <a:ea typeface="Source Han Sans SC Normal" panose="020B0400000000000000" pitchFamily="34" charset="-128"/>
                </a:endParaRPr>
              </a:p>
              <a:p>
                <a:pPr>
                  <a:lnSpc>
                    <a:spcPct val="130000"/>
                  </a:lnSpc>
                </a:pPr>
                <a:endParaRPr kumimoji="1" lang="en-US" altLang="zh-CN" sz="1400" dirty="0">
                  <a:latin typeface="Source Han Sans SC Normal" panose="020B0400000000000000" pitchFamily="34" charset="-128"/>
                  <a:ea typeface="Source Han Sans SC Normal" panose="020B0400000000000000" pitchFamily="34" charset="-128"/>
                </a:endParaRPr>
              </a:p>
              <a:p>
                <a:pPr>
                  <a:lnSpc>
                    <a:spcPct val="130000"/>
                  </a:lnSpc>
                </a:pPr>
                <a:endParaRPr kumimoji="1" lang="en-US" altLang="zh-CN" sz="1200" dirty="0">
                  <a:latin typeface="Source Han Sans SC Normal" panose="020B0400000000000000" pitchFamily="34" charset="-128"/>
                  <a:ea typeface="Source Han Sans SC Normal" panose="020B0400000000000000" pitchFamily="34" charset="-128"/>
                </a:endParaRPr>
              </a:p>
              <a:p>
                <a:pPr>
                  <a:lnSpc>
                    <a:spcPct val="130000"/>
                  </a:lnSpc>
                </a:pPr>
                <a:endParaRPr kumimoji="1" lang="en-US" altLang="zh-CN" sz="1200" dirty="0">
                  <a:latin typeface="Source Han Sans SC Normal" panose="020B0400000000000000" pitchFamily="34" charset="-128"/>
                  <a:ea typeface="Source Han Sans SC Normal" panose="020B0400000000000000" pitchFamily="34" charset="-128"/>
                </a:endParaRPr>
              </a:p>
              <a:p>
                <a:pPr>
                  <a:lnSpc>
                    <a:spcPct val="130000"/>
                  </a:lnSpc>
                </a:pPr>
                <a:endParaRPr kumimoji="1" lang="zh-CN" altLang="en-US" sz="1200" dirty="0">
                  <a:latin typeface="Source Han Sans SC Normal" panose="020B0400000000000000" pitchFamily="34" charset="-128"/>
                  <a:ea typeface="Source Han Sans SC Normal" panose="020B0400000000000000" pitchFamily="34" charset="-128"/>
                </a:endParaRPr>
              </a:p>
            </p:txBody>
          </p:sp>
        </mc:Choice>
        <mc:Fallback>
          <p:sp>
            <p:nvSpPr>
              <p:cNvPr id="2" name="文本框 1">
                <a:extLst>
                  <a:ext uri="{FF2B5EF4-FFF2-40B4-BE49-F238E27FC236}">
                    <a16:creationId xmlns:a16="http://schemas.microsoft.com/office/drawing/2014/main" id="{0D776569-73F4-48B7-AA87-78058593B2C9}"/>
                  </a:ext>
                </a:extLst>
              </p:cNvPr>
              <p:cNvSpPr txBox="1">
                <a:spLocks noRot="1" noChangeAspect="1" noMove="1" noResize="1" noEditPoints="1" noAdjustHandles="1" noChangeArrowheads="1" noChangeShapeType="1" noTextEdit="1"/>
              </p:cNvSpPr>
              <p:nvPr/>
            </p:nvSpPr>
            <p:spPr>
              <a:xfrm>
                <a:off x="1523542" y="1956392"/>
                <a:ext cx="9700181" cy="4904291"/>
              </a:xfrm>
              <a:prstGeom prst="rect">
                <a:avLst/>
              </a:prstGeom>
              <a:blipFill>
                <a:blip r:embed="rId6"/>
                <a:stretch>
                  <a:fillRect/>
                </a:stretch>
              </a:blipFill>
            </p:spPr>
            <p:txBody>
              <a:bodyPr/>
              <a:lstStyle/>
              <a:p>
                <a:r>
                  <a:rPr lang="zh-CN" altLang="en-US">
                    <a:noFill/>
                  </a:rPr>
                  <a:t> </a:t>
                </a:r>
              </a:p>
            </p:txBody>
          </p:sp>
        </mc:Fallback>
      </mc:AlternateContent>
      <p:pic>
        <p:nvPicPr>
          <p:cNvPr id="22" name="图片 21">
            <a:extLst>
              <a:ext uri="{FF2B5EF4-FFF2-40B4-BE49-F238E27FC236}">
                <a16:creationId xmlns:a16="http://schemas.microsoft.com/office/drawing/2014/main" id="{92F573FC-B13B-42C4-BEA9-4F7831EE6714}"/>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7418895" y="1956392"/>
            <a:ext cx="3804828" cy="3982110"/>
          </a:xfrm>
          <a:prstGeom prst="rect">
            <a:avLst/>
          </a:prstGeom>
        </p:spPr>
      </p:pic>
      <p:sp>
        <p:nvSpPr>
          <p:cNvPr id="7" name="AutoShape 2">
            <a:extLst>
              <a:ext uri="{FF2B5EF4-FFF2-40B4-BE49-F238E27FC236}">
                <a16:creationId xmlns:a16="http://schemas.microsoft.com/office/drawing/2014/main" id="{2CA05F4E-A569-4BB3-9C94-5C689E9C2F0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19253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706F3D8F-FAAA-2140-B796-1157B4BE68D0}"/>
              </a:ext>
            </a:extLst>
          </p:cNvPr>
          <p:cNvGrpSpPr/>
          <p:nvPr/>
        </p:nvGrpSpPr>
        <p:grpSpPr>
          <a:xfrm>
            <a:off x="0" y="-1"/>
            <a:ext cx="12192000" cy="6858002"/>
            <a:chOff x="0" y="-1"/>
            <a:chExt cx="12192000" cy="6858002"/>
          </a:xfrm>
        </p:grpSpPr>
        <p:sp>
          <p:nvSpPr>
            <p:cNvPr id="41" name="矩形 40">
              <a:extLst>
                <a:ext uri="{FF2B5EF4-FFF2-40B4-BE49-F238E27FC236}">
                  <a16:creationId xmlns:a16="http://schemas.microsoft.com/office/drawing/2014/main" id="{91AEFDA7-4F58-8342-A9E1-CBBEDB06E01B}"/>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2" name="矩形 41">
              <a:extLst>
                <a:ext uri="{FF2B5EF4-FFF2-40B4-BE49-F238E27FC236}">
                  <a16:creationId xmlns:a16="http://schemas.microsoft.com/office/drawing/2014/main" id="{7519A2E4-7654-7049-8574-E43694ED98FB}"/>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3" name="矩形 42">
              <a:extLst>
                <a:ext uri="{FF2B5EF4-FFF2-40B4-BE49-F238E27FC236}">
                  <a16:creationId xmlns:a16="http://schemas.microsoft.com/office/drawing/2014/main" id="{3A78FB99-47D7-DA43-90CB-EBB967406AA4}"/>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44" name="组合 43">
            <a:extLst>
              <a:ext uri="{FF2B5EF4-FFF2-40B4-BE49-F238E27FC236}">
                <a16:creationId xmlns:a16="http://schemas.microsoft.com/office/drawing/2014/main" id="{77B7BD4A-0299-7142-A299-2C8531632FCA}"/>
              </a:ext>
            </a:extLst>
          </p:cNvPr>
          <p:cNvGrpSpPr/>
          <p:nvPr/>
        </p:nvGrpSpPr>
        <p:grpSpPr>
          <a:xfrm>
            <a:off x="133400" y="140547"/>
            <a:ext cx="11901234" cy="6795389"/>
            <a:chOff x="133400" y="140547"/>
            <a:chExt cx="11901234" cy="6795389"/>
          </a:xfrm>
        </p:grpSpPr>
        <p:pic>
          <p:nvPicPr>
            <p:cNvPr id="45" name="图片 44">
              <a:extLst>
                <a:ext uri="{FF2B5EF4-FFF2-40B4-BE49-F238E27FC236}">
                  <a16:creationId xmlns:a16="http://schemas.microsoft.com/office/drawing/2014/main" id="{5F8EFFCB-99B0-654F-8FED-0485190172FD}"/>
                </a:ext>
              </a:extLst>
            </p:cNvPr>
            <p:cNvPicPr>
              <a:picLocks noChangeAspect="1"/>
            </p:cNvPicPr>
            <p:nvPr/>
          </p:nvPicPr>
          <p:blipFill>
            <a:blip r:embed="rId3"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46" name="图片 45">
              <a:extLst>
                <a:ext uri="{FF2B5EF4-FFF2-40B4-BE49-F238E27FC236}">
                  <a16:creationId xmlns:a16="http://schemas.microsoft.com/office/drawing/2014/main" id="{93080F77-5917-384C-AFD1-66264B40DFAC}"/>
                </a:ext>
              </a:extLst>
            </p:cNvPr>
            <p:cNvPicPr>
              <a:picLocks noChangeAspect="1"/>
            </p:cNvPicPr>
            <p:nvPr/>
          </p:nvPicPr>
          <p:blipFill>
            <a:blip r:embed="rId4"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47" name="图片 46" descr="图片包含 游戏机, 画, 钟表&#10;&#10;描述已自动生成">
              <a:extLst>
                <a:ext uri="{FF2B5EF4-FFF2-40B4-BE49-F238E27FC236}">
                  <a16:creationId xmlns:a16="http://schemas.microsoft.com/office/drawing/2014/main" id="{FE29D0C4-9C03-A64C-8458-ED23D8D76224}"/>
                </a:ext>
              </a:extLst>
            </p:cNvPr>
            <p:cNvPicPr>
              <a:picLocks noChangeAspect="1"/>
            </p:cNvPicPr>
            <p:nvPr/>
          </p:nvPicPr>
          <p:blipFill>
            <a:blip r:embed="rId5"/>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572B192-1A8B-0944-BC5E-3183B0CBCBA6}"/>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主要工作</a:t>
            </a:r>
          </a:p>
        </p:txBody>
      </p:sp>
      <p:sp>
        <p:nvSpPr>
          <p:cNvPr id="14" name="文本框 13">
            <a:extLst>
              <a:ext uri="{FF2B5EF4-FFF2-40B4-BE49-F238E27FC236}">
                <a16:creationId xmlns:a16="http://schemas.microsoft.com/office/drawing/2014/main" id="{124A3600-F159-B64D-BF63-4388A1F5289C}"/>
              </a:ext>
            </a:extLst>
          </p:cNvPr>
          <p:cNvSpPr txBox="1"/>
          <p:nvPr/>
        </p:nvSpPr>
        <p:spPr>
          <a:xfrm>
            <a:off x="1314500" y="1305501"/>
            <a:ext cx="1516762" cy="400110"/>
          </a:xfrm>
          <a:prstGeom prst="rect">
            <a:avLst/>
          </a:prstGeom>
          <a:noFill/>
        </p:spPr>
        <p:txBody>
          <a:bodyPr wrap="none" rtlCol="0">
            <a:spAutoFit/>
          </a:bodyPr>
          <a:lstStyle/>
          <a:p>
            <a:pPr algn="l"/>
            <a:r>
              <a:rPr kumimoji="1" lang="en-US" altLang="zh-CN"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DBSCAN</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endParaRPr>
          </a:p>
        </p:txBody>
      </p:sp>
      <p:cxnSp>
        <p:nvCxnSpPr>
          <p:cNvPr id="16" name="直线连接符 15">
            <a:extLst>
              <a:ext uri="{FF2B5EF4-FFF2-40B4-BE49-F238E27FC236}">
                <a16:creationId xmlns:a16="http://schemas.microsoft.com/office/drawing/2014/main" id="{D8648111-DA66-0C4F-8D4E-74F9F9E79346}"/>
              </a:ext>
            </a:extLst>
          </p:cNvPr>
          <p:cNvCxnSpPr>
            <a:cxnSpLocks/>
          </p:cNvCxnSpPr>
          <p:nvPr/>
        </p:nvCxnSpPr>
        <p:spPr>
          <a:xfrm>
            <a:off x="1314500" y="1791497"/>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0F43CEAB-A685-42BC-9922-557B390AF4F7}"/>
              </a:ext>
            </a:extLst>
          </p:cNvPr>
          <p:cNvSpPr txBox="1"/>
          <p:nvPr/>
        </p:nvSpPr>
        <p:spPr>
          <a:xfrm>
            <a:off x="1346978" y="2114605"/>
            <a:ext cx="9498044" cy="3367397"/>
          </a:xfrm>
          <a:prstGeom prst="rect">
            <a:avLst/>
          </a:prstGeom>
          <a:noFill/>
        </p:spPr>
        <p:txBody>
          <a:bodyPr wrap="square" rtlCol="0">
            <a:spAutoFit/>
          </a:bodyPr>
          <a:lstStyle/>
          <a:p>
            <a:pPr>
              <a:lnSpc>
                <a:spcPct val="150000"/>
              </a:lnSpc>
            </a:pPr>
            <a:r>
              <a:rPr kumimoji="1" lang="en-US" altLang="zh-CN" dirty="0">
                <a:latin typeface="微软雅黑" panose="020B0503020204020204" pitchFamily="34" charset="-122"/>
                <a:ea typeface="微软雅黑" panose="020B0503020204020204" pitchFamily="34" charset="-122"/>
              </a:rPr>
              <a:t>          </a:t>
            </a:r>
            <a:r>
              <a:rPr kumimoji="1" lang="zh-CN" altLang="en-US" dirty="0">
                <a:latin typeface="微软雅黑" panose="020B0503020204020204" pitchFamily="34" charset="-122"/>
                <a:ea typeface="微软雅黑" panose="020B0503020204020204" pitchFamily="34" charset="-122"/>
              </a:rPr>
              <a:t>聚类操作使用了来自</a:t>
            </a:r>
            <a:r>
              <a:rPr kumimoji="1" lang="en-US" altLang="zh-CN" dirty="0">
                <a:latin typeface="微软雅黑" panose="020B0503020204020204" pitchFamily="34" charset="-122"/>
                <a:ea typeface="微软雅黑" panose="020B0503020204020204" pitchFamily="34" charset="-122"/>
              </a:rPr>
              <a:t>RNNLM</a:t>
            </a:r>
            <a:r>
              <a:rPr kumimoji="1" lang="zh-CN" altLang="en-US" dirty="0">
                <a:latin typeface="微软雅黑" panose="020B0503020204020204" pitchFamily="34" charset="-122"/>
                <a:ea typeface="微软雅黑" panose="020B0503020204020204" pitchFamily="34" charset="-122"/>
              </a:rPr>
              <a:t>的输出，使用</a:t>
            </a:r>
            <a:r>
              <a:rPr kumimoji="1" lang="en-US" altLang="zh-CN" dirty="0">
                <a:latin typeface="微软雅黑" panose="020B0503020204020204" pitchFamily="34" charset="-122"/>
                <a:ea typeface="微软雅黑" panose="020B0503020204020204" pitchFamily="34" charset="-122"/>
              </a:rPr>
              <a:t>k-means</a:t>
            </a:r>
            <a:r>
              <a:rPr kumimoji="1" lang="zh-CN" altLang="en-US" dirty="0">
                <a:latin typeface="微软雅黑" panose="020B0503020204020204" pitchFamily="34" charset="-122"/>
                <a:ea typeface="微软雅黑" panose="020B0503020204020204" pitchFamily="34" charset="-122"/>
              </a:rPr>
              <a:t>、层次聚类和</a:t>
            </a:r>
            <a:r>
              <a:rPr kumimoji="1" lang="en-US" altLang="zh-CN" dirty="0">
                <a:latin typeface="微软雅黑" panose="020B0503020204020204" pitchFamily="34" charset="-122"/>
                <a:ea typeface="微软雅黑" panose="020B0503020204020204" pitchFamily="34" charset="-122"/>
              </a:rPr>
              <a:t>DBSCAN</a:t>
            </a:r>
            <a:r>
              <a:rPr kumimoji="1" lang="zh-CN" altLang="en-US" dirty="0">
                <a:latin typeface="微软雅黑" panose="020B0503020204020204" pitchFamily="34" charset="-122"/>
                <a:ea typeface="微软雅黑" panose="020B0503020204020204" pitchFamily="34" charset="-122"/>
              </a:rPr>
              <a:t>三种算法来对</a:t>
            </a:r>
            <a:r>
              <a:rPr kumimoji="1" lang="en-US" altLang="zh-CN" dirty="0">
                <a:latin typeface="微软雅黑" panose="020B0503020204020204" pitchFamily="34" charset="-122"/>
                <a:ea typeface="微软雅黑" panose="020B0503020204020204" pitchFamily="34" charset="-122"/>
              </a:rPr>
              <a:t>FSA</a:t>
            </a:r>
            <a:r>
              <a:rPr kumimoji="1" lang="zh-CN" altLang="en-US" dirty="0">
                <a:latin typeface="微软雅黑" panose="020B0503020204020204" pitchFamily="34" charset="-122"/>
                <a:ea typeface="微软雅黑" panose="020B0503020204020204" pitchFamily="34" charset="-122"/>
              </a:rPr>
              <a:t>的状态节点进行合并。前二者是系统本身使用的聚类算法，由于</a:t>
            </a:r>
            <a:r>
              <a:rPr kumimoji="1" lang="en-US" altLang="zh-CN" dirty="0">
                <a:latin typeface="微软雅黑" panose="020B0503020204020204" pitchFamily="34" charset="-122"/>
                <a:ea typeface="微软雅黑" panose="020B0503020204020204" pitchFamily="34" charset="-122"/>
              </a:rPr>
              <a:t>k-means</a:t>
            </a:r>
            <a:r>
              <a:rPr kumimoji="1" lang="zh-CN" altLang="en-US" dirty="0">
                <a:latin typeface="微软雅黑" panose="020B0503020204020204" pitchFamily="34" charset="-122"/>
                <a:ea typeface="微软雅黑" panose="020B0503020204020204" pitchFamily="34" charset="-122"/>
              </a:rPr>
              <a:t>和层次聚类算法需要传入聚类参数</a:t>
            </a:r>
            <a:r>
              <a:rPr kumimoji="1" lang="en-US" altLang="zh-CN" dirty="0">
                <a:latin typeface="微软雅黑" panose="020B0503020204020204" pitchFamily="34" charset="-122"/>
                <a:ea typeface="微软雅黑" panose="020B0503020204020204" pitchFamily="34" charset="-122"/>
              </a:rPr>
              <a:t>C</a:t>
            </a:r>
            <a:r>
              <a:rPr kumimoji="1" lang="zh-CN" altLang="en-US" dirty="0">
                <a:latin typeface="微软雅黑" panose="020B0503020204020204" pitchFamily="34" charset="-122"/>
                <a:ea typeface="微软雅黑" panose="020B0503020204020204" pitchFamily="34" charset="-122"/>
              </a:rPr>
              <a:t>，因此不同的数值情况下会产生多个不同的</a:t>
            </a:r>
            <a:r>
              <a:rPr kumimoji="1" lang="en-US" altLang="zh-CN" dirty="0">
                <a:latin typeface="微软雅黑" panose="020B0503020204020204" pitchFamily="34" charset="-122"/>
                <a:ea typeface="微软雅黑" panose="020B0503020204020204" pitchFamily="34" charset="-122"/>
              </a:rPr>
              <a:t>FSA</a:t>
            </a:r>
            <a:r>
              <a:rPr kumimoji="1" lang="zh-CN" altLang="en-US" dirty="0">
                <a:latin typeface="微软雅黑" panose="020B0503020204020204" pitchFamily="34" charset="-122"/>
                <a:ea typeface="微软雅黑" panose="020B0503020204020204" pitchFamily="34" charset="-122"/>
              </a:rPr>
              <a:t>模型。</a:t>
            </a:r>
            <a:r>
              <a:rPr kumimoji="1" lang="en-US" altLang="zh-CN" dirty="0">
                <a:latin typeface="微软雅黑" panose="020B0503020204020204" pitchFamily="34" charset="-122"/>
                <a:ea typeface="微软雅黑" panose="020B0503020204020204" pitchFamily="34" charset="-122"/>
              </a:rPr>
              <a:t>C</a:t>
            </a:r>
            <a:r>
              <a:rPr kumimoji="1" lang="zh-CN" altLang="en-US" dirty="0">
                <a:latin typeface="微软雅黑" panose="020B0503020204020204" pitchFamily="34" charset="-122"/>
                <a:ea typeface="微软雅黑" panose="020B0503020204020204" pitchFamily="34" charset="-122"/>
              </a:rPr>
              <a:t>的范围默认为</a:t>
            </a:r>
            <a:r>
              <a:rPr kumimoji="1" lang="en-US" altLang="zh-CN" dirty="0">
                <a:latin typeface="微软雅黑" panose="020B0503020204020204" pitchFamily="34" charset="-122"/>
                <a:ea typeface="微软雅黑" panose="020B0503020204020204" pitchFamily="34" charset="-122"/>
              </a:rPr>
              <a:t>2-20</a:t>
            </a:r>
            <a:r>
              <a:rPr kumimoji="1" lang="zh-CN" altLang="en-US" dirty="0">
                <a:latin typeface="微软雅黑" panose="020B0503020204020204" pitchFamily="34" charset="-122"/>
                <a:ea typeface="微软雅黑" panose="020B0503020204020204" pitchFamily="34" charset="-122"/>
              </a:rPr>
              <a:t>，因此，总共会产生</a:t>
            </a:r>
            <a:r>
              <a:rPr kumimoji="1" lang="en-US" altLang="zh-CN" dirty="0">
                <a:latin typeface="微软雅黑" panose="020B0503020204020204" pitchFamily="34" charset="-122"/>
                <a:ea typeface="微软雅黑" panose="020B0503020204020204" pitchFamily="34" charset="-122"/>
              </a:rPr>
              <a:t>38</a:t>
            </a:r>
            <a:r>
              <a:rPr kumimoji="1" lang="zh-CN" altLang="en-US" dirty="0">
                <a:latin typeface="微软雅黑" panose="020B0503020204020204" pitchFamily="34" charset="-122"/>
                <a:ea typeface="微软雅黑" panose="020B0503020204020204" pitchFamily="34" charset="-122"/>
              </a:rPr>
              <a:t>个</a:t>
            </a:r>
            <a:r>
              <a:rPr kumimoji="1" lang="en-US" altLang="zh-CN" dirty="0">
                <a:latin typeface="微软雅黑" panose="020B0503020204020204" pitchFamily="34" charset="-122"/>
                <a:ea typeface="微软雅黑" panose="020B0503020204020204" pitchFamily="34" charset="-122"/>
              </a:rPr>
              <a:t>FSA</a:t>
            </a:r>
            <a:r>
              <a:rPr kumimoji="1" lang="zh-CN" altLang="en-US" dirty="0">
                <a:latin typeface="微软雅黑" panose="020B0503020204020204" pitchFamily="34" charset="-122"/>
                <a:ea typeface="微软雅黑" panose="020B0503020204020204" pitchFamily="34" charset="-122"/>
              </a:rPr>
              <a:t>模型；但是每次需要传参造成算法比较繁琐，因此本此工作在两种聚类算法的基础上，增加了</a:t>
            </a:r>
            <a:r>
              <a:rPr kumimoji="1" lang="en-US" altLang="zh-CN" dirty="0">
                <a:latin typeface="微软雅黑" panose="020B0503020204020204" pitchFamily="34" charset="-122"/>
                <a:ea typeface="微软雅黑" panose="020B0503020204020204" pitchFamily="34" charset="-122"/>
              </a:rPr>
              <a:t>DBSCAN</a:t>
            </a:r>
            <a:r>
              <a:rPr kumimoji="1" lang="zh-CN" altLang="en-US" dirty="0">
                <a:latin typeface="微软雅黑" panose="020B0503020204020204" pitchFamily="34" charset="-122"/>
                <a:ea typeface="微软雅黑" panose="020B0503020204020204" pitchFamily="34" charset="-122"/>
              </a:rPr>
              <a:t>算法，它不需要传入任何聚类参数，因此对于某一个目标类库，</a:t>
            </a:r>
            <a:r>
              <a:rPr kumimoji="1" lang="en-US" altLang="zh-CN" dirty="0">
                <a:latin typeface="微软雅黑" panose="020B0503020204020204" pitchFamily="34" charset="-122"/>
                <a:ea typeface="微软雅黑" panose="020B0503020204020204" pitchFamily="34" charset="-122"/>
              </a:rPr>
              <a:t>DBSCAN</a:t>
            </a:r>
            <a:r>
              <a:rPr kumimoji="1" lang="zh-CN" altLang="en-US" dirty="0">
                <a:latin typeface="微软雅黑" panose="020B0503020204020204" pitchFamily="34" charset="-122"/>
                <a:ea typeface="微软雅黑" panose="020B0503020204020204" pitchFamily="34" charset="-122"/>
              </a:rPr>
              <a:t>不同于</a:t>
            </a:r>
            <a:r>
              <a:rPr kumimoji="1" lang="en-US" altLang="zh-CN" dirty="0">
                <a:latin typeface="微软雅黑" panose="020B0503020204020204" pitchFamily="34" charset="-122"/>
                <a:ea typeface="微软雅黑" panose="020B0503020204020204" pitchFamily="34" charset="-122"/>
              </a:rPr>
              <a:t>k-means</a:t>
            </a:r>
            <a:r>
              <a:rPr kumimoji="1" lang="zh-CN" altLang="en-US" dirty="0">
                <a:latin typeface="微软雅黑" panose="020B0503020204020204" pitchFamily="34" charset="-122"/>
                <a:ea typeface="微软雅黑" panose="020B0503020204020204" pitchFamily="34" charset="-122"/>
              </a:rPr>
              <a:t>和层次聚类，它只会生成一个有限状态自动机模型（</a:t>
            </a:r>
            <a:r>
              <a:rPr kumimoji="1" lang="en-US" altLang="zh-CN" dirty="0">
                <a:latin typeface="微软雅黑" panose="020B0503020204020204" pitchFamily="34" charset="-122"/>
                <a:ea typeface="微软雅黑" panose="020B0503020204020204" pitchFamily="34" charset="-122"/>
              </a:rPr>
              <a:t>FSA</a:t>
            </a:r>
            <a:r>
              <a:rPr kumimoji="1" lang="zh-CN" altLang="en-US" dirty="0">
                <a:latin typeface="微软雅黑" panose="020B0503020204020204" pitchFamily="34" charset="-122"/>
                <a:ea typeface="微软雅黑" panose="020B0503020204020204" pitchFamily="34" charset="-122"/>
              </a:rPr>
              <a:t>）。聚类算法所做的工作就是将特征相似的状态节点进行合并，使得构造出的自动状态机更加简单，具备更强的泛化能力和鲁棒性。</a:t>
            </a:r>
          </a:p>
        </p:txBody>
      </p:sp>
    </p:spTree>
    <p:extLst>
      <p:ext uri="{BB962C8B-B14F-4D97-AF65-F5344CB8AC3E}">
        <p14:creationId xmlns:p14="http://schemas.microsoft.com/office/powerpoint/2010/main" val="2277397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14D7DAC9-7C1A-9746-9669-031D3ABF7E49}"/>
              </a:ext>
            </a:extLst>
          </p:cNvPr>
          <p:cNvPicPr>
            <a:picLocks noChangeAspect="1"/>
          </p:cNvPicPr>
          <p:nvPr/>
        </p:nvPicPr>
        <p:blipFill rotWithShape="1">
          <a:blip r:embed="rId3">
            <a:alphaModFix amt="3000"/>
          </a:blip>
          <a:srcRect l="31594" r="24278" b="51573"/>
          <a:stretch/>
        </p:blipFill>
        <p:spPr>
          <a:xfrm>
            <a:off x="0" y="830209"/>
            <a:ext cx="6230698" cy="6027791"/>
          </a:xfrm>
          <a:prstGeom prst="rect">
            <a:avLst/>
          </a:prstGeom>
        </p:spPr>
      </p:pic>
      <p:grpSp>
        <p:nvGrpSpPr>
          <p:cNvPr id="2" name="组合 1">
            <a:extLst>
              <a:ext uri="{FF2B5EF4-FFF2-40B4-BE49-F238E27FC236}">
                <a16:creationId xmlns:a16="http://schemas.microsoft.com/office/drawing/2014/main" id="{B6825660-A491-8E4E-9EEE-33F277319B7E}"/>
              </a:ext>
            </a:extLst>
          </p:cNvPr>
          <p:cNvGrpSpPr/>
          <p:nvPr/>
        </p:nvGrpSpPr>
        <p:grpSpPr>
          <a:xfrm>
            <a:off x="569328" y="0"/>
            <a:ext cx="11622672" cy="6858000"/>
            <a:chOff x="569328" y="0"/>
            <a:chExt cx="11622672" cy="6858000"/>
          </a:xfrm>
        </p:grpSpPr>
        <p:sp>
          <p:nvSpPr>
            <p:cNvPr id="15" name="圆角矩形 14">
              <a:extLst>
                <a:ext uri="{FF2B5EF4-FFF2-40B4-BE49-F238E27FC236}">
                  <a16:creationId xmlns:a16="http://schemas.microsoft.com/office/drawing/2014/main" id="{7C442F01-4386-7A4E-927D-AA037FFABC10}"/>
                </a:ext>
              </a:extLst>
            </p:cNvPr>
            <p:cNvSpPr/>
            <p:nvPr/>
          </p:nvSpPr>
          <p:spPr>
            <a:xfrm>
              <a:off x="569328" y="399595"/>
              <a:ext cx="270460" cy="10840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pic>
          <p:nvPicPr>
            <p:cNvPr id="16" name="图片 15">
              <a:extLst>
                <a:ext uri="{FF2B5EF4-FFF2-40B4-BE49-F238E27FC236}">
                  <a16:creationId xmlns:a16="http://schemas.microsoft.com/office/drawing/2014/main" id="{BE335D21-03B3-B447-947B-CF04A6F75807}"/>
                </a:ext>
              </a:extLst>
            </p:cNvPr>
            <p:cNvPicPr>
              <a:picLocks noChangeAspect="1"/>
            </p:cNvPicPr>
            <p:nvPr/>
          </p:nvPicPr>
          <p:blipFill>
            <a:blip r:embed="rId4"/>
            <a:stretch>
              <a:fillRect/>
            </a:stretch>
          </p:blipFill>
          <p:spPr>
            <a:xfrm>
              <a:off x="7658100" y="0"/>
              <a:ext cx="4533900" cy="6858000"/>
            </a:xfrm>
            <a:prstGeom prst="rect">
              <a:avLst/>
            </a:prstGeom>
          </p:spPr>
        </p:pic>
        <p:grpSp>
          <p:nvGrpSpPr>
            <p:cNvPr id="32" name="组合 31">
              <a:extLst>
                <a:ext uri="{FF2B5EF4-FFF2-40B4-BE49-F238E27FC236}">
                  <a16:creationId xmlns:a16="http://schemas.microsoft.com/office/drawing/2014/main" id="{2E67E278-3BB9-8841-9961-71CDBA865AA0}"/>
                </a:ext>
              </a:extLst>
            </p:cNvPr>
            <p:cNvGrpSpPr/>
            <p:nvPr/>
          </p:nvGrpSpPr>
          <p:grpSpPr>
            <a:xfrm>
              <a:off x="6840499" y="0"/>
              <a:ext cx="1709136" cy="6858000"/>
              <a:chOff x="6840499" y="0"/>
              <a:chExt cx="1709136" cy="6858000"/>
            </a:xfrm>
          </p:grpSpPr>
          <p:sp>
            <p:nvSpPr>
              <p:cNvPr id="28" name="平行四边形 27">
                <a:extLst>
                  <a:ext uri="{FF2B5EF4-FFF2-40B4-BE49-F238E27FC236}">
                    <a16:creationId xmlns:a16="http://schemas.microsoft.com/office/drawing/2014/main" id="{44C7FCF7-082E-EC48-BE80-8991C787EBAC}"/>
                  </a:ext>
                </a:extLst>
              </p:cNvPr>
              <p:cNvSpPr/>
              <p:nvPr/>
            </p:nvSpPr>
            <p:spPr>
              <a:xfrm>
                <a:off x="7045271" y="0"/>
                <a:ext cx="1318220" cy="6858000"/>
              </a:xfrm>
              <a:prstGeom prst="parallelogram">
                <a:avLst>
                  <a:gd name="adj" fmla="val 43266"/>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0" name="平行四边形 29">
                <a:extLst>
                  <a:ext uri="{FF2B5EF4-FFF2-40B4-BE49-F238E27FC236}">
                    <a16:creationId xmlns:a16="http://schemas.microsoft.com/office/drawing/2014/main" id="{D84070CB-54E2-844B-B858-5449B55F06BB}"/>
                  </a:ext>
                </a:extLst>
              </p:cNvPr>
              <p:cNvSpPr/>
              <p:nvPr/>
            </p:nvSpPr>
            <p:spPr>
              <a:xfrm>
                <a:off x="6840499" y="0"/>
                <a:ext cx="1318220" cy="6858000"/>
              </a:xfrm>
              <a:prstGeom prst="parallelogram">
                <a:avLst>
                  <a:gd name="adj" fmla="val 43266"/>
                </a:avLst>
              </a:prstGeom>
              <a:solidFill>
                <a:srgbClr val="C0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1" name="平行四边形 30">
                <a:extLst>
                  <a:ext uri="{FF2B5EF4-FFF2-40B4-BE49-F238E27FC236}">
                    <a16:creationId xmlns:a16="http://schemas.microsoft.com/office/drawing/2014/main" id="{D1347707-DDF0-4645-A9AA-2BD9EB52E7B7}"/>
                  </a:ext>
                </a:extLst>
              </p:cNvPr>
              <p:cNvSpPr/>
              <p:nvPr/>
            </p:nvSpPr>
            <p:spPr>
              <a:xfrm>
                <a:off x="7231415" y="0"/>
                <a:ext cx="1318220" cy="6858000"/>
              </a:xfrm>
              <a:prstGeom prst="parallelogram">
                <a:avLst>
                  <a:gd name="adj" fmla="val 43266"/>
                </a:avLst>
              </a:prstGeom>
              <a:solidFill>
                <a:srgbClr val="C0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grpSp>
        <p:nvGrpSpPr>
          <p:cNvPr id="21" name="组合 20">
            <a:extLst>
              <a:ext uri="{FF2B5EF4-FFF2-40B4-BE49-F238E27FC236}">
                <a16:creationId xmlns:a16="http://schemas.microsoft.com/office/drawing/2014/main" id="{AD5D3A99-1F57-6B43-9C49-E6EE6505DB86}"/>
              </a:ext>
            </a:extLst>
          </p:cNvPr>
          <p:cNvGrpSpPr/>
          <p:nvPr/>
        </p:nvGrpSpPr>
        <p:grpSpPr>
          <a:xfrm>
            <a:off x="1245705" y="2399251"/>
            <a:ext cx="3718344" cy="1969770"/>
            <a:chOff x="1654599" y="2374005"/>
            <a:chExt cx="3718344" cy="1969770"/>
          </a:xfrm>
        </p:grpSpPr>
        <p:sp>
          <p:nvSpPr>
            <p:cNvPr id="22" name="文本框 21">
              <a:extLst>
                <a:ext uri="{FF2B5EF4-FFF2-40B4-BE49-F238E27FC236}">
                  <a16:creationId xmlns:a16="http://schemas.microsoft.com/office/drawing/2014/main" id="{30DFB76A-7DF7-FC47-9D0B-99283B3125B1}"/>
                </a:ext>
              </a:extLst>
            </p:cNvPr>
            <p:cNvSpPr txBox="1"/>
            <p:nvPr/>
          </p:nvSpPr>
          <p:spPr>
            <a:xfrm>
              <a:off x="1654599" y="2374005"/>
              <a:ext cx="2072555" cy="584775"/>
            </a:xfrm>
            <a:prstGeom prst="rect">
              <a:avLst/>
            </a:prstGeom>
            <a:noFill/>
          </p:spPr>
          <p:txBody>
            <a:bodyPr wrap="none" rtlCol="0">
              <a:spAutoFit/>
            </a:bodyPr>
            <a:lstStyle/>
            <a:p>
              <a:pPr algn="l"/>
              <a:r>
                <a:rPr kumimoji="1" lang="en-US" altLang="zh-CN" sz="3200" spc="300" dirty="0">
                  <a:gradFill>
                    <a:gsLst>
                      <a:gs pos="0">
                        <a:schemeClr val="tx1">
                          <a:lumMod val="95000"/>
                          <a:lumOff val="5000"/>
                        </a:schemeClr>
                      </a:gs>
                      <a:gs pos="100000">
                        <a:schemeClr val="tx1">
                          <a:lumMod val="50000"/>
                          <a:lumOff val="50000"/>
                        </a:schemeClr>
                      </a:gs>
                    </a:gsLst>
                    <a:lin ang="5400000" scaled="0"/>
                  </a:gradFill>
                  <a:latin typeface="Arial" panose="020B0604020202020204" pitchFamily="34" charset="0"/>
                  <a:ea typeface="Microsoft YaHei" panose="020B0503020204020204" pitchFamily="34" charset="-122"/>
                  <a:cs typeface="Arial" panose="020B0604020202020204" pitchFamily="34" charset="0"/>
                </a:rPr>
                <a:t>PART 04</a:t>
              </a:r>
              <a:endParaRPr kumimoji="1" lang="zh-CN" altLang="en-US" sz="3200" spc="300" dirty="0">
                <a:gradFill>
                  <a:gsLst>
                    <a:gs pos="0">
                      <a:schemeClr val="tx1">
                        <a:lumMod val="95000"/>
                        <a:lumOff val="5000"/>
                      </a:schemeClr>
                    </a:gs>
                    <a:gs pos="100000">
                      <a:schemeClr val="tx1">
                        <a:lumMod val="50000"/>
                        <a:lumOff val="50000"/>
                      </a:schemeClr>
                    </a:gs>
                  </a:gsLst>
                  <a:lin ang="5400000" scaled="0"/>
                </a:gradFill>
                <a:latin typeface="Arial" panose="020B0604020202020204" pitchFamily="34" charset="0"/>
                <a:ea typeface="Microsoft YaHei" panose="020B0503020204020204" pitchFamily="34" charset="-122"/>
                <a:cs typeface="Arial" panose="020B0604020202020204" pitchFamily="34" charset="0"/>
              </a:endParaRPr>
            </a:p>
          </p:txBody>
        </p:sp>
        <p:sp>
          <p:nvSpPr>
            <p:cNvPr id="23" name="文本框 22">
              <a:extLst>
                <a:ext uri="{FF2B5EF4-FFF2-40B4-BE49-F238E27FC236}">
                  <a16:creationId xmlns:a16="http://schemas.microsoft.com/office/drawing/2014/main" id="{F8CB3320-B46F-2C42-95A8-D920FED24137}"/>
                </a:ext>
              </a:extLst>
            </p:cNvPr>
            <p:cNvSpPr txBox="1"/>
            <p:nvPr/>
          </p:nvSpPr>
          <p:spPr>
            <a:xfrm>
              <a:off x="1654599" y="2958780"/>
              <a:ext cx="1646605" cy="923330"/>
            </a:xfrm>
            <a:prstGeom prst="rect">
              <a:avLst/>
            </a:prstGeom>
            <a:noFill/>
          </p:spPr>
          <p:txBody>
            <a:bodyPr wrap="none" rtlCol="0">
              <a:spAutoFit/>
            </a:bodyPr>
            <a:lstStyle/>
            <a:p>
              <a:pPr algn="l"/>
              <a:r>
                <a:rPr kumimoji="1" lang="zh-CN" altLang="en-US" sz="5400" b="1" spc="300" dirty="0">
                  <a:gradFill>
                    <a:gsLst>
                      <a:gs pos="0">
                        <a:srgbClr val="C00000"/>
                      </a:gs>
                      <a:gs pos="100000">
                        <a:srgbClr val="F87768"/>
                      </a:gs>
                    </a:gsLst>
                    <a:lin ang="5400000" scaled="0"/>
                  </a:gradFill>
                  <a:latin typeface="Arial" panose="020B0604020202020204" pitchFamily="34" charset="0"/>
                  <a:ea typeface="Microsoft YaHei" panose="020B0503020204020204" pitchFamily="34" charset="-122"/>
                  <a:cs typeface="Arial" panose="020B0604020202020204" pitchFamily="34" charset="0"/>
                </a:rPr>
                <a:t>结论</a:t>
              </a:r>
            </a:p>
          </p:txBody>
        </p:sp>
        <p:sp>
          <p:nvSpPr>
            <p:cNvPr id="24" name="文本框 23">
              <a:extLst>
                <a:ext uri="{FF2B5EF4-FFF2-40B4-BE49-F238E27FC236}">
                  <a16:creationId xmlns:a16="http://schemas.microsoft.com/office/drawing/2014/main" id="{C7A5035B-F791-A64C-9562-C7341A7C9346}"/>
                </a:ext>
              </a:extLst>
            </p:cNvPr>
            <p:cNvSpPr txBox="1"/>
            <p:nvPr/>
          </p:nvSpPr>
          <p:spPr>
            <a:xfrm>
              <a:off x="1693787" y="3882110"/>
              <a:ext cx="3679156" cy="461665"/>
            </a:xfrm>
            <a:prstGeom prst="rect">
              <a:avLst/>
            </a:prstGeom>
            <a:noFill/>
          </p:spPr>
          <p:txBody>
            <a:bodyPr wrap="square" rtlCol="0">
              <a:spAutoFit/>
            </a:bodyPr>
            <a:lstStyle/>
            <a:p>
              <a:r>
                <a:rPr kumimoji="1" lang="en-US" altLang="zh-CN" sz="2400" spc="3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Result</a:t>
              </a:r>
            </a:p>
          </p:txBody>
        </p:sp>
      </p:grpSp>
    </p:spTree>
    <p:extLst>
      <p:ext uri="{BB962C8B-B14F-4D97-AF65-F5344CB8AC3E}">
        <p14:creationId xmlns:p14="http://schemas.microsoft.com/office/powerpoint/2010/main" val="328400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706F3D8F-FAAA-2140-B796-1157B4BE68D0}"/>
              </a:ext>
            </a:extLst>
          </p:cNvPr>
          <p:cNvGrpSpPr/>
          <p:nvPr/>
        </p:nvGrpSpPr>
        <p:grpSpPr>
          <a:xfrm>
            <a:off x="0" y="-1"/>
            <a:ext cx="12192000" cy="6858002"/>
            <a:chOff x="0" y="-1"/>
            <a:chExt cx="12192000" cy="6858002"/>
          </a:xfrm>
        </p:grpSpPr>
        <p:sp>
          <p:nvSpPr>
            <p:cNvPr id="41" name="矩形 40">
              <a:extLst>
                <a:ext uri="{FF2B5EF4-FFF2-40B4-BE49-F238E27FC236}">
                  <a16:creationId xmlns:a16="http://schemas.microsoft.com/office/drawing/2014/main" id="{91AEFDA7-4F58-8342-A9E1-CBBEDB06E01B}"/>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2" name="矩形 41">
              <a:extLst>
                <a:ext uri="{FF2B5EF4-FFF2-40B4-BE49-F238E27FC236}">
                  <a16:creationId xmlns:a16="http://schemas.microsoft.com/office/drawing/2014/main" id="{7519A2E4-7654-7049-8574-E43694ED98FB}"/>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3" name="矩形 42">
              <a:extLst>
                <a:ext uri="{FF2B5EF4-FFF2-40B4-BE49-F238E27FC236}">
                  <a16:creationId xmlns:a16="http://schemas.microsoft.com/office/drawing/2014/main" id="{3A78FB99-47D7-DA43-90CB-EBB967406AA4}"/>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44" name="组合 43">
            <a:extLst>
              <a:ext uri="{FF2B5EF4-FFF2-40B4-BE49-F238E27FC236}">
                <a16:creationId xmlns:a16="http://schemas.microsoft.com/office/drawing/2014/main" id="{77B7BD4A-0299-7142-A299-2C8531632FCA}"/>
              </a:ext>
            </a:extLst>
          </p:cNvPr>
          <p:cNvGrpSpPr/>
          <p:nvPr/>
        </p:nvGrpSpPr>
        <p:grpSpPr>
          <a:xfrm>
            <a:off x="133400" y="140547"/>
            <a:ext cx="11901234" cy="6795389"/>
            <a:chOff x="133400" y="140547"/>
            <a:chExt cx="11901234" cy="6795389"/>
          </a:xfrm>
        </p:grpSpPr>
        <p:pic>
          <p:nvPicPr>
            <p:cNvPr id="45" name="图片 44">
              <a:extLst>
                <a:ext uri="{FF2B5EF4-FFF2-40B4-BE49-F238E27FC236}">
                  <a16:creationId xmlns:a16="http://schemas.microsoft.com/office/drawing/2014/main" id="{5F8EFFCB-99B0-654F-8FED-0485190172FD}"/>
                </a:ext>
              </a:extLst>
            </p:cNvPr>
            <p:cNvPicPr>
              <a:picLocks noChangeAspect="1"/>
            </p:cNvPicPr>
            <p:nvPr/>
          </p:nvPicPr>
          <p:blipFill>
            <a:blip r:embed="rId3"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46" name="图片 45">
              <a:extLst>
                <a:ext uri="{FF2B5EF4-FFF2-40B4-BE49-F238E27FC236}">
                  <a16:creationId xmlns:a16="http://schemas.microsoft.com/office/drawing/2014/main" id="{93080F77-5917-384C-AFD1-66264B40DFAC}"/>
                </a:ext>
              </a:extLst>
            </p:cNvPr>
            <p:cNvPicPr>
              <a:picLocks noChangeAspect="1"/>
            </p:cNvPicPr>
            <p:nvPr/>
          </p:nvPicPr>
          <p:blipFill>
            <a:blip r:embed="rId4"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47" name="图片 46" descr="图片包含 游戏机, 画, 钟表&#10;&#10;描述已自动生成">
              <a:extLst>
                <a:ext uri="{FF2B5EF4-FFF2-40B4-BE49-F238E27FC236}">
                  <a16:creationId xmlns:a16="http://schemas.microsoft.com/office/drawing/2014/main" id="{FE29D0C4-9C03-A64C-8458-ED23D8D76224}"/>
                </a:ext>
              </a:extLst>
            </p:cNvPr>
            <p:cNvPicPr>
              <a:picLocks noChangeAspect="1"/>
            </p:cNvPicPr>
            <p:nvPr/>
          </p:nvPicPr>
          <p:blipFill>
            <a:blip r:embed="rId5"/>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04</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572B192-1A8B-0944-BC5E-3183B0CBCBA6}"/>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实验结果</a:t>
            </a:r>
          </a:p>
        </p:txBody>
      </p:sp>
      <p:sp>
        <p:nvSpPr>
          <p:cNvPr id="14" name="文本框 13">
            <a:extLst>
              <a:ext uri="{FF2B5EF4-FFF2-40B4-BE49-F238E27FC236}">
                <a16:creationId xmlns:a16="http://schemas.microsoft.com/office/drawing/2014/main" id="{124A3600-F159-B64D-BF63-4388A1F5289C}"/>
              </a:ext>
            </a:extLst>
          </p:cNvPr>
          <p:cNvSpPr txBox="1"/>
          <p:nvPr/>
        </p:nvSpPr>
        <p:spPr>
          <a:xfrm>
            <a:off x="839416" y="1344184"/>
            <a:ext cx="2861681" cy="400110"/>
          </a:xfrm>
          <a:prstGeom prst="rect">
            <a:avLst/>
          </a:prstGeom>
          <a:noFill/>
        </p:spPr>
        <p:txBody>
          <a:bodyPr wrap="none" rtlCol="0">
            <a:spAutoFit/>
          </a:bodyPr>
          <a:lstStyle/>
          <a:p>
            <a:pPr algn="l"/>
            <a:r>
              <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不同的</a:t>
            </a:r>
            <a:r>
              <a:rPr kumimoji="1" lang="en-US" altLang="zh-CN"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RNNLM</a:t>
            </a:r>
            <a:r>
              <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对比</a:t>
            </a:r>
          </a:p>
        </p:txBody>
      </p:sp>
      <p:cxnSp>
        <p:nvCxnSpPr>
          <p:cNvPr id="16" name="直线连接符 15">
            <a:extLst>
              <a:ext uri="{FF2B5EF4-FFF2-40B4-BE49-F238E27FC236}">
                <a16:creationId xmlns:a16="http://schemas.microsoft.com/office/drawing/2014/main" id="{D8648111-DA66-0C4F-8D4E-74F9F9E79346}"/>
              </a:ext>
            </a:extLst>
          </p:cNvPr>
          <p:cNvCxnSpPr>
            <a:cxnSpLocks/>
          </p:cNvCxnSpPr>
          <p:nvPr/>
        </p:nvCxnSpPr>
        <p:spPr>
          <a:xfrm>
            <a:off x="980974" y="1791497"/>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DE5D4290-7991-4A6F-9F5D-FF642D2415EB}"/>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6365" y="2186965"/>
            <a:ext cx="2998470" cy="2670810"/>
          </a:xfrm>
          <a:prstGeom prst="rect">
            <a:avLst/>
          </a:prstGeom>
          <a:noFill/>
          <a:ln>
            <a:noFill/>
          </a:ln>
        </p:spPr>
      </p:pic>
      <p:pic>
        <p:nvPicPr>
          <p:cNvPr id="18" name="图片 17">
            <a:extLst>
              <a:ext uri="{FF2B5EF4-FFF2-40B4-BE49-F238E27FC236}">
                <a16:creationId xmlns:a16="http://schemas.microsoft.com/office/drawing/2014/main" id="{E5FFF3C1-9925-4AFE-9C77-53BA16B6AA87}"/>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34109" y="2151338"/>
            <a:ext cx="2994660" cy="2670810"/>
          </a:xfrm>
          <a:prstGeom prst="rect">
            <a:avLst/>
          </a:prstGeom>
          <a:noFill/>
          <a:ln>
            <a:noFill/>
          </a:ln>
        </p:spPr>
      </p:pic>
      <p:sp>
        <p:nvSpPr>
          <p:cNvPr id="3" name="文本框 2">
            <a:extLst>
              <a:ext uri="{FF2B5EF4-FFF2-40B4-BE49-F238E27FC236}">
                <a16:creationId xmlns:a16="http://schemas.microsoft.com/office/drawing/2014/main" id="{B443CD83-E772-46DF-8D18-3D9F16B5EB27}"/>
              </a:ext>
            </a:extLst>
          </p:cNvPr>
          <p:cNvSpPr txBox="1"/>
          <p:nvPr/>
        </p:nvSpPr>
        <p:spPr>
          <a:xfrm>
            <a:off x="1121903" y="5167882"/>
            <a:ext cx="2747394" cy="875881"/>
          </a:xfrm>
          <a:prstGeom prst="rect">
            <a:avLst/>
          </a:prstGeom>
          <a:noFill/>
        </p:spPr>
        <p:txBody>
          <a:bodyPr wrap="square" rtlCol="0">
            <a:spAutoFit/>
          </a:bodyPr>
          <a:lstStyle/>
          <a:p>
            <a:pPr algn="ctr">
              <a:lnSpc>
                <a:spcPct val="130000"/>
              </a:lnSpc>
            </a:pPr>
            <a:r>
              <a:rPr lang="zh-CN" altLang="zh-CN"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a. </a:t>
            </a:r>
            <a:r>
              <a:rPr lang="zh-CN" altLang="zh-CN" sz="1400" dirty="0">
                <a:latin typeface="微软雅黑" panose="020B0503020204020204" pitchFamily="34" charset="-122"/>
                <a:ea typeface="微软雅黑" panose="020B0503020204020204" pitchFamily="34" charset="-122"/>
              </a:rPr>
              <a:t>普通</a:t>
            </a:r>
            <a:r>
              <a:rPr lang="en-US" altLang="zh-CN" sz="1400" dirty="0">
                <a:latin typeface="微软雅黑" panose="020B0503020204020204" pitchFamily="34" charset="-122"/>
                <a:ea typeface="微软雅黑" panose="020B0503020204020204" pitchFamily="34" charset="-122"/>
              </a:rPr>
              <a:t>RNN</a:t>
            </a:r>
            <a:r>
              <a:rPr lang="zh-CN" altLang="zh-CN" sz="1400" dirty="0">
                <a:latin typeface="微软雅黑" panose="020B0503020204020204" pitchFamily="34" charset="-122"/>
                <a:ea typeface="微软雅黑" panose="020B0503020204020204" pitchFamily="34" charset="-122"/>
              </a:rPr>
              <a:t>结构，每</a:t>
            </a:r>
            <a:r>
              <a:rPr lang="en-US" altLang="zh-CN" sz="1400" dirty="0">
                <a:latin typeface="微软雅黑" panose="020B0503020204020204" pitchFamily="34" charset="-122"/>
                <a:ea typeface="微软雅黑" panose="020B0503020204020204" pitchFamily="34" charset="-122"/>
              </a:rPr>
              <a:t>25</a:t>
            </a:r>
            <a:r>
              <a:rPr lang="zh-CN" altLang="zh-CN" sz="1400" dirty="0">
                <a:latin typeface="微软雅黑" panose="020B0503020204020204" pitchFamily="34" charset="-122"/>
                <a:ea typeface="微软雅黑" panose="020B0503020204020204" pitchFamily="34" charset="-122"/>
              </a:rPr>
              <a:t>个</a:t>
            </a:r>
            <a:r>
              <a:rPr lang="en-US" altLang="zh-CN" sz="1400" dirty="0" err="1">
                <a:latin typeface="微软雅黑" panose="020B0503020204020204" pitchFamily="34" charset="-122"/>
                <a:ea typeface="微软雅黑" panose="020B0503020204020204" pitchFamily="34" charset="-122"/>
              </a:rPr>
              <a:t>mini_batch</a:t>
            </a:r>
            <a:r>
              <a:rPr lang="zh-CN" altLang="zh-CN" sz="1400" dirty="0">
                <a:latin typeface="微软雅黑" panose="020B0503020204020204" pitchFamily="34" charset="-122"/>
                <a:ea typeface="微软雅黑" panose="020B0503020204020204" pitchFamily="34" charset="-122"/>
              </a:rPr>
              <a:t>采样</a:t>
            </a:r>
          </a:p>
          <a:p>
            <a:pPr algn="ctr">
              <a:lnSpc>
                <a:spcPct val="130000"/>
              </a:lnSpc>
            </a:pP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4" name="文本框 3">
            <a:extLst>
              <a:ext uri="{FF2B5EF4-FFF2-40B4-BE49-F238E27FC236}">
                <a16:creationId xmlns:a16="http://schemas.microsoft.com/office/drawing/2014/main" id="{B5DBD07C-01A5-46C3-B1DD-62A60586F91F}"/>
              </a:ext>
            </a:extLst>
          </p:cNvPr>
          <p:cNvSpPr txBox="1"/>
          <p:nvPr/>
        </p:nvSpPr>
        <p:spPr>
          <a:xfrm>
            <a:off x="4657742" y="5167883"/>
            <a:ext cx="2747394" cy="875881"/>
          </a:xfrm>
          <a:prstGeom prst="rect">
            <a:avLst/>
          </a:prstGeom>
          <a:noFill/>
        </p:spPr>
        <p:txBody>
          <a:bodyPr wrap="square" rtlCol="0">
            <a:spAutoFit/>
          </a:bodyPr>
          <a:lstStyle/>
          <a:p>
            <a:pPr algn="ctr">
              <a:lnSpc>
                <a:spcPct val="130000"/>
              </a:lnSpc>
            </a:pPr>
            <a:r>
              <a:rPr lang="zh-CN" altLang="zh-CN"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b.  </a:t>
            </a:r>
            <a:r>
              <a:rPr lang="zh-CN" altLang="zh-CN" sz="1400" dirty="0">
                <a:latin typeface="微软雅黑" panose="020B0503020204020204" pitchFamily="34" charset="-122"/>
                <a:ea typeface="微软雅黑" panose="020B0503020204020204" pitchFamily="34" charset="-122"/>
              </a:rPr>
              <a:t>基于</a:t>
            </a:r>
            <a:r>
              <a:rPr lang="en-US" altLang="zh-CN" sz="1400" dirty="0">
                <a:latin typeface="微软雅黑" panose="020B0503020204020204" pitchFamily="34" charset="-122"/>
                <a:ea typeface="微软雅黑" panose="020B0503020204020204" pitchFamily="34" charset="-122"/>
              </a:rPr>
              <a:t>seq2seq</a:t>
            </a:r>
            <a:r>
              <a:rPr lang="zh-CN" altLang="zh-CN" sz="1400" dirty="0">
                <a:latin typeface="微软雅黑" panose="020B0503020204020204" pitchFamily="34" charset="-122"/>
                <a:ea typeface="微软雅黑" panose="020B0503020204020204" pitchFamily="34" charset="-122"/>
              </a:rPr>
              <a:t>和</a:t>
            </a:r>
            <a:r>
              <a:rPr lang="en-US" altLang="zh-CN" sz="1400" dirty="0">
                <a:latin typeface="微软雅黑" panose="020B0503020204020204" pitchFamily="34" charset="-122"/>
                <a:ea typeface="微软雅黑" panose="020B0503020204020204" pitchFamily="34" charset="-122"/>
              </a:rPr>
              <a:t>attention</a:t>
            </a:r>
            <a:r>
              <a:rPr lang="zh-CN" altLang="zh-CN" sz="1400" dirty="0">
                <a:latin typeface="微软雅黑" panose="020B0503020204020204" pitchFamily="34" charset="-122"/>
                <a:ea typeface="微软雅黑" panose="020B0503020204020204" pitchFamily="34" charset="-122"/>
              </a:rPr>
              <a:t>，每</a:t>
            </a:r>
            <a:r>
              <a:rPr lang="en-US" altLang="zh-CN" sz="1400" dirty="0">
                <a:latin typeface="微软雅黑" panose="020B0503020204020204" pitchFamily="34" charset="-122"/>
                <a:ea typeface="微软雅黑" panose="020B0503020204020204" pitchFamily="34" charset="-122"/>
              </a:rPr>
              <a:t>25</a:t>
            </a:r>
            <a:r>
              <a:rPr lang="zh-CN" altLang="zh-CN" sz="1400" dirty="0">
                <a:latin typeface="微软雅黑" panose="020B0503020204020204" pitchFamily="34" charset="-122"/>
                <a:ea typeface="微软雅黑" panose="020B0503020204020204" pitchFamily="34" charset="-122"/>
              </a:rPr>
              <a:t>个</a:t>
            </a:r>
            <a:r>
              <a:rPr lang="en-US" altLang="zh-CN" sz="1400" dirty="0" err="1">
                <a:latin typeface="微软雅黑" panose="020B0503020204020204" pitchFamily="34" charset="-122"/>
                <a:ea typeface="微软雅黑" panose="020B0503020204020204" pitchFamily="34" charset="-122"/>
              </a:rPr>
              <a:t>mini_batch</a:t>
            </a:r>
            <a:r>
              <a:rPr lang="zh-CN" altLang="zh-CN" sz="1400" dirty="0">
                <a:latin typeface="微软雅黑" panose="020B0503020204020204" pitchFamily="34" charset="-122"/>
                <a:ea typeface="微软雅黑" panose="020B0503020204020204" pitchFamily="34" charset="-122"/>
              </a:rPr>
              <a:t>采样</a:t>
            </a:r>
          </a:p>
          <a:p>
            <a:pPr algn="ctr">
              <a:lnSpc>
                <a:spcPct val="130000"/>
              </a:lnSpc>
            </a:pPr>
            <a:endParaRPr kumimoji="1" lang="zh-CN" altLang="en-US" sz="1200" dirty="0">
              <a:latin typeface="Source Han Sans SC Normal" panose="020B0400000000000000" pitchFamily="34" charset="-128"/>
              <a:ea typeface="Source Han Sans SC Normal" panose="020B0400000000000000" pitchFamily="34" charset="-128"/>
            </a:endParaRPr>
          </a:p>
        </p:txBody>
      </p:sp>
      <p:sp>
        <p:nvSpPr>
          <p:cNvPr id="5" name="文本框 4">
            <a:extLst>
              <a:ext uri="{FF2B5EF4-FFF2-40B4-BE49-F238E27FC236}">
                <a16:creationId xmlns:a16="http://schemas.microsoft.com/office/drawing/2014/main" id="{0F357895-E335-460E-BCF5-AFC673F0344A}"/>
              </a:ext>
            </a:extLst>
          </p:cNvPr>
          <p:cNvSpPr txBox="1"/>
          <p:nvPr/>
        </p:nvSpPr>
        <p:spPr>
          <a:xfrm>
            <a:off x="8012619" y="2251268"/>
            <a:ext cx="3440600" cy="3742178"/>
          </a:xfrm>
          <a:prstGeom prst="rect">
            <a:avLst/>
          </a:prstGeom>
          <a:noFill/>
        </p:spPr>
        <p:txBody>
          <a:bodyPr wrap="square" rtlCol="0">
            <a:spAutoFit/>
          </a:bodyPr>
          <a:lstStyle/>
          <a:p>
            <a:pPr algn="just">
              <a:lnSpc>
                <a:spcPct val="150000"/>
              </a:lnSpc>
            </a:pPr>
            <a:r>
              <a:rPr kumimoji="1" lang="zh-CN" altLang="en-US" sz="1600" dirty="0">
                <a:latin typeface="微软雅黑" panose="020B0503020204020204" pitchFamily="34" charset="-122"/>
                <a:ea typeface="微软雅黑" panose="020B0503020204020204" pitchFamily="34" charset="-122"/>
              </a:rPr>
              <a:t>本此工作的数据集来自前人使用</a:t>
            </a:r>
            <a:r>
              <a:rPr kumimoji="1" lang="en-US" altLang="zh-CN" sz="1600" dirty="0" err="1">
                <a:latin typeface="微软雅黑" panose="020B0503020204020204" pitchFamily="34" charset="-122"/>
                <a:ea typeface="微软雅黑" panose="020B0503020204020204" pitchFamily="34" charset="-122"/>
              </a:rPr>
              <a:t>Randoop</a:t>
            </a:r>
            <a:r>
              <a:rPr kumimoji="1" lang="zh-CN" altLang="en-US" sz="1600" dirty="0">
                <a:latin typeface="微软雅黑" panose="020B0503020204020204" pitchFamily="34" charset="-122"/>
                <a:ea typeface="微软雅黑" panose="020B0503020204020204" pitchFamily="34" charset="-122"/>
              </a:rPr>
              <a:t>生成的</a:t>
            </a:r>
            <a:r>
              <a:rPr kumimoji="1" lang="en-US" altLang="zh-CN" sz="1600" dirty="0">
                <a:latin typeface="微软雅黑" panose="020B0503020204020204" pitchFamily="34" charset="-122"/>
                <a:ea typeface="微软雅黑" panose="020B0503020204020204" pitchFamily="34" charset="-122"/>
              </a:rPr>
              <a:t>11</a:t>
            </a:r>
            <a:r>
              <a:rPr kumimoji="1" lang="zh-CN" altLang="en-US" sz="1600" dirty="0">
                <a:latin typeface="微软雅黑" panose="020B0503020204020204" pitchFamily="34" charset="-122"/>
                <a:ea typeface="微软雅黑" panose="020B0503020204020204" pitchFamily="34" charset="-122"/>
              </a:rPr>
              <a:t>个</a:t>
            </a:r>
            <a:r>
              <a:rPr kumimoji="1" lang="en-US" altLang="zh-CN" sz="1600" dirty="0">
                <a:latin typeface="微软雅黑" panose="020B0503020204020204" pitchFamily="34" charset="-122"/>
                <a:ea typeface="微软雅黑" panose="020B0503020204020204" pitchFamily="34" charset="-122"/>
              </a:rPr>
              <a:t>JAVA</a:t>
            </a:r>
            <a:r>
              <a:rPr kumimoji="1" lang="zh-CN" altLang="en-US" sz="1600" dirty="0">
                <a:latin typeface="微软雅黑" panose="020B0503020204020204" pitchFamily="34" charset="-122"/>
                <a:ea typeface="微软雅黑" panose="020B0503020204020204" pitchFamily="34" charset="-122"/>
              </a:rPr>
              <a:t>目标类库，左图是利用其中一个数据集</a:t>
            </a:r>
            <a:r>
              <a:rPr kumimoji="1" lang="en-US" altLang="zh-CN" sz="1600" dirty="0">
                <a:latin typeface="微软雅黑" panose="020B0503020204020204" pitchFamily="34" charset="-122"/>
                <a:ea typeface="微软雅黑" panose="020B0503020204020204" pitchFamily="34" charset="-122"/>
              </a:rPr>
              <a:t>——</a:t>
            </a:r>
            <a:r>
              <a:rPr kumimoji="1" lang="en-US" altLang="zh-CN" sz="1600" dirty="0" err="1">
                <a:latin typeface="微软雅黑" panose="020B0503020204020204" pitchFamily="34" charset="-122"/>
                <a:ea typeface="微软雅黑" panose="020B0503020204020204" pitchFamily="34" charset="-122"/>
              </a:rPr>
              <a:t>ArrayList</a:t>
            </a:r>
            <a:r>
              <a:rPr kumimoji="1" lang="zh-CN" altLang="en-US" sz="1600" dirty="0">
                <a:latin typeface="微软雅黑" panose="020B0503020204020204" pitchFamily="34" charset="-122"/>
                <a:ea typeface="微软雅黑" panose="020B0503020204020204" pitchFamily="34" charset="-122"/>
              </a:rPr>
              <a:t>数据集训练出来的语言模型。相较于原来系统中使用的普通</a:t>
            </a:r>
            <a:r>
              <a:rPr kumimoji="1" lang="en-US" altLang="zh-CN" sz="1600" dirty="0">
                <a:latin typeface="微软雅黑" panose="020B0503020204020204" pitchFamily="34" charset="-122"/>
                <a:ea typeface="微软雅黑" panose="020B0503020204020204" pitchFamily="34" charset="-122"/>
              </a:rPr>
              <a:t>RNN</a:t>
            </a:r>
            <a:r>
              <a:rPr kumimoji="1" lang="zh-CN" altLang="en-US" sz="1600" dirty="0">
                <a:latin typeface="微软雅黑" panose="020B0503020204020204" pitchFamily="34" charset="-122"/>
                <a:ea typeface="微软雅黑" panose="020B0503020204020204" pitchFamily="34" charset="-122"/>
              </a:rPr>
              <a:t>架构</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图</a:t>
            </a:r>
            <a:r>
              <a:rPr kumimoji="1" lang="en-US" altLang="zh-CN" sz="1600" dirty="0">
                <a:latin typeface="微软雅黑" panose="020B0503020204020204" pitchFamily="34" charset="-122"/>
                <a:ea typeface="微软雅黑" panose="020B0503020204020204" pitchFamily="34" charset="-122"/>
              </a:rPr>
              <a:t>a)</a:t>
            </a:r>
            <a:r>
              <a:rPr kumimoji="1" lang="zh-CN" altLang="en-US" sz="1600" dirty="0">
                <a:latin typeface="微软雅黑" panose="020B0503020204020204" pitchFamily="34" charset="-122"/>
                <a:ea typeface="微软雅黑" panose="020B0503020204020204" pitchFamily="34" charset="-122"/>
              </a:rPr>
              <a:t>来说，使用</a:t>
            </a:r>
            <a:r>
              <a:rPr kumimoji="1" lang="en-US" altLang="zh-CN" sz="1600" dirty="0">
                <a:latin typeface="微软雅黑" panose="020B0503020204020204" pitchFamily="34" charset="-122"/>
                <a:ea typeface="微软雅黑" panose="020B0503020204020204" pitchFamily="34" charset="-122"/>
              </a:rPr>
              <a:t>seq2seq+attention</a:t>
            </a:r>
            <a:r>
              <a:rPr kumimoji="1" lang="zh-CN" altLang="en-US" sz="1600" dirty="0">
                <a:latin typeface="微软雅黑" panose="020B0503020204020204" pitchFamily="34" charset="-122"/>
                <a:ea typeface="微软雅黑" panose="020B0503020204020204" pitchFamily="34" charset="-122"/>
              </a:rPr>
              <a:t>搭建的语言模型</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图</a:t>
            </a:r>
            <a:r>
              <a:rPr kumimoji="1" lang="en-US" altLang="zh-CN" sz="1600" dirty="0">
                <a:latin typeface="微软雅黑" panose="020B0503020204020204" pitchFamily="34" charset="-122"/>
                <a:ea typeface="微软雅黑" panose="020B0503020204020204" pitchFamily="34" charset="-122"/>
              </a:rPr>
              <a:t>b)</a:t>
            </a:r>
            <a:r>
              <a:rPr kumimoji="1" lang="zh-CN" altLang="en-US" sz="1600" dirty="0">
                <a:latin typeface="微软雅黑" panose="020B0503020204020204" pitchFamily="34" charset="-122"/>
                <a:ea typeface="微软雅黑" panose="020B0503020204020204" pitchFamily="34" charset="-122"/>
              </a:rPr>
              <a:t>最后收敛到更小的</a:t>
            </a:r>
            <a:r>
              <a:rPr kumimoji="1" lang="en-US" altLang="zh-CN" sz="1600" dirty="0">
                <a:latin typeface="微软雅黑" panose="020B0503020204020204" pitchFamily="34" charset="-122"/>
                <a:ea typeface="微软雅黑" panose="020B0503020204020204" pitchFamily="34" charset="-122"/>
              </a:rPr>
              <a:t>loss,</a:t>
            </a:r>
            <a:r>
              <a:rPr kumimoji="1" lang="zh-CN" altLang="en-US" sz="1600" dirty="0">
                <a:latin typeface="微软雅黑" panose="020B0503020204020204" pitchFamily="34" charset="-122"/>
                <a:ea typeface="微软雅黑" panose="020B0503020204020204" pitchFamily="34" charset="-122"/>
              </a:rPr>
              <a:t>但是随之而来相应的计算时间会增加，模型收敛的会比较慢。</a:t>
            </a:r>
          </a:p>
        </p:txBody>
      </p:sp>
    </p:spTree>
    <p:extLst>
      <p:ext uri="{BB962C8B-B14F-4D97-AF65-F5344CB8AC3E}">
        <p14:creationId xmlns:p14="http://schemas.microsoft.com/office/powerpoint/2010/main" val="3894487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706F3D8F-FAAA-2140-B796-1157B4BE68D0}"/>
              </a:ext>
            </a:extLst>
          </p:cNvPr>
          <p:cNvGrpSpPr/>
          <p:nvPr/>
        </p:nvGrpSpPr>
        <p:grpSpPr>
          <a:xfrm>
            <a:off x="0" y="-1"/>
            <a:ext cx="12192000" cy="6858002"/>
            <a:chOff x="0" y="-1"/>
            <a:chExt cx="12192000" cy="6858002"/>
          </a:xfrm>
        </p:grpSpPr>
        <p:sp>
          <p:nvSpPr>
            <p:cNvPr id="41" name="矩形 40">
              <a:extLst>
                <a:ext uri="{FF2B5EF4-FFF2-40B4-BE49-F238E27FC236}">
                  <a16:creationId xmlns:a16="http://schemas.microsoft.com/office/drawing/2014/main" id="{91AEFDA7-4F58-8342-A9E1-CBBEDB06E01B}"/>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cs typeface="Arial" panose="020B0604020202020204" pitchFamily="34" charset="0"/>
              </a:endParaRPr>
            </a:p>
          </p:txBody>
        </p:sp>
        <p:sp>
          <p:nvSpPr>
            <p:cNvPr id="42" name="矩形 41">
              <a:extLst>
                <a:ext uri="{FF2B5EF4-FFF2-40B4-BE49-F238E27FC236}">
                  <a16:creationId xmlns:a16="http://schemas.microsoft.com/office/drawing/2014/main" id="{7519A2E4-7654-7049-8574-E43694ED98FB}"/>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3" name="矩形 42">
              <a:extLst>
                <a:ext uri="{FF2B5EF4-FFF2-40B4-BE49-F238E27FC236}">
                  <a16:creationId xmlns:a16="http://schemas.microsoft.com/office/drawing/2014/main" id="{3A78FB99-47D7-DA43-90CB-EBB967406AA4}"/>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44" name="组合 43">
            <a:extLst>
              <a:ext uri="{FF2B5EF4-FFF2-40B4-BE49-F238E27FC236}">
                <a16:creationId xmlns:a16="http://schemas.microsoft.com/office/drawing/2014/main" id="{77B7BD4A-0299-7142-A299-2C8531632FCA}"/>
              </a:ext>
            </a:extLst>
          </p:cNvPr>
          <p:cNvGrpSpPr/>
          <p:nvPr/>
        </p:nvGrpSpPr>
        <p:grpSpPr>
          <a:xfrm>
            <a:off x="133400" y="140547"/>
            <a:ext cx="11901234" cy="6795389"/>
            <a:chOff x="133400" y="140547"/>
            <a:chExt cx="11901234" cy="6795389"/>
          </a:xfrm>
        </p:grpSpPr>
        <p:pic>
          <p:nvPicPr>
            <p:cNvPr id="45" name="图片 44">
              <a:extLst>
                <a:ext uri="{FF2B5EF4-FFF2-40B4-BE49-F238E27FC236}">
                  <a16:creationId xmlns:a16="http://schemas.microsoft.com/office/drawing/2014/main" id="{5F8EFFCB-99B0-654F-8FED-0485190172FD}"/>
                </a:ext>
              </a:extLst>
            </p:cNvPr>
            <p:cNvPicPr>
              <a:picLocks noChangeAspect="1"/>
            </p:cNvPicPr>
            <p:nvPr/>
          </p:nvPicPr>
          <p:blipFill>
            <a:blip r:embed="rId3"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46" name="图片 45">
              <a:extLst>
                <a:ext uri="{FF2B5EF4-FFF2-40B4-BE49-F238E27FC236}">
                  <a16:creationId xmlns:a16="http://schemas.microsoft.com/office/drawing/2014/main" id="{93080F77-5917-384C-AFD1-66264B40DFAC}"/>
                </a:ext>
              </a:extLst>
            </p:cNvPr>
            <p:cNvPicPr>
              <a:picLocks noChangeAspect="1"/>
            </p:cNvPicPr>
            <p:nvPr/>
          </p:nvPicPr>
          <p:blipFill>
            <a:blip r:embed="rId4"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47" name="图片 46" descr="图片包含 游戏机, 画, 钟表&#10;&#10;描述已自动生成">
              <a:extLst>
                <a:ext uri="{FF2B5EF4-FFF2-40B4-BE49-F238E27FC236}">
                  <a16:creationId xmlns:a16="http://schemas.microsoft.com/office/drawing/2014/main" id="{FE29D0C4-9C03-A64C-8458-ED23D8D76224}"/>
                </a:ext>
              </a:extLst>
            </p:cNvPr>
            <p:cNvPicPr>
              <a:picLocks noChangeAspect="1"/>
            </p:cNvPicPr>
            <p:nvPr/>
          </p:nvPicPr>
          <p:blipFill>
            <a:blip r:embed="rId5"/>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04</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24A3600-F159-B64D-BF63-4388A1F5289C}"/>
              </a:ext>
            </a:extLst>
          </p:cNvPr>
          <p:cNvSpPr txBox="1"/>
          <p:nvPr/>
        </p:nvSpPr>
        <p:spPr>
          <a:xfrm>
            <a:off x="1314500" y="1305501"/>
            <a:ext cx="2036135" cy="400110"/>
          </a:xfrm>
          <a:prstGeom prst="rect">
            <a:avLst/>
          </a:prstGeom>
          <a:noFill/>
        </p:spPr>
        <p:txBody>
          <a:bodyPr wrap="none" rtlCol="0">
            <a:spAutoFit/>
          </a:bodyPr>
          <a:lstStyle/>
          <a:p>
            <a:pPr algn="l"/>
            <a:r>
              <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模型的</a:t>
            </a:r>
            <a:r>
              <a:rPr kumimoji="1" lang="en-US" altLang="zh-CN"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F1</a:t>
            </a:r>
            <a:r>
              <a:rPr kumimoji="1" lang="zh-CN" altLang="en-US" sz="20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分数</a:t>
            </a:r>
          </a:p>
        </p:txBody>
      </p:sp>
      <p:cxnSp>
        <p:nvCxnSpPr>
          <p:cNvPr id="16" name="直线连接符 15">
            <a:extLst>
              <a:ext uri="{FF2B5EF4-FFF2-40B4-BE49-F238E27FC236}">
                <a16:creationId xmlns:a16="http://schemas.microsoft.com/office/drawing/2014/main" id="{D8648111-DA66-0C4F-8D4E-74F9F9E79346}"/>
              </a:ext>
            </a:extLst>
          </p:cNvPr>
          <p:cNvCxnSpPr>
            <a:cxnSpLocks/>
          </p:cNvCxnSpPr>
          <p:nvPr/>
        </p:nvCxnSpPr>
        <p:spPr>
          <a:xfrm>
            <a:off x="1314500" y="1791497"/>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3" name="表格 2">
            <a:extLst>
              <a:ext uri="{FF2B5EF4-FFF2-40B4-BE49-F238E27FC236}">
                <a16:creationId xmlns:a16="http://schemas.microsoft.com/office/drawing/2014/main" id="{11AA3451-E45F-46D2-B9D4-DA08DB1EAB0D}"/>
              </a:ext>
            </a:extLst>
          </p:cNvPr>
          <p:cNvGraphicFramePr>
            <a:graphicFrameLocks noGrp="1"/>
          </p:cNvGraphicFramePr>
          <p:nvPr>
            <p:extLst>
              <p:ext uri="{D42A27DB-BD31-4B8C-83A1-F6EECF244321}">
                <p14:modId xmlns:p14="http://schemas.microsoft.com/office/powerpoint/2010/main" val="4142427957"/>
              </p:ext>
            </p:extLst>
          </p:nvPr>
        </p:nvGraphicFramePr>
        <p:xfrm>
          <a:off x="1314500" y="2563881"/>
          <a:ext cx="4350323" cy="3281731"/>
        </p:xfrm>
        <a:graphic>
          <a:graphicData uri="http://schemas.openxmlformats.org/drawingml/2006/table">
            <a:tbl>
              <a:tblPr firstRow="1" firstCol="1" bandRow="1">
                <a:tableStyleId>{5C22544A-7EE6-4342-B048-85BDC9FD1C3A}</a:tableStyleId>
              </a:tblPr>
              <a:tblGrid>
                <a:gridCol w="1074280">
                  <a:extLst>
                    <a:ext uri="{9D8B030D-6E8A-4147-A177-3AD203B41FA5}">
                      <a16:colId xmlns:a16="http://schemas.microsoft.com/office/drawing/2014/main" val="495207571"/>
                    </a:ext>
                  </a:extLst>
                </a:gridCol>
                <a:gridCol w="982711">
                  <a:extLst>
                    <a:ext uri="{9D8B030D-6E8A-4147-A177-3AD203B41FA5}">
                      <a16:colId xmlns:a16="http://schemas.microsoft.com/office/drawing/2014/main" val="1428140108"/>
                    </a:ext>
                  </a:extLst>
                </a:gridCol>
                <a:gridCol w="1303460">
                  <a:extLst>
                    <a:ext uri="{9D8B030D-6E8A-4147-A177-3AD203B41FA5}">
                      <a16:colId xmlns:a16="http://schemas.microsoft.com/office/drawing/2014/main" val="2735016630"/>
                    </a:ext>
                  </a:extLst>
                </a:gridCol>
                <a:gridCol w="989872">
                  <a:extLst>
                    <a:ext uri="{9D8B030D-6E8A-4147-A177-3AD203B41FA5}">
                      <a16:colId xmlns:a16="http://schemas.microsoft.com/office/drawing/2014/main" val="1298779420"/>
                    </a:ext>
                  </a:extLst>
                </a:gridCol>
              </a:tblGrid>
              <a:tr h="574656">
                <a:tc>
                  <a:txBody>
                    <a:bodyPr/>
                    <a:lstStyle/>
                    <a:p>
                      <a:pPr indent="306070" algn="ctr">
                        <a:lnSpc>
                          <a:spcPct val="150000"/>
                        </a:lnSpc>
                        <a:spcAft>
                          <a:spcPts val="0"/>
                        </a:spcAft>
                      </a:pPr>
                      <a:r>
                        <a:rPr lang="zh-CN" sz="1200" kern="100" dirty="0">
                          <a:effectLst/>
                          <a:latin typeface="微软雅黑" panose="020B0503020204020204" pitchFamily="34" charset="-122"/>
                          <a:ea typeface="微软雅黑" panose="020B0503020204020204" pitchFamily="34" charset="-122"/>
                        </a:rPr>
                        <a:t>目标类</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gn="ctr">
                        <a:lnSpc>
                          <a:spcPct val="150000"/>
                        </a:lnSpc>
                        <a:spcAft>
                          <a:spcPts val="0"/>
                        </a:spcAft>
                      </a:pPr>
                      <a:r>
                        <a:rPr lang="en-US" sz="1050" kern="100" dirty="0">
                          <a:effectLst/>
                          <a:latin typeface="微软雅黑" panose="020B0503020204020204" pitchFamily="34" charset="-122"/>
                          <a:ea typeface="微软雅黑" panose="020B0503020204020204" pitchFamily="34" charset="-122"/>
                        </a:rPr>
                        <a:t>F1-score</a:t>
                      </a:r>
                      <a:r>
                        <a:rPr lang="zh-CN" sz="1050" kern="100" dirty="0">
                          <a:effectLst/>
                          <a:latin typeface="微软雅黑" panose="020B0503020204020204" pitchFamily="34" charset="-122"/>
                          <a:ea typeface="微软雅黑" panose="020B0503020204020204" pitchFamily="34" charset="-122"/>
                        </a:rPr>
                        <a:t>（</a:t>
                      </a:r>
                      <a:r>
                        <a:rPr lang="en-US" sz="1050" kern="100" dirty="0">
                          <a:effectLst/>
                          <a:latin typeface="微软雅黑" panose="020B0503020204020204" pitchFamily="34" charset="-122"/>
                          <a:ea typeface="微软雅黑" panose="020B0503020204020204" pitchFamily="34" charset="-122"/>
                        </a:rPr>
                        <a:t>%</a:t>
                      </a:r>
                      <a:r>
                        <a:rPr lang="zh-CN" sz="1050" kern="100" dirty="0">
                          <a:effectLst/>
                          <a:latin typeface="微软雅黑" panose="020B0503020204020204" pitchFamily="34" charset="-122"/>
                          <a:ea typeface="微软雅黑" panose="020B0503020204020204" pitchFamily="34" charset="-122"/>
                        </a:rPr>
                        <a:t>）</a:t>
                      </a:r>
                    </a:p>
                  </a:txBody>
                  <a:tcPr marL="68580" marR="68580" marT="0" marB="0"/>
                </a:tc>
                <a:tc>
                  <a:txBody>
                    <a:bodyPr/>
                    <a:lstStyle/>
                    <a:p>
                      <a:pPr indent="304800" algn="ctr">
                        <a:lnSpc>
                          <a:spcPct val="150000"/>
                        </a:lnSpc>
                        <a:spcAft>
                          <a:spcPts val="0"/>
                        </a:spcAft>
                      </a:pPr>
                      <a:r>
                        <a:rPr lang="zh-CN" sz="1200" kern="100" dirty="0">
                          <a:effectLst/>
                          <a:latin typeface="微软雅黑" panose="020B0503020204020204" pitchFamily="34" charset="-122"/>
                          <a:ea typeface="微软雅黑" panose="020B0503020204020204" pitchFamily="34" charset="-122"/>
                        </a:rPr>
                        <a:t>目标类</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F1-score</a:t>
                      </a:r>
                      <a:r>
                        <a:rPr lang="zh-CN" sz="1050" kern="100" dirty="0">
                          <a:effectLst/>
                          <a:latin typeface="微软雅黑" panose="020B0503020204020204" pitchFamily="34" charset="-122"/>
                          <a:ea typeface="微软雅黑" panose="020B0503020204020204" pitchFamily="34" charset="-122"/>
                        </a:rPr>
                        <a:t>（</a:t>
                      </a:r>
                      <a:r>
                        <a:rPr lang="en-US" sz="1050" kern="100" dirty="0">
                          <a:effectLst/>
                          <a:latin typeface="微软雅黑" panose="020B0503020204020204" pitchFamily="34" charset="-122"/>
                          <a:ea typeface="微软雅黑" panose="020B0503020204020204" pitchFamily="34" charset="-122"/>
                        </a:rPr>
                        <a:t>%</a:t>
                      </a:r>
                      <a:r>
                        <a:rPr lang="zh-CN" sz="1050" kern="100" dirty="0">
                          <a:effectLst/>
                          <a:latin typeface="微软雅黑" panose="020B0503020204020204" pitchFamily="34" charset="-122"/>
                          <a:ea typeface="微软雅黑" panose="020B0503020204020204" pitchFamily="34" charset="-122"/>
                        </a:rPr>
                        <a:t>）</a:t>
                      </a:r>
                    </a:p>
                  </a:txBody>
                  <a:tcPr marL="68580" marR="68580" marT="0" marB="0"/>
                </a:tc>
                <a:extLst>
                  <a:ext uri="{0D108BD9-81ED-4DB2-BD59-A6C34878D82A}">
                    <a16:rowId xmlns:a16="http://schemas.microsoft.com/office/drawing/2014/main" val="3174239892"/>
                  </a:ext>
                </a:extLst>
              </a:tr>
              <a:tr h="361478">
                <a:tc>
                  <a:txBody>
                    <a:bodyPr/>
                    <a:lstStyle/>
                    <a:p>
                      <a:pPr indent="306070" algn="just">
                        <a:lnSpc>
                          <a:spcPct val="150000"/>
                        </a:lnSpc>
                        <a:spcAft>
                          <a:spcPts val="0"/>
                        </a:spcAft>
                      </a:pPr>
                      <a:r>
                        <a:rPr lang="en-US" sz="1100" kern="100" dirty="0" err="1">
                          <a:effectLst/>
                          <a:latin typeface="微软雅黑" panose="020B0503020204020204" pitchFamily="34" charset="-122"/>
                          <a:ea typeface="微软雅黑" panose="020B0503020204020204" pitchFamily="34" charset="-122"/>
                        </a:rPr>
                        <a:t>ArrayList</a:t>
                      </a:r>
                      <a:endParaRPr lang="zh-CN" sz="110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altLang="zh-CN" sz="1200" kern="100" dirty="0">
                          <a:effectLst/>
                          <a:latin typeface="微软雅黑" panose="020B0503020204020204" pitchFamily="34" charset="-122"/>
                          <a:ea typeface="微软雅黑" panose="020B0503020204020204" pitchFamily="34" charset="-122"/>
                        </a:rPr>
                        <a:t>22.1</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607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Signature</a:t>
                      </a:r>
                      <a:endParaRPr lang="zh-CN" sz="105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100</a:t>
                      </a:r>
                      <a:endParaRPr lang="zh-CN" sz="1050" kern="100">
                        <a:effectLst/>
                        <a:latin typeface="微软雅黑" panose="020B0503020204020204" pitchFamily="34" charset="-122"/>
                        <a:ea typeface="微软雅黑" panose="020B0503020204020204" pitchFamily="34" charset="-122"/>
                      </a:endParaRPr>
                    </a:p>
                  </a:txBody>
                  <a:tcPr marL="68580" marR="68580" marT="0" marB="0"/>
                </a:tc>
                <a:extLst>
                  <a:ext uri="{0D108BD9-81ED-4DB2-BD59-A6C34878D82A}">
                    <a16:rowId xmlns:a16="http://schemas.microsoft.com/office/drawing/2014/main" val="3625098446"/>
                  </a:ext>
                </a:extLst>
              </a:tr>
              <a:tr h="471183">
                <a:tc>
                  <a:txBody>
                    <a:bodyPr/>
                    <a:lstStyle/>
                    <a:p>
                      <a:pPr indent="306070" algn="ctr">
                        <a:lnSpc>
                          <a:spcPct val="150000"/>
                        </a:lnSpc>
                        <a:spcAft>
                          <a:spcPts val="0"/>
                        </a:spcAft>
                      </a:pPr>
                      <a:r>
                        <a:rPr lang="en-US" sz="1100" kern="100" dirty="0">
                          <a:effectLst/>
                          <a:latin typeface="微软雅黑" panose="020B0503020204020204" pitchFamily="34" charset="-122"/>
                          <a:ea typeface="微软雅黑" panose="020B0503020204020204" pitchFamily="34" charset="-122"/>
                        </a:rPr>
                        <a:t>HashMap</a:t>
                      </a:r>
                      <a:endParaRPr lang="zh-CN" sz="110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altLang="zh-CN" sz="1200" kern="100" dirty="0">
                          <a:effectLst/>
                          <a:latin typeface="微软雅黑" panose="020B0503020204020204" pitchFamily="34" charset="-122"/>
                          <a:ea typeface="微软雅黑" panose="020B0503020204020204" pitchFamily="34" charset="-122"/>
                        </a:rPr>
                        <a:t>86.71</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6070" algn="ctr">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Socket</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altLang="zh-CN" sz="1200" kern="100" dirty="0">
                          <a:effectLst/>
                          <a:latin typeface="微软雅黑" panose="020B0503020204020204" pitchFamily="34" charset="-122"/>
                          <a:ea typeface="微软雅黑" panose="020B0503020204020204" pitchFamily="34" charset="-122"/>
                        </a:rPr>
                        <a:t>54.24</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extLst>
                  <a:ext uri="{0D108BD9-81ED-4DB2-BD59-A6C34878D82A}">
                    <a16:rowId xmlns:a16="http://schemas.microsoft.com/office/drawing/2014/main" val="1931393138"/>
                  </a:ext>
                </a:extLst>
              </a:tr>
              <a:tr h="361478">
                <a:tc>
                  <a:txBody>
                    <a:bodyPr/>
                    <a:lstStyle/>
                    <a:p>
                      <a:pPr indent="306070" algn="ctr">
                        <a:lnSpc>
                          <a:spcPct val="150000"/>
                        </a:lnSpc>
                        <a:spcAft>
                          <a:spcPts val="0"/>
                        </a:spcAft>
                      </a:pPr>
                      <a:r>
                        <a:rPr lang="en-US" sz="1100" kern="100" dirty="0">
                          <a:effectLst/>
                          <a:latin typeface="微软雅黑" panose="020B0503020204020204" pitchFamily="34" charset="-122"/>
                          <a:ea typeface="微软雅黑" panose="020B0503020204020204" pitchFamily="34" charset="-122"/>
                        </a:rPr>
                        <a:t>HashSet</a:t>
                      </a:r>
                      <a:endParaRPr lang="zh-CN" sz="110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altLang="zh-CN" sz="1200" kern="100" dirty="0">
                          <a:effectLst/>
                          <a:latin typeface="微软雅黑" panose="020B0503020204020204" pitchFamily="34" charset="-122"/>
                          <a:ea typeface="微软雅黑" panose="020B0503020204020204" pitchFamily="34" charset="-122"/>
                        </a:rPr>
                        <a:t>76.84</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6070" algn="ctr">
                        <a:lnSpc>
                          <a:spcPct val="150000"/>
                        </a:lnSpc>
                        <a:spcAft>
                          <a:spcPts val="0"/>
                        </a:spcAft>
                      </a:pPr>
                      <a:r>
                        <a:rPr lang="en-US" sz="1200" kern="100" dirty="0" err="1">
                          <a:effectLst/>
                          <a:latin typeface="微软雅黑" panose="020B0503020204020204" pitchFamily="34" charset="-122"/>
                          <a:ea typeface="微软雅黑" panose="020B0503020204020204" pitchFamily="34" charset="-122"/>
                        </a:rPr>
                        <a:t>StackAr</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altLang="zh-CN" sz="1200" kern="100" dirty="0">
                          <a:effectLst/>
                          <a:latin typeface="微软雅黑" panose="020B0503020204020204" pitchFamily="34" charset="-122"/>
                          <a:ea typeface="微软雅黑" panose="020B0503020204020204" pitchFamily="34" charset="-122"/>
                        </a:rPr>
                        <a:t>74.38</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extLst>
                  <a:ext uri="{0D108BD9-81ED-4DB2-BD59-A6C34878D82A}">
                    <a16:rowId xmlns:a16="http://schemas.microsoft.com/office/drawing/2014/main" val="1276510261"/>
                  </a:ext>
                </a:extLst>
              </a:tr>
              <a:tr h="574656">
                <a:tc>
                  <a:txBody>
                    <a:bodyPr/>
                    <a:lstStyle/>
                    <a:p>
                      <a:pPr indent="306070" algn="ctr">
                        <a:lnSpc>
                          <a:spcPct val="150000"/>
                        </a:lnSpc>
                        <a:spcAft>
                          <a:spcPts val="0"/>
                        </a:spcAft>
                      </a:pPr>
                      <a:r>
                        <a:rPr lang="en-US" sz="1100" kern="100" dirty="0" err="1">
                          <a:effectLst/>
                          <a:latin typeface="微软雅黑" panose="020B0503020204020204" pitchFamily="34" charset="-122"/>
                          <a:ea typeface="微软雅黑" panose="020B0503020204020204" pitchFamily="34" charset="-122"/>
                        </a:rPr>
                        <a:t>Hashtable</a:t>
                      </a:r>
                      <a:endParaRPr lang="zh-CN" sz="110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altLang="zh-CN" sz="1200" kern="100" dirty="0">
                          <a:effectLst/>
                          <a:latin typeface="微软雅黑" panose="020B0503020204020204" pitchFamily="34" charset="-122"/>
                          <a:ea typeface="微软雅黑" panose="020B0503020204020204" pitchFamily="34" charset="-122"/>
                        </a:rPr>
                        <a:t>79.92</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6070" algn="ctr">
                        <a:lnSpc>
                          <a:spcPct val="150000"/>
                        </a:lnSpc>
                        <a:spcAft>
                          <a:spcPts val="0"/>
                        </a:spcAft>
                      </a:pPr>
                      <a:r>
                        <a:rPr lang="en-US" sz="1200" kern="100" dirty="0" err="1">
                          <a:effectLst/>
                          <a:latin typeface="微软雅黑" panose="020B0503020204020204" pitchFamily="34" charset="-122"/>
                          <a:ea typeface="微软雅黑" panose="020B0503020204020204" pitchFamily="34" charset="-122"/>
                        </a:rPr>
                        <a:t>StringTokenizer</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100</a:t>
                      </a:r>
                      <a:endParaRPr lang="zh-CN" sz="1050" kern="100">
                        <a:effectLst/>
                        <a:latin typeface="微软雅黑" panose="020B0503020204020204" pitchFamily="34" charset="-122"/>
                        <a:ea typeface="微软雅黑" panose="020B0503020204020204" pitchFamily="34" charset="-122"/>
                      </a:endParaRPr>
                    </a:p>
                  </a:txBody>
                  <a:tcPr marL="68580" marR="68580" marT="0" marB="0"/>
                </a:tc>
                <a:extLst>
                  <a:ext uri="{0D108BD9-81ED-4DB2-BD59-A6C34878D82A}">
                    <a16:rowId xmlns:a16="http://schemas.microsoft.com/office/drawing/2014/main" val="2247668571"/>
                  </a:ext>
                </a:extLst>
              </a:tr>
              <a:tr h="574656">
                <a:tc>
                  <a:txBody>
                    <a:bodyPr/>
                    <a:lstStyle/>
                    <a:p>
                      <a:pPr indent="306070" algn="ctr">
                        <a:lnSpc>
                          <a:spcPct val="150000"/>
                        </a:lnSpc>
                        <a:spcAft>
                          <a:spcPts val="0"/>
                        </a:spcAft>
                      </a:pPr>
                      <a:r>
                        <a:rPr lang="en-US" sz="1100" kern="100" dirty="0">
                          <a:effectLst/>
                          <a:latin typeface="微软雅黑" panose="020B0503020204020204" pitchFamily="34" charset="-122"/>
                          <a:ea typeface="微软雅黑" panose="020B0503020204020204" pitchFamily="34" charset="-122"/>
                        </a:rPr>
                        <a:t>LinkedList</a:t>
                      </a:r>
                      <a:endParaRPr lang="zh-CN" sz="110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altLang="zh-CN" sz="1200" kern="100" dirty="0">
                          <a:effectLst/>
                          <a:latin typeface="微软雅黑" panose="020B0503020204020204" pitchFamily="34" charset="-122"/>
                          <a:ea typeface="微软雅黑" panose="020B0503020204020204" pitchFamily="34" charset="-122"/>
                        </a:rPr>
                        <a:t>30.98</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6070" algn="ctr">
                        <a:lnSpc>
                          <a:spcPct val="150000"/>
                        </a:lnSpc>
                        <a:spcAft>
                          <a:spcPts val="0"/>
                        </a:spcAft>
                      </a:pPr>
                      <a:r>
                        <a:rPr lang="en-US" sz="1200" kern="100" dirty="0" err="1">
                          <a:effectLst/>
                          <a:latin typeface="微软雅黑" panose="020B0503020204020204" pitchFamily="34" charset="-122"/>
                          <a:ea typeface="微软雅黑" panose="020B0503020204020204" pitchFamily="34" charset="-122"/>
                        </a:rPr>
                        <a:t>ZipOutputStream</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altLang="zh-CN" sz="1200" kern="100" dirty="0">
                          <a:effectLst/>
                          <a:latin typeface="微软雅黑" panose="020B0503020204020204" pitchFamily="34" charset="-122"/>
                          <a:ea typeface="微软雅黑" panose="020B0503020204020204" pitchFamily="34" charset="-122"/>
                        </a:rPr>
                        <a:t>88.82</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extLst>
                  <a:ext uri="{0D108BD9-81ED-4DB2-BD59-A6C34878D82A}">
                    <a16:rowId xmlns:a16="http://schemas.microsoft.com/office/drawing/2014/main" val="432637330"/>
                  </a:ext>
                </a:extLst>
              </a:tr>
              <a:tr h="361478">
                <a:tc>
                  <a:txBody>
                    <a:bodyPr/>
                    <a:lstStyle/>
                    <a:p>
                      <a:pPr indent="306070" algn="l">
                        <a:lnSpc>
                          <a:spcPct val="150000"/>
                        </a:lnSpc>
                        <a:spcAft>
                          <a:spcPts val="0"/>
                        </a:spcAft>
                      </a:pPr>
                      <a:r>
                        <a:rPr lang="en-US" sz="1100" kern="100" dirty="0">
                          <a:effectLst/>
                          <a:latin typeface="微软雅黑" panose="020B0503020204020204" pitchFamily="34" charset="-122"/>
                          <a:ea typeface="微软雅黑" panose="020B0503020204020204" pitchFamily="34" charset="-122"/>
                        </a:rPr>
                        <a:t>NFST</a:t>
                      </a:r>
                      <a:endParaRPr lang="zh-CN" sz="110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altLang="zh-CN" sz="1200" kern="100" dirty="0">
                          <a:effectLst/>
                          <a:latin typeface="微软雅黑" panose="020B0503020204020204" pitchFamily="34" charset="-122"/>
                          <a:ea typeface="微软雅黑" panose="020B0503020204020204" pitchFamily="34" charset="-122"/>
                        </a:rPr>
                        <a:t>77.52</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607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Average</a:t>
                      </a:r>
                      <a:endParaRPr lang="zh-CN" sz="105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altLang="zh-CN" sz="1200" kern="100" dirty="0">
                          <a:effectLst/>
                          <a:latin typeface="微软雅黑" panose="020B0503020204020204" pitchFamily="34" charset="-122"/>
                          <a:ea typeface="微软雅黑" panose="020B0503020204020204" pitchFamily="34" charset="-122"/>
                        </a:rPr>
                        <a:t>71.97</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extLst>
                  <a:ext uri="{0D108BD9-81ED-4DB2-BD59-A6C34878D82A}">
                    <a16:rowId xmlns:a16="http://schemas.microsoft.com/office/drawing/2014/main" val="3357963706"/>
                  </a:ext>
                </a:extLst>
              </a:tr>
            </a:tbl>
          </a:graphicData>
        </a:graphic>
      </p:graphicFrame>
      <p:graphicFrame>
        <p:nvGraphicFramePr>
          <p:cNvPr id="19" name="表格 18">
            <a:extLst>
              <a:ext uri="{FF2B5EF4-FFF2-40B4-BE49-F238E27FC236}">
                <a16:creationId xmlns:a16="http://schemas.microsoft.com/office/drawing/2014/main" id="{288E0FD0-14E6-438C-845A-D8E944F485DD}"/>
              </a:ext>
            </a:extLst>
          </p:cNvPr>
          <p:cNvGraphicFramePr>
            <a:graphicFrameLocks noGrp="1"/>
          </p:cNvGraphicFramePr>
          <p:nvPr>
            <p:extLst>
              <p:ext uri="{D42A27DB-BD31-4B8C-83A1-F6EECF244321}">
                <p14:modId xmlns:p14="http://schemas.microsoft.com/office/powerpoint/2010/main" val="3683815837"/>
              </p:ext>
            </p:extLst>
          </p:nvPr>
        </p:nvGraphicFramePr>
        <p:xfrm>
          <a:off x="6479825" y="2563881"/>
          <a:ext cx="4648225" cy="3283580"/>
        </p:xfrm>
        <a:graphic>
          <a:graphicData uri="http://schemas.openxmlformats.org/drawingml/2006/table">
            <a:tbl>
              <a:tblPr firstRow="1" firstCol="1" bandRow="1">
                <a:tableStyleId>{5C22544A-7EE6-4342-B048-85BDC9FD1C3A}</a:tableStyleId>
              </a:tblPr>
              <a:tblGrid>
                <a:gridCol w="1147845">
                  <a:extLst>
                    <a:ext uri="{9D8B030D-6E8A-4147-A177-3AD203B41FA5}">
                      <a16:colId xmlns:a16="http://schemas.microsoft.com/office/drawing/2014/main" val="495207571"/>
                    </a:ext>
                  </a:extLst>
                </a:gridCol>
                <a:gridCol w="1050005">
                  <a:extLst>
                    <a:ext uri="{9D8B030D-6E8A-4147-A177-3AD203B41FA5}">
                      <a16:colId xmlns:a16="http://schemas.microsoft.com/office/drawing/2014/main" val="1428140108"/>
                    </a:ext>
                  </a:extLst>
                </a:gridCol>
                <a:gridCol w="1392718">
                  <a:extLst>
                    <a:ext uri="{9D8B030D-6E8A-4147-A177-3AD203B41FA5}">
                      <a16:colId xmlns:a16="http://schemas.microsoft.com/office/drawing/2014/main" val="2735016630"/>
                    </a:ext>
                  </a:extLst>
                </a:gridCol>
                <a:gridCol w="1057657">
                  <a:extLst>
                    <a:ext uri="{9D8B030D-6E8A-4147-A177-3AD203B41FA5}">
                      <a16:colId xmlns:a16="http://schemas.microsoft.com/office/drawing/2014/main" val="1298779420"/>
                    </a:ext>
                  </a:extLst>
                </a:gridCol>
              </a:tblGrid>
              <a:tr h="566528">
                <a:tc>
                  <a:txBody>
                    <a:bodyPr/>
                    <a:lstStyle/>
                    <a:p>
                      <a:pPr indent="306070" algn="ctr">
                        <a:lnSpc>
                          <a:spcPct val="150000"/>
                        </a:lnSpc>
                        <a:spcAft>
                          <a:spcPts val="0"/>
                        </a:spcAft>
                      </a:pPr>
                      <a:r>
                        <a:rPr lang="zh-CN" sz="1200" kern="100" dirty="0">
                          <a:effectLst/>
                          <a:latin typeface="微软雅黑" panose="020B0503020204020204" pitchFamily="34" charset="-122"/>
                          <a:ea typeface="微软雅黑" panose="020B0503020204020204" pitchFamily="34" charset="-122"/>
                        </a:rPr>
                        <a:t>目标类</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gn="ctr">
                        <a:lnSpc>
                          <a:spcPct val="150000"/>
                        </a:lnSpc>
                        <a:spcAft>
                          <a:spcPts val="0"/>
                        </a:spcAft>
                      </a:pPr>
                      <a:r>
                        <a:rPr lang="en-US" sz="1050" kern="100" dirty="0">
                          <a:effectLst/>
                          <a:latin typeface="微软雅黑" panose="020B0503020204020204" pitchFamily="34" charset="-122"/>
                          <a:ea typeface="微软雅黑" panose="020B0503020204020204" pitchFamily="34" charset="-122"/>
                        </a:rPr>
                        <a:t>F1-score</a:t>
                      </a:r>
                      <a:r>
                        <a:rPr lang="zh-CN" sz="1050" kern="100" dirty="0">
                          <a:effectLst/>
                          <a:latin typeface="微软雅黑" panose="020B0503020204020204" pitchFamily="34" charset="-122"/>
                          <a:ea typeface="微软雅黑" panose="020B0503020204020204" pitchFamily="34" charset="-122"/>
                        </a:rPr>
                        <a:t>（</a:t>
                      </a:r>
                      <a:r>
                        <a:rPr lang="en-US" sz="1050" kern="100" dirty="0">
                          <a:effectLst/>
                          <a:latin typeface="微软雅黑" panose="020B0503020204020204" pitchFamily="34" charset="-122"/>
                          <a:ea typeface="微软雅黑" panose="020B0503020204020204" pitchFamily="34" charset="-122"/>
                        </a:rPr>
                        <a:t>%</a:t>
                      </a:r>
                      <a:r>
                        <a:rPr lang="zh-CN" sz="1050" kern="100" dirty="0">
                          <a:effectLst/>
                          <a:latin typeface="微软雅黑" panose="020B0503020204020204" pitchFamily="34" charset="-122"/>
                          <a:ea typeface="微软雅黑" panose="020B0503020204020204" pitchFamily="34" charset="-122"/>
                        </a:rPr>
                        <a:t>）</a:t>
                      </a:r>
                    </a:p>
                  </a:txBody>
                  <a:tcPr marL="68580" marR="68580" marT="0" marB="0"/>
                </a:tc>
                <a:tc>
                  <a:txBody>
                    <a:bodyPr/>
                    <a:lstStyle/>
                    <a:p>
                      <a:pPr indent="304800" algn="ctr">
                        <a:lnSpc>
                          <a:spcPct val="150000"/>
                        </a:lnSpc>
                        <a:spcAft>
                          <a:spcPts val="0"/>
                        </a:spcAft>
                      </a:pPr>
                      <a:r>
                        <a:rPr lang="zh-CN" sz="1200" kern="100" dirty="0">
                          <a:effectLst/>
                          <a:latin typeface="微软雅黑" panose="020B0503020204020204" pitchFamily="34" charset="-122"/>
                          <a:ea typeface="微软雅黑" panose="020B0503020204020204" pitchFamily="34" charset="-122"/>
                        </a:rPr>
                        <a:t>目标类</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F1-score</a:t>
                      </a:r>
                      <a:r>
                        <a:rPr lang="zh-CN" sz="1050" kern="100" dirty="0">
                          <a:effectLst/>
                          <a:latin typeface="微软雅黑" panose="020B0503020204020204" pitchFamily="34" charset="-122"/>
                          <a:ea typeface="微软雅黑" panose="020B0503020204020204" pitchFamily="34" charset="-122"/>
                        </a:rPr>
                        <a:t>（</a:t>
                      </a:r>
                      <a:r>
                        <a:rPr lang="en-US" sz="1050" kern="100" dirty="0">
                          <a:effectLst/>
                          <a:latin typeface="微软雅黑" panose="020B0503020204020204" pitchFamily="34" charset="-122"/>
                          <a:ea typeface="微软雅黑" panose="020B0503020204020204" pitchFamily="34" charset="-122"/>
                        </a:rPr>
                        <a:t>%</a:t>
                      </a:r>
                      <a:r>
                        <a:rPr lang="zh-CN" sz="1050" kern="100" dirty="0">
                          <a:effectLst/>
                          <a:latin typeface="微软雅黑" panose="020B0503020204020204" pitchFamily="34" charset="-122"/>
                          <a:ea typeface="微软雅黑" panose="020B0503020204020204" pitchFamily="34" charset="-122"/>
                        </a:rPr>
                        <a:t>）</a:t>
                      </a:r>
                    </a:p>
                  </a:txBody>
                  <a:tcPr marL="68580" marR="68580" marT="0" marB="0"/>
                </a:tc>
                <a:extLst>
                  <a:ext uri="{0D108BD9-81ED-4DB2-BD59-A6C34878D82A}">
                    <a16:rowId xmlns:a16="http://schemas.microsoft.com/office/drawing/2014/main" val="3174239892"/>
                  </a:ext>
                </a:extLst>
              </a:tr>
              <a:tr h="356365">
                <a:tc>
                  <a:txBody>
                    <a:bodyPr/>
                    <a:lstStyle/>
                    <a:p>
                      <a:pPr indent="306070" algn="ctr">
                        <a:lnSpc>
                          <a:spcPct val="150000"/>
                        </a:lnSpc>
                        <a:spcAft>
                          <a:spcPts val="0"/>
                        </a:spcAft>
                      </a:pPr>
                      <a:r>
                        <a:rPr lang="en-US" sz="1200" kern="100" dirty="0" err="1">
                          <a:effectLst/>
                          <a:latin typeface="微软雅黑" panose="020B0503020204020204" pitchFamily="34" charset="-122"/>
                          <a:ea typeface="微软雅黑" panose="020B0503020204020204" pitchFamily="34" charset="-122"/>
                        </a:rPr>
                        <a:t>ArrayList</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91.6</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607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Signature</a:t>
                      </a:r>
                      <a:endParaRPr lang="zh-CN" sz="105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100</a:t>
                      </a:r>
                      <a:endParaRPr lang="zh-CN" sz="1050" kern="100">
                        <a:effectLst/>
                        <a:latin typeface="微软雅黑" panose="020B0503020204020204" pitchFamily="34" charset="-122"/>
                        <a:ea typeface="微软雅黑" panose="020B0503020204020204" pitchFamily="34" charset="-122"/>
                      </a:endParaRPr>
                    </a:p>
                  </a:txBody>
                  <a:tcPr marL="68580" marR="68580" marT="0" marB="0"/>
                </a:tc>
                <a:extLst>
                  <a:ext uri="{0D108BD9-81ED-4DB2-BD59-A6C34878D82A}">
                    <a16:rowId xmlns:a16="http://schemas.microsoft.com/office/drawing/2014/main" val="3625098446"/>
                  </a:ext>
                </a:extLst>
              </a:tr>
              <a:tr h="514901">
                <a:tc>
                  <a:txBody>
                    <a:bodyPr/>
                    <a:lstStyle/>
                    <a:p>
                      <a:pPr indent="306070" algn="ctr">
                        <a:lnSpc>
                          <a:spcPct val="150000"/>
                        </a:lnSpc>
                        <a:spcAft>
                          <a:spcPts val="0"/>
                        </a:spcAft>
                      </a:pPr>
                      <a:r>
                        <a:rPr lang="en-US" sz="1100" kern="100" dirty="0">
                          <a:effectLst/>
                          <a:latin typeface="微软雅黑" panose="020B0503020204020204" pitchFamily="34" charset="-122"/>
                          <a:ea typeface="微软雅黑" panose="020B0503020204020204" pitchFamily="34" charset="-122"/>
                        </a:rPr>
                        <a:t>HashMap</a:t>
                      </a:r>
                      <a:endParaRPr lang="zh-CN" sz="110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98.7</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607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Socket</a:t>
                      </a:r>
                      <a:endParaRPr lang="zh-CN" sz="105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99.4</a:t>
                      </a:r>
                      <a:endParaRPr lang="zh-CN" sz="1050" kern="100">
                        <a:effectLst/>
                        <a:latin typeface="微软雅黑" panose="020B0503020204020204" pitchFamily="34" charset="-122"/>
                        <a:ea typeface="微软雅黑" panose="020B0503020204020204" pitchFamily="34" charset="-122"/>
                      </a:endParaRPr>
                    </a:p>
                  </a:txBody>
                  <a:tcPr marL="68580" marR="68580" marT="0" marB="0"/>
                </a:tc>
                <a:extLst>
                  <a:ext uri="{0D108BD9-81ED-4DB2-BD59-A6C34878D82A}">
                    <a16:rowId xmlns:a16="http://schemas.microsoft.com/office/drawing/2014/main" val="1931393138"/>
                  </a:ext>
                </a:extLst>
              </a:tr>
              <a:tr h="356365">
                <a:tc>
                  <a:txBody>
                    <a:bodyPr/>
                    <a:lstStyle/>
                    <a:p>
                      <a:pPr indent="30607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HashSet</a:t>
                      </a:r>
                      <a:endParaRPr lang="zh-CN" sz="105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100</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6070" algn="ctr">
                        <a:lnSpc>
                          <a:spcPct val="150000"/>
                        </a:lnSpc>
                        <a:spcAft>
                          <a:spcPts val="0"/>
                        </a:spcAft>
                      </a:pPr>
                      <a:r>
                        <a:rPr lang="en-US" sz="1200" kern="100" dirty="0" err="1">
                          <a:effectLst/>
                          <a:latin typeface="微软雅黑" panose="020B0503020204020204" pitchFamily="34" charset="-122"/>
                          <a:ea typeface="微软雅黑" panose="020B0503020204020204" pitchFamily="34" charset="-122"/>
                        </a:rPr>
                        <a:t>StackAr</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100</a:t>
                      </a:r>
                      <a:endParaRPr lang="zh-CN" sz="1050" kern="100">
                        <a:effectLst/>
                        <a:latin typeface="微软雅黑" panose="020B0503020204020204" pitchFamily="34" charset="-122"/>
                        <a:ea typeface="微软雅黑" panose="020B0503020204020204" pitchFamily="34" charset="-122"/>
                      </a:endParaRPr>
                    </a:p>
                  </a:txBody>
                  <a:tcPr marL="68580" marR="68580" marT="0" marB="0"/>
                </a:tc>
                <a:extLst>
                  <a:ext uri="{0D108BD9-81ED-4DB2-BD59-A6C34878D82A}">
                    <a16:rowId xmlns:a16="http://schemas.microsoft.com/office/drawing/2014/main" val="1276510261"/>
                  </a:ext>
                </a:extLst>
              </a:tr>
              <a:tr h="566528">
                <a:tc>
                  <a:txBody>
                    <a:bodyPr/>
                    <a:lstStyle/>
                    <a:p>
                      <a:pPr indent="30607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Hashtable</a:t>
                      </a:r>
                      <a:endParaRPr lang="zh-CN" sz="105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100</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6070" algn="ctr">
                        <a:lnSpc>
                          <a:spcPct val="150000"/>
                        </a:lnSpc>
                        <a:spcAft>
                          <a:spcPts val="0"/>
                        </a:spcAft>
                      </a:pPr>
                      <a:r>
                        <a:rPr lang="en-US" sz="1200" kern="100" dirty="0" err="1">
                          <a:effectLst/>
                          <a:latin typeface="微软雅黑" panose="020B0503020204020204" pitchFamily="34" charset="-122"/>
                          <a:ea typeface="微软雅黑" panose="020B0503020204020204" pitchFamily="34" charset="-122"/>
                        </a:rPr>
                        <a:t>StringTokenizer</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100</a:t>
                      </a:r>
                      <a:endParaRPr lang="zh-CN" sz="1050" kern="100">
                        <a:effectLst/>
                        <a:latin typeface="微软雅黑" panose="020B0503020204020204" pitchFamily="34" charset="-122"/>
                        <a:ea typeface="微软雅黑" panose="020B0503020204020204" pitchFamily="34" charset="-122"/>
                      </a:endParaRPr>
                    </a:p>
                  </a:txBody>
                  <a:tcPr marL="68580" marR="68580" marT="0" marB="0"/>
                </a:tc>
                <a:extLst>
                  <a:ext uri="{0D108BD9-81ED-4DB2-BD59-A6C34878D82A}">
                    <a16:rowId xmlns:a16="http://schemas.microsoft.com/office/drawing/2014/main" val="2247668571"/>
                  </a:ext>
                </a:extLst>
              </a:tr>
              <a:tr h="566528">
                <a:tc>
                  <a:txBody>
                    <a:bodyPr/>
                    <a:lstStyle/>
                    <a:p>
                      <a:pPr indent="306070" algn="ctr">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LinkedList</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a:effectLst/>
                          <a:latin typeface="微软雅黑" panose="020B0503020204020204" pitchFamily="34" charset="-122"/>
                          <a:ea typeface="微软雅黑" panose="020B0503020204020204" pitchFamily="34" charset="-122"/>
                        </a:rPr>
                        <a:t>88.6</a:t>
                      </a:r>
                      <a:endParaRPr lang="zh-CN" sz="105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6070" algn="ctr">
                        <a:lnSpc>
                          <a:spcPct val="150000"/>
                        </a:lnSpc>
                        <a:spcAft>
                          <a:spcPts val="0"/>
                        </a:spcAft>
                      </a:pPr>
                      <a:r>
                        <a:rPr lang="en-US" sz="1200" kern="100" dirty="0" err="1">
                          <a:effectLst/>
                          <a:latin typeface="微软雅黑" panose="020B0503020204020204" pitchFamily="34" charset="-122"/>
                          <a:ea typeface="微软雅黑" panose="020B0503020204020204" pitchFamily="34" charset="-122"/>
                        </a:rPr>
                        <a:t>ZipOutputStream</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97.6</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extLst>
                  <a:ext uri="{0D108BD9-81ED-4DB2-BD59-A6C34878D82A}">
                    <a16:rowId xmlns:a16="http://schemas.microsoft.com/office/drawing/2014/main" val="432637330"/>
                  </a:ext>
                </a:extLst>
              </a:tr>
              <a:tr h="356365">
                <a:tc>
                  <a:txBody>
                    <a:bodyPr/>
                    <a:lstStyle/>
                    <a:p>
                      <a:pPr indent="306070" algn="l">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NFST</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98.5</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6070" algn="ctr">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Average</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indent="304800" algn="ctr">
                        <a:lnSpc>
                          <a:spcPct val="150000"/>
                        </a:lnSpc>
                        <a:spcAft>
                          <a:spcPts val="0"/>
                        </a:spcAft>
                      </a:pPr>
                      <a:r>
                        <a:rPr lang="en-US" sz="1200" kern="100" dirty="0">
                          <a:effectLst/>
                          <a:latin typeface="微软雅黑" panose="020B0503020204020204" pitchFamily="34" charset="-122"/>
                          <a:ea typeface="微软雅黑" panose="020B0503020204020204" pitchFamily="34" charset="-122"/>
                        </a:rPr>
                        <a:t>97.7</a:t>
                      </a:r>
                      <a:endParaRPr lang="zh-CN" sz="1050" kern="100" dirty="0">
                        <a:effectLst/>
                        <a:latin typeface="微软雅黑" panose="020B0503020204020204" pitchFamily="34" charset="-122"/>
                        <a:ea typeface="微软雅黑" panose="020B0503020204020204" pitchFamily="34" charset="-122"/>
                      </a:endParaRPr>
                    </a:p>
                  </a:txBody>
                  <a:tcPr marL="68580" marR="68580" marT="0" marB="0"/>
                </a:tc>
                <a:extLst>
                  <a:ext uri="{0D108BD9-81ED-4DB2-BD59-A6C34878D82A}">
                    <a16:rowId xmlns:a16="http://schemas.microsoft.com/office/drawing/2014/main" val="3357963706"/>
                  </a:ext>
                </a:extLst>
              </a:tr>
            </a:tbl>
          </a:graphicData>
        </a:graphic>
      </p:graphicFrame>
      <p:sp>
        <p:nvSpPr>
          <p:cNvPr id="6" name="文本框 5">
            <a:extLst>
              <a:ext uri="{FF2B5EF4-FFF2-40B4-BE49-F238E27FC236}">
                <a16:creationId xmlns:a16="http://schemas.microsoft.com/office/drawing/2014/main" id="{D6E08728-6ABD-41BC-8D64-54A9352C95FD}"/>
              </a:ext>
            </a:extLst>
          </p:cNvPr>
          <p:cNvSpPr txBox="1"/>
          <p:nvPr/>
        </p:nvSpPr>
        <p:spPr>
          <a:xfrm>
            <a:off x="1212900" y="2054128"/>
            <a:ext cx="4350323" cy="345094"/>
          </a:xfrm>
          <a:prstGeom prst="rect">
            <a:avLst/>
          </a:prstGeom>
          <a:noFill/>
        </p:spPr>
        <p:txBody>
          <a:bodyPr wrap="square" rtlCol="0">
            <a:spAutoFit/>
          </a:bodyPr>
          <a:lstStyle/>
          <a:p>
            <a:pPr algn="ctr">
              <a:lnSpc>
                <a:spcPct val="130000"/>
              </a:lnSpc>
            </a:pPr>
            <a:r>
              <a:rPr kumimoji="1" lang="zh-CN" altLang="en-US" sz="1400" dirty="0">
                <a:latin typeface="微软雅黑" panose="020B0503020204020204" pitchFamily="34" charset="-122"/>
                <a:ea typeface="微软雅黑" panose="020B0503020204020204" pitchFamily="34" charset="-122"/>
              </a:rPr>
              <a:t>表</a:t>
            </a:r>
            <a:r>
              <a:rPr kumimoji="1" lang="en-US" altLang="zh-CN" sz="1400" dirty="0">
                <a:latin typeface="微软雅黑" panose="020B0503020204020204" pitchFamily="34" charset="-122"/>
                <a:ea typeface="微软雅黑" panose="020B0503020204020204" pitchFamily="34" charset="-122"/>
              </a:rPr>
              <a:t>1 </a:t>
            </a:r>
            <a:r>
              <a:rPr kumimoji="1" lang="zh-CN" altLang="en-US" sz="1400" dirty="0">
                <a:latin typeface="微软雅黑" panose="020B0503020204020204" pitchFamily="34" charset="-122"/>
                <a:ea typeface="微软雅黑" panose="020B0503020204020204" pitchFamily="34" charset="-122"/>
              </a:rPr>
              <a:t>基于</a:t>
            </a:r>
            <a:r>
              <a:rPr kumimoji="1" lang="en-US" altLang="zh-CN" sz="1400" dirty="0">
                <a:latin typeface="微软雅黑" panose="020B0503020204020204" pitchFamily="34" charset="-122"/>
                <a:ea typeface="微软雅黑" panose="020B0503020204020204" pitchFamily="34" charset="-122"/>
              </a:rPr>
              <a:t>RNN</a:t>
            </a:r>
            <a:r>
              <a:rPr kumimoji="1" lang="zh-CN" altLang="en-US" sz="1400" dirty="0">
                <a:latin typeface="微软雅黑" panose="020B0503020204020204" pitchFamily="34" charset="-122"/>
                <a:ea typeface="微软雅黑" panose="020B0503020204020204" pitchFamily="34" charset="-122"/>
              </a:rPr>
              <a:t>的模型分数</a:t>
            </a:r>
          </a:p>
        </p:txBody>
      </p:sp>
      <p:sp>
        <p:nvSpPr>
          <p:cNvPr id="21" name="文本框 20">
            <a:extLst>
              <a:ext uri="{FF2B5EF4-FFF2-40B4-BE49-F238E27FC236}">
                <a16:creationId xmlns:a16="http://schemas.microsoft.com/office/drawing/2014/main" id="{51BC24ED-B27C-4F1A-87C2-DD6DF4164C3B}"/>
              </a:ext>
            </a:extLst>
          </p:cNvPr>
          <p:cNvSpPr txBox="1"/>
          <p:nvPr/>
        </p:nvSpPr>
        <p:spPr>
          <a:xfrm>
            <a:off x="6628777" y="2051545"/>
            <a:ext cx="4350323" cy="345094"/>
          </a:xfrm>
          <a:prstGeom prst="rect">
            <a:avLst/>
          </a:prstGeom>
          <a:noFill/>
        </p:spPr>
        <p:txBody>
          <a:bodyPr wrap="square" rtlCol="0">
            <a:spAutoFit/>
          </a:bodyPr>
          <a:lstStyle/>
          <a:p>
            <a:pPr algn="ctr">
              <a:lnSpc>
                <a:spcPct val="130000"/>
              </a:lnSpc>
            </a:pPr>
            <a:r>
              <a:rPr kumimoji="1" lang="zh-CN" altLang="en-US" sz="1400" dirty="0">
                <a:latin typeface="微软雅黑" panose="020B0503020204020204" pitchFamily="34" charset="-122"/>
                <a:ea typeface="微软雅黑" panose="020B0503020204020204" pitchFamily="34" charset="-122"/>
              </a:rPr>
              <a:t>表</a:t>
            </a:r>
            <a:r>
              <a:rPr kumimoji="1" lang="en-US" altLang="zh-CN" sz="1400" dirty="0">
                <a:latin typeface="微软雅黑" panose="020B0503020204020204" pitchFamily="34" charset="-122"/>
                <a:ea typeface="微软雅黑" panose="020B0503020204020204" pitchFamily="34" charset="-122"/>
              </a:rPr>
              <a:t>2 </a:t>
            </a:r>
            <a:r>
              <a:rPr kumimoji="1" lang="zh-CN" altLang="en-US" sz="1400" dirty="0">
                <a:latin typeface="微软雅黑" panose="020B0503020204020204" pitchFamily="34" charset="-122"/>
                <a:ea typeface="微软雅黑" panose="020B0503020204020204" pitchFamily="34" charset="-122"/>
              </a:rPr>
              <a:t>基于</a:t>
            </a:r>
            <a:r>
              <a:rPr kumimoji="1" lang="en-US" altLang="zh-CN" sz="1400" dirty="0">
                <a:latin typeface="微软雅黑" panose="020B0503020204020204" pitchFamily="34" charset="-122"/>
                <a:ea typeface="微软雅黑" panose="020B0503020204020204" pitchFamily="34" charset="-122"/>
              </a:rPr>
              <a:t>seq2seq+attention</a:t>
            </a:r>
            <a:r>
              <a:rPr kumimoji="1" lang="zh-CN" altLang="en-US" sz="1400" dirty="0">
                <a:latin typeface="微软雅黑" panose="020B0503020204020204" pitchFamily="34" charset="-122"/>
                <a:ea typeface="微软雅黑" panose="020B0503020204020204" pitchFamily="34" charset="-122"/>
              </a:rPr>
              <a:t>的模型分数</a:t>
            </a:r>
          </a:p>
        </p:txBody>
      </p:sp>
      <p:sp>
        <p:nvSpPr>
          <p:cNvPr id="22" name="文本框 21">
            <a:extLst>
              <a:ext uri="{FF2B5EF4-FFF2-40B4-BE49-F238E27FC236}">
                <a16:creationId xmlns:a16="http://schemas.microsoft.com/office/drawing/2014/main" id="{C370D7E8-E845-4B70-A6CE-6C8915A6BAA2}"/>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实验结果</a:t>
            </a:r>
          </a:p>
        </p:txBody>
      </p:sp>
    </p:spTree>
    <p:extLst>
      <p:ext uri="{BB962C8B-B14F-4D97-AF65-F5344CB8AC3E}">
        <p14:creationId xmlns:p14="http://schemas.microsoft.com/office/powerpoint/2010/main" val="1600399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706F3D8F-FAAA-2140-B796-1157B4BE68D0}"/>
              </a:ext>
            </a:extLst>
          </p:cNvPr>
          <p:cNvGrpSpPr/>
          <p:nvPr/>
        </p:nvGrpSpPr>
        <p:grpSpPr>
          <a:xfrm>
            <a:off x="0" y="-1"/>
            <a:ext cx="12192000" cy="6858002"/>
            <a:chOff x="0" y="-1"/>
            <a:chExt cx="12192000" cy="6858002"/>
          </a:xfrm>
        </p:grpSpPr>
        <p:sp>
          <p:nvSpPr>
            <p:cNvPr id="41" name="矩形 40">
              <a:extLst>
                <a:ext uri="{FF2B5EF4-FFF2-40B4-BE49-F238E27FC236}">
                  <a16:creationId xmlns:a16="http://schemas.microsoft.com/office/drawing/2014/main" id="{91AEFDA7-4F58-8342-A9E1-CBBEDB06E01B}"/>
                </a:ext>
              </a:extLst>
            </p:cNvPr>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2" name="矩形 41">
              <a:extLst>
                <a:ext uri="{FF2B5EF4-FFF2-40B4-BE49-F238E27FC236}">
                  <a16:creationId xmlns:a16="http://schemas.microsoft.com/office/drawing/2014/main" id="{7519A2E4-7654-7049-8574-E43694ED98FB}"/>
                </a:ext>
              </a:extLst>
            </p:cNvPr>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3" name="矩形 42">
              <a:extLst>
                <a:ext uri="{FF2B5EF4-FFF2-40B4-BE49-F238E27FC236}">
                  <a16:creationId xmlns:a16="http://schemas.microsoft.com/office/drawing/2014/main" id="{3A78FB99-47D7-DA43-90CB-EBB967406AA4}"/>
                </a:ext>
              </a:extLst>
            </p:cNvPr>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44" name="组合 43">
            <a:extLst>
              <a:ext uri="{FF2B5EF4-FFF2-40B4-BE49-F238E27FC236}">
                <a16:creationId xmlns:a16="http://schemas.microsoft.com/office/drawing/2014/main" id="{77B7BD4A-0299-7142-A299-2C8531632FCA}"/>
              </a:ext>
            </a:extLst>
          </p:cNvPr>
          <p:cNvGrpSpPr/>
          <p:nvPr/>
        </p:nvGrpSpPr>
        <p:grpSpPr>
          <a:xfrm>
            <a:off x="133400" y="140547"/>
            <a:ext cx="11901234" cy="6795389"/>
            <a:chOff x="133400" y="140547"/>
            <a:chExt cx="11901234" cy="6795389"/>
          </a:xfrm>
        </p:grpSpPr>
        <p:pic>
          <p:nvPicPr>
            <p:cNvPr id="45" name="图片 44">
              <a:extLst>
                <a:ext uri="{FF2B5EF4-FFF2-40B4-BE49-F238E27FC236}">
                  <a16:creationId xmlns:a16="http://schemas.microsoft.com/office/drawing/2014/main" id="{5F8EFFCB-99B0-654F-8FED-0485190172FD}"/>
                </a:ext>
              </a:extLst>
            </p:cNvPr>
            <p:cNvPicPr>
              <a:picLocks noChangeAspect="1"/>
            </p:cNvPicPr>
            <p:nvPr/>
          </p:nvPicPr>
          <p:blipFill>
            <a:blip r:embed="rId3" cstate="screen">
              <a:alphaModFix amt="70000"/>
              <a:extLst>
                <a:ext uri="{28A0092B-C50C-407E-A947-70E740481C1C}">
                  <a14:useLocalDpi xmlns:a14="http://schemas.microsoft.com/office/drawing/2010/main"/>
                </a:ext>
              </a:extLst>
            </a:blip>
            <a:stretch>
              <a:fillRect/>
            </a:stretch>
          </p:blipFill>
          <p:spPr>
            <a:xfrm>
              <a:off x="9840416" y="140547"/>
              <a:ext cx="2031325" cy="403124"/>
            </a:xfrm>
            <a:prstGeom prst="rect">
              <a:avLst/>
            </a:prstGeom>
          </p:spPr>
        </p:pic>
        <p:pic>
          <p:nvPicPr>
            <p:cNvPr id="46" name="图片 45">
              <a:extLst>
                <a:ext uri="{FF2B5EF4-FFF2-40B4-BE49-F238E27FC236}">
                  <a16:creationId xmlns:a16="http://schemas.microsoft.com/office/drawing/2014/main" id="{93080F77-5917-384C-AFD1-66264B40DFAC}"/>
                </a:ext>
              </a:extLst>
            </p:cNvPr>
            <p:cNvPicPr>
              <a:picLocks noChangeAspect="1"/>
            </p:cNvPicPr>
            <p:nvPr/>
          </p:nvPicPr>
          <p:blipFill>
            <a:blip r:embed="rId4" cstate="screen">
              <a:alphaModFix amt="50000"/>
              <a:extLst>
                <a:ext uri="{28A0092B-C50C-407E-A947-70E740481C1C}">
                  <a14:useLocalDpi xmlns:a14="http://schemas.microsoft.com/office/drawing/2010/main"/>
                </a:ext>
              </a:extLst>
            </a:blip>
            <a:stretch>
              <a:fillRect/>
            </a:stretch>
          </p:blipFill>
          <p:spPr>
            <a:xfrm>
              <a:off x="8996245" y="6572902"/>
              <a:ext cx="3038389" cy="185483"/>
            </a:xfrm>
            <a:prstGeom prst="rect">
              <a:avLst/>
            </a:prstGeom>
          </p:spPr>
        </p:pic>
        <p:pic>
          <p:nvPicPr>
            <p:cNvPr id="47" name="图片 46" descr="图片包含 游戏机, 画, 钟表&#10;&#10;描述已自动生成">
              <a:extLst>
                <a:ext uri="{FF2B5EF4-FFF2-40B4-BE49-F238E27FC236}">
                  <a16:creationId xmlns:a16="http://schemas.microsoft.com/office/drawing/2014/main" id="{FE29D0C4-9C03-A64C-8458-ED23D8D76224}"/>
                </a:ext>
              </a:extLst>
            </p:cNvPr>
            <p:cNvPicPr>
              <a:picLocks noChangeAspect="1"/>
            </p:cNvPicPr>
            <p:nvPr/>
          </p:nvPicPr>
          <p:blipFill>
            <a:blip r:embed="rId5"/>
            <a:stretch>
              <a:fillRect/>
            </a:stretch>
          </p:blipFill>
          <p:spPr>
            <a:xfrm>
              <a:off x="133400" y="6453336"/>
              <a:ext cx="2362200" cy="482600"/>
            </a:xfrm>
            <a:prstGeom prst="rect">
              <a:avLst/>
            </a:prstGeom>
          </p:spPr>
        </p:pic>
      </p:grpSp>
      <p:sp>
        <p:nvSpPr>
          <p:cNvPr id="26" name="文本框 25">
            <a:extLst>
              <a:ext uri="{FF2B5EF4-FFF2-40B4-BE49-F238E27FC236}">
                <a16:creationId xmlns:a16="http://schemas.microsoft.com/office/drawing/2014/main" id="{82F18CD3-DE75-C848-9FBA-320AB9E7D598}"/>
              </a:ext>
            </a:extLst>
          </p:cNvPr>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04</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27" name="直线连接符 26">
            <a:extLst>
              <a:ext uri="{FF2B5EF4-FFF2-40B4-BE49-F238E27FC236}">
                <a16:creationId xmlns:a16="http://schemas.microsoft.com/office/drawing/2014/main" id="{CF6F5025-52DE-844A-8B12-050285F53236}"/>
              </a:ext>
            </a:extLst>
          </p:cNvPr>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572B192-1A8B-0944-BC5E-3183B0CBCBA6}"/>
              </a:ext>
            </a:extLst>
          </p:cNvPr>
          <p:cNvSpPr txBox="1"/>
          <p:nvPr/>
        </p:nvSpPr>
        <p:spPr>
          <a:xfrm>
            <a:off x="1008331" y="124472"/>
            <a:ext cx="156966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Microsoft YaHei" panose="020B0503020204020204" pitchFamily="34" charset="-122"/>
                <a:cs typeface="Arial" panose="020B0604020202020204" pitchFamily="34" charset="0"/>
              </a:rPr>
              <a:t>实验结果</a:t>
            </a:r>
          </a:p>
        </p:txBody>
      </p:sp>
      <p:sp>
        <p:nvSpPr>
          <p:cNvPr id="14" name="文本框 13">
            <a:extLst>
              <a:ext uri="{FF2B5EF4-FFF2-40B4-BE49-F238E27FC236}">
                <a16:creationId xmlns:a16="http://schemas.microsoft.com/office/drawing/2014/main" id="{124A3600-F159-B64D-BF63-4388A1F5289C}"/>
              </a:ext>
            </a:extLst>
          </p:cNvPr>
          <p:cNvSpPr txBox="1"/>
          <p:nvPr/>
        </p:nvSpPr>
        <p:spPr>
          <a:xfrm>
            <a:off x="844417" y="1251897"/>
            <a:ext cx="948744" cy="461665"/>
          </a:xfrm>
          <a:prstGeom prst="rect">
            <a:avLst/>
          </a:prstGeom>
          <a:noFill/>
        </p:spPr>
        <p:txBody>
          <a:bodyPr wrap="square" rtlCol="0">
            <a:spAutoFit/>
          </a:bodyPr>
          <a:lstStyle/>
          <a:p>
            <a:pPr algn="l"/>
            <a:r>
              <a:rPr kumimoji="1" lang="zh-CN" altLang="en-US" sz="2400" b="1" spc="300" dirty="0">
                <a:gradFill>
                  <a:gsLst>
                    <a:gs pos="0">
                      <a:srgbClr val="C00000"/>
                    </a:gs>
                    <a:gs pos="100000">
                      <a:srgbClr val="770504"/>
                    </a:gs>
                  </a:gsLst>
                  <a:lin ang="5400000" scaled="0"/>
                </a:gradFill>
                <a:latin typeface="Arial" panose="020B0604020202020204" pitchFamily="34" charset="0"/>
                <a:ea typeface="Microsoft YaHei" panose="020B0503020204020204" pitchFamily="34" charset="-122"/>
                <a:cs typeface="Arial" panose="020B0604020202020204" pitchFamily="34" charset="0"/>
              </a:rPr>
              <a:t>结论</a:t>
            </a:r>
          </a:p>
        </p:txBody>
      </p:sp>
      <p:cxnSp>
        <p:nvCxnSpPr>
          <p:cNvPr id="16" name="直线连接符 15">
            <a:extLst>
              <a:ext uri="{FF2B5EF4-FFF2-40B4-BE49-F238E27FC236}">
                <a16:creationId xmlns:a16="http://schemas.microsoft.com/office/drawing/2014/main" id="{D8648111-DA66-0C4F-8D4E-74F9F9E79346}"/>
              </a:ext>
            </a:extLst>
          </p:cNvPr>
          <p:cNvCxnSpPr>
            <a:cxnSpLocks/>
          </p:cNvCxnSpPr>
          <p:nvPr/>
        </p:nvCxnSpPr>
        <p:spPr>
          <a:xfrm>
            <a:off x="980974" y="1791497"/>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4A92B6B6-031E-467A-A5DF-1AC5AD4EDB59}"/>
              </a:ext>
            </a:extLst>
          </p:cNvPr>
          <p:cNvSpPr txBox="1"/>
          <p:nvPr/>
        </p:nvSpPr>
        <p:spPr>
          <a:xfrm>
            <a:off x="980974" y="1911064"/>
            <a:ext cx="9869906" cy="4111510"/>
          </a:xfrm>
          <a:prstGeom prst="rect">
            <a:avLst/>
          </a:prstGeom>
          <a:noFill/>
        </p:spPr>
        <p:txBody>
          <a:bodyPr wrap="square" rtlCol="0">
            <a:spAutoFit/>
          </a:bodyPr>
          <a:lstStyle/>
          <a:p>
            <a:pPr indent="180000">
              <a:lnSpc>
                <a:spcPct val="150000"/>
              </a:lnSpc>
            </a:pPr>
            <a:r>
              <a:rPr kumimoji="1" lang="zh-CN" altLang="en-US" sz="1600" dirty="0">
                <a:latin typeface="微软雅黑" panose="020B0503020204020204" pitchFamily="34" charset="-122"/>
                <a:ea typeface="微软雅黑" panose="020B0503020204020204" pitchFamily="34" charset="-122"/>
              </a:rPr>
              <a:t>    在软件系统中，正式化的文档规范有着举足轻重的作用，不论对软件的维护，还是对开发人员的调试来说，规范文档都扮演者重要的角色。本文根据前人的研究实现了一种基于深度学习的自动机规范挖掘器，该软件的设计基于递归神经网络的语言模型（</a:t>
            </a:r>
            <a:r>
              <a:rPr kumimoji="1" lang="en-US" altLang="zh-CN" sz="1600" dirty="0">
                <a:latin typeface="微软雅黑" panose="020B0503020204020204" pitchFamily="34" charset="-122"/>
                <a:ea typeface="微软雅黑" panose="020B0503020204020204" pitchFamily="34" charset="-122"/>
              </a:rPr>
              <a:t>RNNLM</a:t>
            </a:r>
            <a:r>
              <a:rPr kumimoji="1" lang="zh-CN" altLang="en-US" sz="1600" dirty="0">
                <a:latin typeface="微软雅黑" panose="020B0503020204020204" pitchFamily="34" charset="-122"/>
                <a:ea typeface="微软雅黑" panose="020B0503020204020204" pitchFamily="34" charset="-122"/>
              </a:rPr>
              <a:t>）来挖掘出执行序列中的规范，并推断出有限状态自动机模型（</a:t>
            </a:r>
            <a:r>
              <a:rPr kumimoji="1" lang="en-US" altLang="zh-CN" sz="1600" dirty="0">
                <a:latin typeface="微软雅黑" panose="020B0503020204020204" pitchFamily="34" charset="-122"/>
                <a:ea typeface="微软雅黑" panose="020B0503020204020204" pitchFamily="34" charset="-122"/>
              </a:rPr>
              <a:t>FSA</a:t>
            </a:r>
            <a:r>
              <a:rPr kumimoji="1" lang="zh-CN" altLang="en-US" sz="1600" dirty="0">
                <a:latin typeface="微软雅黑" panose="020B0503020204020204" pitchFamily="34" charset="-122"/>
                <a:ea typeface="微软雅黑" panose="020B0503020204020204" pitchFamily="34" charset="-122"/>
              </a:rPr>
              <a:t>）。整个设计工作所使用的数据集采用了前人在规范挖掘中生成好的数据集，包含</a:t>
            </a:r>
            <a:r>
              <a:rPr kumimoji="1" lang="en-US" altLang="zh-CN" sz="1600" dirty="0">
                <a:latin typeface="微软雅黑" panose="020B0503020204020204" pitchFamily="34" charset="-122"/>
                <a:ea typeface="微软雅黑" panose="020B0503020204020204" pitchFamily="34" charset="-122"/>
              </a:rPr>
              <a:t>11</a:t>
            </a:r>
            <a:r>
              <a:rPr kumimoji="1" lang="zh-CN" altLang="en-US" sz="1600" dirty="0">
                <a:latin typeface="微软雅黑" panose="020B0503020204020204" pitchFamily="34" charset="-122"/>
                <a:ea typeface="微软雅黑" panose="020B0503020204020204" pitchFamily="34" charset="-122"/>
              </a:rPr>
              <a:t>种目标类库，并作为训练集来训练基于递归神经网络语言模型（</a:t>
            </a:r>
            <a:r>
              <a:rPr kumimoji="1" lang="en-US" altLang="zh-CN" sz="1600" dirty="0">
                <a:latin typeface="微软雅黑" panose="020B0503020204020204" pitchFamily="34" charset="-122"/>
                <a:ea typeface="微软雅黑" panose="020B0503020204020204" pitchFamily="34" charset="-122"/>
              </a:rPr>
              <a:t>RNNLM</a:t>
            </a:r>
            <a:r>
              <a:rPr kumimoji="1" lang="zh-CN" altLang="en-US" sz="1600" dirty="0">
                <a:latin typeface="微软雅黑" panose="020B0503020204020204" pitchFamily="34" charset="-122"/>
                <a:ea typeface="微软雅黑" panose="020B0503020204020204" pitchFamily="34" charset="-122"/>
              </a:rPr>
              <a:t>）。本文对前人的研究工作进行了改进，使得算法输出的</a:t>
            </a:r>
            <a:r>
              <a:rPr kumimoji="1" lang="en-US" altLang="zh-CN" sz="1600" dirty="0">
                <a:latin typeface="微软雅黑" panose="020B0503020204020204" pitchFamily="34" charset="-122"/>
                <a:ea typeface="微软雅黑" panose="020B0503020204020204" pitchFamily="34" charset="-122"/>
              </a:rPr>
              <a:t>FSA</a:t>
            </a:r>
            <a:r>
              <a:rPr kumimoji="1" lang="zh-CN" altLang="en-US" sz="1600" dirty="0">
                <a:latin typeface="微软雅黑" panose="020B0503020204020204" pitchFamily="34" charset="-122"/>
                <a:ea typeface="微软雅黑" panose="020B0503020204020204" pitchFamily="34" charset="-122"/>
              </a:rPr>
              <a:t>模型</a:t>
            </a:r>
            <a:r>
              <a:rPr kumimoji="1" lang="en-US" altLang="zh-CN" sz="1600" dirty="0">
                <a:latin typeface="微软雅黑" panose="020B0503020204020204" pitchFamily="34" charset="-122"/>
                <a:ea typeface="微软雅黑" panose="020B0503020204020204" pitchFamily="34" charset="-122"/>
              </a:rPr>
              <a:t>F1</a:t>
            </a:r>
            <a:r>
              <a:rPr kumimoji="1" lang="zh-CN" altLang="en-US" sz="1600" dirty="0">
                <a:latin typeface="微软雅黑" panose="020B0503020204020204" pitchFamily="34" charset="-122"/>
                <a:ea typeface="微软雅黑" panose="020B0503020204020204" pitchFamily="34" charset="-122"/>
              </a:rPr>
              <a:t>分数更高，具体包括：使用编码器</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解码器网络和注意力机制重新搭建了基于递归神经网络的语言模型（</a:t>
            </a:r>
            <a:r>
              <a:rPr kumimoji="1" lang="en-US" altLang="zh-CN" sz="1600" dirty="0">
                <a:latin typeface="微软雅黑" panose="020B0503020204020204" pitchFamily="34" charset="-122"/>
                <a:ea typeface="微软雅黑" panose="020B0503020204020204" pitchFamily="34" charset="-122"/>
              </a:rPr>
              <a:t>RNNLM</a:t>
            </a:r>
            <a:r>
              <a:rPr kumimoji="1" lang="zh-CN" altLang="en-US" sz="1600" dirty="0">
                <a:latin typeface="微软雅黑" panose="020B0503020204020204" pitchFamily="34" charset="-122"/>
                <a:ea typeface="微软雅黑" panose="020B0503020204020204" pitchFamily="34" charset="-122"/>
              </a:rPr>
              <a:t>），以及在后续的自动机构建的聚类子步骤新增加了不需要参数的聚类算法</a:t>
            </a:r>
            <a:r>
              <a:rPr kumimoji="1" lang="en-US" altLang="zh-CN" sz="1600" dirty="0">
                <a:latin typeface="微软雅黑" panose="020B0503020204020204" pitchFamily="34" charset="-122"/>
                <a:ea typeface="微软雅黑" panose="020B0503020204020204" pitchFamily="34" charset="-122"/>
              </a:rPr>
              <a:t>——DBSCAN</a:t>
            </a:r>
            <a:r>
              <a:rPr kumimoji="1" lang="zh-CN" altLang="en-US" sz="1600" dirty="0">
                <a:latin typeface="微软雅黑" panose="020B0503020204020204" pitchFamily="34" charset="-122"/>
                <a:ea typeface="微软雅黑" panose="020B0503020204020204" pitchFamily="34" charset="-122"/>
              </a:rPr>
              <a:t>来合并前缀树接受器（</a:t>
            </a:r>
            <a:r>
              <a:rPr kumimoji="1" lang="en-US" altLang="zh-CN" sz="1600" dirty="0">
                <a:latin typeface="微软雅黑" panose="020B0503020204020204" pitchFamily="34" charset="-122"/>
                <a:ea typeface="微软雅黑" panose="020B0503020204020204" pitchFamily="34" charset="-122"/>
              </a:rPr>
              <a:t>PTA</a:t>
            </a:r>
            <a:r>
              <a:rPr kumimoji="1" lang="zh-CN" altLang="en-US" sz="1600" dirty="0">
                <a:latin typeface="微软雅黑" panose="020B0503020204020204" pitchFamily="34" charset="-122"/>
                <a:ea typeface="微软雅黑" panose="020B0503020204020204" pitchFamily="34" charset="-122"/>
              </a:rPr>
              <a:t>）的相似状态节点。</a:t>
            </a:r>
          </a:p>
          <a:p>
            <a:pPr indent="180000">
              <a:lnSpc>
                <a:spcPct val="150000"/>
              </a:lnSpc>
            </a:pPr>
            <a:r>
              <a:rPr kumimoji="1" lang="zh-CN" altLang="en-US" sz="1600" dirty="0">
                <a:latin typeface="微软雅黑" panose="020B0503020204020204" pitchFamily="34" charset="-122"/>
                <a:ea typeface="微软雅黑" panose="020B0503020204020204" pitchFamily="34" charset="-122"/>
              </a:rPr>
              <a:t>    对基于递归神经网络的基本语言模型使用了编码器</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解码器网络和注意力机制，使得模型的损失（</a:t>
            </a:r>
            <a:r>
              <a:rPr kumimoji="1" lang="en-US" altLang="zh-CN" sz="1600" dirty="0">
                <a:latin typeface="微软雅黑" panose="020B0503020204020204" pitchFamily="34" charset="-122"/>
                <a:ea typeface="微软雅黑" panose="020B0503020204020204" pitchFamily="34" charset="-122"/>
              </a:rPr>
              <a:t>loss</a:t>
            </a:r>
            <a:r>
              <a:rPr kumimoji="1" lang="zh-CN" altLang="en-US" sz="1600" dirty="0">
                <a:latin typeface="微软雅黑" panose="020B0503020204020204" pitchFamily="34" charset="-122"/>
                <a:ea typeface="微软雅黑" panose="020B0503020204020204" pitchFamily="34" charset="-122"/>
              </a:rPr>
              <a:t>）较普通的</a:t>
            </a:r>
            <a:r>
              <a:rPr kumimoji="1" lang="en-US" altLang="zh-CN" sz="1600" dirty="0">
                <a:latin typeface="微软雅黑" panose="020B0503020204020204" pitchFamily="34" charset="-122"/>
                <a:ea typeface="微软雅黑" panose="020B0503020204020204" pitchFamily="34" charset="-122"/>
              </a:rPr>
              <a:t>RNN</a:t>
            </a:r>
            <a:r>
              <a:rPr kumimoji="1" lang="zh-CN" altLang="en-US" sz="1600" dirty="0">
                <a:latin typeface="微软雅黑" panose="020B0503020204020204" pitchFamily="34" charset="-122"/>
                <a:ea typeface="微软雅黑" panose="020B0503020204020204" pitchFamily="34" charset="-122"/>
              </a:rPr>
              <a:t>语言模型更小，对后续搭建的前缀树接收器的状态节点的特征信息捕捉的更加精确，生成的模型鲁棒性和泛化性也更强。</a:t>
            </a:r>
          </a:p>
        </p:txBody>
      </p:sp>
    </p:spTree>
    <p:extLst>
      <p:ext uri="{BB962C8B-B14F-4D97-AF65-F5344CB8AC3E}">
        <p14:creationId xmlns:p14="http://schemas.microsoft.com/office/powerpoint/2010/main" val="1751055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A675363A-0911-7349-A790-22877BA5C207}"/>
              </a:ext>
            </a:extLst>
          </p:cNvPr>
          <p:cNvSpPr/>
          <p:nvPr/>
        </p:nvSpPr>
        <p:spPr>
          <a:xfrm>
            <a:off x="346287" y="375495"/>
            <a:ext cx="11462658" cy="6077693"/>
          </a:xfrm>
          <a:prstGeom prst="rect">
            <a:avLst/>
          </a:prstGeom>
          <a:gradFill>
            <a:gsLst>
              <a:gs pos="0">
                <a:schemeClr val="bg1">
                  <a:alpha val="7000"/>
                </a:schemeClr>
              </a:gs>
              <a:gs pos="38000">
                <a:schemeClr val="bg1">
                  <a:alpha val="0"/>
                </a:schemeClr>
              </a:gs>
              <a:gs pos="62000">
                <a:schemeClr val="bg1">
                  <a:alpha val="0"/>
                </a:schemeClr>
              </a:gs>
              <a:gs pos="100000">
                <a:schemeClr val="bg1">
                  <a:alpha val="7000"/>
                </a:schemeClr>
              </a:gs>
            </a:gsLst>
            <a:lin ang="0" scaled="0"/>
          </a:gradFill>
          <a:ln w="19050">
            <a:gradFill>
              <a:gsLst>
                <a:gs pos="0">
                  <a:schemeClr val="bg1"/>
                </a:gs>
                <a:gs pos="38000">
                  <a:schemeClr val="bg1">
                    <a:alpha val="0"/>
                  </a:schemeClr>
                </a:gs>
                <a:gs pos="62000">
                  <a:schemeClr val="bg1">
                    <a:alpha val="0"/>
                  </a:schemeClr>
                </a:gs>
                <a:gs pos="100000">
                  <a:schemeClr val="bg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pic>
        <p:nvPicPr>
          <p:cNvPr id="9" name="图片 8" descr="图片包含 游戏机, 画, 钟表&#10;&#10;描述已自动生成">
            <a:extLst>
              <a:ext uri="{FF2B5EF4-FFF2-40B4-BE49-F238E27FC236}">
                <a16:creationId xmlns:a16="http://schemas.microsoft.com/office/drawing/2014/main" id="{A1AD7DCB-39D2-A84B-9C99-0071993CE64C}"/>
              </a:ext>
            </a:extLst>
          </p:cNvPr>
          <p:cNvPicPr>
            <a:picLocks noChangeAspect="1"/>
          </p:cNvPicPr>
          <p:nvPr/>
        </p:nvPicPr>
        <p:blipFill>
          <a:blip r:embed="rId3">
            <a:alphaModFix/>
          </a:blip>
          <a:stretch>
            <a:fillRect/>
          </a:stretch>
        </p:blipFill>
        <p:spPr>
          <a:xfrm>
            <a:off x="4586145" y="122295"/>
            <a:ext cx="3019710" cy="616930"/>
          </a:xfrm>
          <a:prstGeom prst="rect">
            <a:avLst/>
          </a:prstGeom>
        </p:spPr>
      </p:pic>
      <p:pic>
        <p:nvPicPr>
          <p:cNvPr id="8" name="图片 7">
            <a:extLst>
              <a:ext uri="{FF2B5EF4-FFF2-40B4-BE49-F238E27FC236}">
                <a16:creationId xmlns:a16="http://schemas.microsoft.com/office/drawing/2014/main" id="{8394D919-8A2D-A84C-BAF8-4EC45AF87A4C}"/>
              </a:ext>
            </a:extLst>
          </p:cNvPr>
          <p:cNvPicPr>
            <a:picLocks noChangeAspect="1"/>
          </p:cNvPicPr>
          <p:nvPr/>
        </p:nvPicPr>
        <p:blipFill>
          <a:blip r:embed="rId4" cstate="screen">
            <a:alphaModFix amt="70000"/>
            <a:extLst>
              <a:ext uri="{28A0092B-C50C-407E-A947-70E740481C1C}">
                <a14:useLocalDpi xmlns:a14="http://schemas.microsoft.com/office/drawing/2010/main"/>
              </a:ext>
            </a:extLst>
          </a:blip>
          <a:stretch>
            <a:fillRect/>
          </a:stretch>
        </p:blipFill>
        <p:spPr>
          <a:xfrm>
            <a:off x="5052435" y="6220399"/>
            <a:ext cx="2050361" cy="406902"/>
          </a:xfrm>
          <a:prstGeom prst="rect">
            <a:avLst/>
          </a:prstGeom>
        </p:spPr>
      </p:pic>
      <p:pic>
        <p:nvPicPr>
          <p:cNvPr id="10" name="图片 9" descr="图片包含 游戏机, 画&#10;&#10;描述已自动生成">
            <a:extLst>
              <a:ext uri="{FF2B5EF4-FFF2-40B4-BE49-F238E27FC236}">
                <a16:creationId xmlns:a16="http://schemas.microsoft.com/office/drawing/2014/main" id="{BC032A8A-9A5B-E04A-8688-CFB6EABBDEED}"/>
              </a:ext>
            </a:extLst>
          </p:cNvPr>
          <p:cNvPicPr>
            <a:picLocks noChangeAspect="1"/>
          </p:cNvPicPr>
          <p:nvPr/>
        </p:nvPicPr>
        <p:blipFill>
          <a:blip r:embed="rId5">
            <a:alphaModFix amt="50000"/>
          </a:blip>
          <a:stretch>
            <a:fillRect/>
          </a:stretch>
        </p:blipFill>
        <p:spPr>
          <a:xfrm>
            <a:off x="1133960" y="690867"/>
            <a:ext cx="9887309" cy="3229854"/>
          </a:xfrm>
          <a:prstGeom prst="rect">
            <a:avLst/>
          </a:prstGeom>
        </p:spPr>
      </p:pic>
      <p:cxnSp>
        <p:nvCxnSpPr>
          <p:cNvPr id="6" name="直线连接符 5">
            <a:extLst>
              <a:ext uri="{FF2B5EF4-FFF2-40B4-BE49-F238E27FC236}">
                <a16:creationId xmlns:a16="http://schemas.microsoft.com/office/drawing/2014/main" id="{62D31072-9148-A448-94A2-250D1731788C}"/>
              </a:ext>
            </a:extLst>
          </p:cNvPr>
          <p:cNvCxnSpPr/>
          <p:nvPr/>
        </p:nvCxnSpPr>
        <p:spPr>
          <a:xfrm>
            <a:off x="2854036" y="3541855"/>
            <a:ext cx="6483928" cy="0"/>
          </a:xfrm>
          <a:prstGeom prst="line">
            <a:avLst/>
          </a:prstGeom>
          <a:ln w="19050">
            <a:gradFill>
              <a:gsLst>
                <a:gs pos="50000">
                  <a:schemeClr val="bg1"/>
                </a:gs>
                <a:gs pos="0">
                  <a:schemeClr val="bg1">
                    <a:lumMod val="100000"/>
                    <a:alpha val="0"/>
                  </a:schemeClr>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B9ACE458-F215-D84F-BB6D-5BBE8C77EC27}"/>
              </a:ext>
            </a:extLst>
          </p:cNvPr>
          <p:cNvGrpSpPr/>
          <p:nvPr/>
        </p:nvGrpSpPr>
        <p:grpSpPr>
          <a:xfrm>
            <a:off x="4742136" y="4632957"/>
            <a:ext cx="2714144" cy="1097803"/>
            <a:chOff x="4742136" y="4772657"/>
            <a:chExt cx="2714144" cy="1097803"/>
          </a:xfrm>
        </p:grpSpPr>
        <p:sp>
          <p:nvSpPr>
            <p:cNvPr id="21" name="文本框 20">
              <a:extLst>
                <a:ext uri="{FF2B5EF4-FFF2-40B4-BE49-F238E27FC236}">
                  <a16:creationId xmlns:a16="http://schemas.microsoft.com/office/drawing/2014/main" id="{889BAB28-A9B8-7E45-B447-7EF61401765E}"/>
                </a:ext>
              </a:extLst>
            </p:cNvPr>
            <p:cNvSpPr txBox="1"/>
            <p:nvPr/>
          </p:nvSpPr>
          <p:spPr>
            <a:xfrm>
              <a:off x="5323689" y="5593461"/>
              <a:ext cx="1625766" cy="276999"/>
            </a:xfrm>
            <a:prstGeom prst="rect">
              <a:avLst/>
            </a:prstGeom>
            <a:noFill/>
          </p:spPr>
          <p:txBody>
            <a:bodyPr wrap="none" rtlCol="0">
              <a:spAutoFit/>
            </a:bodyPr>
            <a:lstStyle/>
            <a:p>
              <a:pPr algn="ctr"/>
              <a:r>
                <a:rPr kumimoji="1" lang="en-US" altLang="zh-CN" sz="1200" spc="300" dirty="0">
                  <a:solidFill>
                    <a:schemeClr val="bg1"/>
                  </a:solidFill>
                  <a:latin typeface="Arial" panose="020B0604020202020204" pitchFamily="34" charset="0"/>
                  <a:ea typeface="Microsoft YaHei Light" panose="020B0503020204020204" pitchFamily="34" charset="-122"/>
                  <a:cs typeface="Arial" panose="020B0604020202020204" pitchFamily="34" charset="0"/>
                </a:rPr>
                <a:t>2020</a:t>
              </a:r>
              <a:r>
                <a:rPr kumimoji="1" lang="zh-CN" altLang="en-US" sz="1200" spc="300" dirty="0">
                  <a:solidFill>
                    <a:schemeClr val="bg1"/>
                  </a:solidFill>
                  <a:latin typeface="Arial" panose="020B0604020202020204" pitchFamily="34" charset="0"/>
                  <a:ea typeface="Microsoft YaHei Light" panose="020B0503020204020204" pitchFamily="34" charset="-122"/>
                  <a:cs typeface="Arial" panose="020B0604020202020204" pitchFamily="34" charset="0"/>
                </a:rPr>
                <a:t>年</a:t>
              </a:r>
              <a:r>
                <a:rPr kumimoji="1" lang="en-US" altLang="zh-CN" sz="1200" spc="300" dirty="0">
                  <a:solidFill>
                    <a:schemeClr val="bg1"/>
                  </a:solidFill>
                  <a:latin typeface="Arial" panose="020B0604020202020204" pitchFamily="34" charset="0"/>
                  <a:ea typeface="Microsoft YaHei Light" panose="020B0503020204020204" pitchFamily="34" charset="-122"/>
                  <a:cs typeface="Arial" panose="020B0604020202020204" pitchFamily="34" charset="0"/>
                </a:rPr>
                <a:t>5</a:t>
              </a:r>
              <a:r>
                <a:rPr kumimoji="1" lang="zh-CN" altLang="en-US" sz="1200" spc="300" dirty="0">
                  <a:solidFill>
                    <a:schemeClr val="bg1"/>
                  </a:solidFill>
                  <a:latin typeface="Arial" panose="020B0604020202020204" pitchFamily="34" charset="0"/>
                  <a:ea typeface="Microsoft YaHei Light" panose="020B0503020204020204" pitchFamily="34" charset="-122"/>
                  <a:cs typeface="Arial" panose="020B0604020202020204" pitchFamily="34" charset="0"/>
                </a:rPr>
                <a:t>月</a:t>
              </a:r>
              <a:r>
                <a:rPr kumimoji="1" lang="en-US" altLang="zh-CN" sz="1200" spc="300" dirty="0">
                  <a:solidFill>
                    <a:schemeClr val="bg1"/>
                  </a:solidFill>
                  <a:latin typeface="Arial" panose="020B0604020202020204" pitchFamily="34" charset="0"/>
                  <a:ea typeface="Microsoft YaHei Light" panose="020B0503020204020204" pitchFamily="34" charset="-122"/>
                  <a:cs typeface="Arial" panose="020B0604020202020204" pitchFamily="34" charset="0"/>
                </a:rPr>
                <a:t>29</a:t>
              </a:r>
              <a:r>
                <a:rPr kumimoji="1" lang="zh-CN" altLang="en-US" sz="1200" spc="300" dirty="0">
                  <a:solidFill>
                    <a:schemeClr val="bg1"/>
                  </a:solidFill>
                  <a:latin typeface="Arial" panose="020B0604020202020204" pitchFamily="34" charset="0"/>
                  <a:ea typeface="Microsoft YaHei Light" panose="020B0503020204020204" pitchFamily="34" charset="-122"/>
                  <a:cs typeface="Arial" panose="020B0604020202020204" pitchFamily="34" charset="0"/>
                </a:rPr>
                <a:t>日</a:t>
              </a:r>
            </a:p>
          </p:txBody>
        </p:sp>
        <p:sp>
          <p:nvSpPr>
            <p:cNvPr id="24" name="文本框 23">
              <a:extLst>
                <a:ext uri="{FF2B5EF4-FFF2-40B4-BE49-F238E27FC236}">
                  <a16:creationId xmlns:a16="http://schemas.microsoft.com/office/drawing/2014/main" id="{2E9BB50C-A9C6-514B-8497-F01081206BDF}"/>
                </a:ext>
              </a:extLst>
            </p:cNvPr>
            <p:cNvSpPr txBox="1"/>
            <p:nvPr/>
          </p:nvSpPr>
          <p:spPr>
            <a:xfrm>
              <a:off x="4799842" y="4772657"/>
              <a:ext cx="1146468" cy="338554"/>
            </a:xfrm>
            <a:prstGeom prst="rect">
              <a:avLst/>
            </a:prstGeom>
            <a:noFill/>
          </p:spPr>
          <p:txBody>
            <a:bodyPr wrap="none" rtlCol="0">
              <a:spAutoFit/>
            </a:bodyPr>
            <a:lstStyle/>
            <a:p>
              <a:pPr algn="ctr"/>
              <a:r>
                <a:rPr kumimoji="1" lang="zh-CN" altLang="en-US" sz="1600" spc="900" dirty="0">
                  <a:solidFill>
                    <a:schemeClr val="bg1"/>
                  </a:solidFill>
                  <a:latin typeface="Arial" panose="020B0604020202020204" pitchFamily="34" charset="0"/>
                  <a:ea typeface="Microsoft YaHei Light" panose="020B0503020204020204" pitchFamily="34" charset="-122"/>
                  <a:cs typeface="Arial" panose="020B0604020202020204" pitchFamily="34" charset="0"/>
                </a:rPr>
                <a:t>汇报人</a:t>
              </a:r>
            </a:p>
          </p:txBody>
        </p:sp>
        <p:sp>
          <p:nvSpPr>
            <p:cNvPr id="25" name="文本框 24">
              <a:extLst>
                <a:ext uri="{FF2B5EF4-FFF2-40B4-BE49-F238E27FC236}">
                  <a16:creationId xmlns:a16="http://schemas.microsoft.com/office/drawing/2014/main" id="{DE6C100F-4B67-D945-BA09-BFE378591646}"/>
                </a:ext>
              </a:extLst>
            </p:cNvPr>
            <p:cNvSpPr txBox="1"/>
            <p:nvPr/>
          </p:nvSpPr>
          <p:spPr>
            <a:xfrm>
              <a:off x="6296987" y="4772657"/>
              <a:ext cx="1159293" cy="338554"/>
            </a:xfrm>
            <a:prstGeom prst="rect">
              <a:avLst/>
            </a:prstGeom>
            <a:noFill/>
          </p:spPr>
          <p:txBody>
            <a:bodyPr wrap="none" rtlCol="0">
              <a:spAutoFit/>
            </a:bodyPr>
            <a:lstStyle/>
            <a:p>
              <a:pPr algn="ctr"/>
              <a:r>
                <a:rPr kumimoji="1" lang="zh-CN" altLang="en-US" sz="1600" spc="250" dirty="0">
                  <a:solidFill>
                    <a:schemeClr val="bg1"/>
                  </a:solidFill>
                  <a:latin typeface="Arial" panose="020B0604020202020204" pitchFamily="34" charset="0"/>
                  <a:ea typeface="Microsoft YaHei Light" panose="020B0503020204020204" pitchFamily="34" charset="-122"/>
                  <a:cs typeface="Arial" panose="020B0604020202020204" pitchFamily="34" charset="0"/>
                </a:rPr>
                <a:t>指导老师</a:t>
              </a:r>
            </a:p>
          </p:txBody>
        </p:sp>
        <p:sp>
          <p:nvSpPr>
            <p:cNvPr id="26" name="文本框 25">
              <a:extLst>
                <a:ext uri="{FF2B5EF4-FFF2-40B4-BE49-F238E27FC236}">
                  <a16:creationId xmlns:a16="http://schemas.microsoft.com/office/drawing/2014/main" id="{220DBB01-B540-6545-8E40-B43AFE1DA7DA}"/>
                </a:ext>
              </a:extLst>
            </p:cNvPr>
            <p:cNvSpPr txBox="1"/>
            <p:nvPr/>
          </p:nvSpPr>
          <p:spPr>
            <a:xfrm>
              <a:off x="4742136" y="5111211"/>
              <a:ext cx="1146468" cy="430887"/>
            </a:xfrm>
            <a:prstGeom prst="rect">
              <a:avLst/>
            </a:prstGeom>
            <a:noFill/>
          </p:spPr>
          <p:txBody>
            <a:bodyPr wrap="none" rtlCol="0">
              <a:spAutoFit/>
            </a:bodyPr>
            <a:lstStyle/>
            <a:p>
              <a:pPr algn="ctr"/>
              <a:r>
                <a:rPr kumimoji="1" lang="zh-CN" altLang="en-US" sz="2200" b="1" spc="300" dirty="0">
                  <a:solidFill>
                    <a:schemeClr val="bg1"/>
                  </a:solidFill>
                  <a:latin typeface="Microsoft YaHei" panose="020B0503020204020204" pitchFamily="34" charset="-122"/>
                  <a:ea typeface="Microsoft YaHei" panose="020B0503020204020204" pitchFamily="34" charset="-122"/>
                  <a:cs typeface="Arial" panose="020B0604020202020204" pitchFamily="34" charset="0"/>
                </a:rPr>
                <a:t>张浩楠</a:t>
              </a:r>
            </a:p>
          </p:txBody>
        </p:sp>
        <p:sp>
          <p:nvSpPr>
            <p:cNvPr id="27" name="文本框 26">
              <a:extLst>
                <a:ext uri="{FF2B5EF4-FFF2-40B4-BE49-F238E27FC236}">
                  <a16:creationId xmlns:a16="http://schemas.microsoft.com/office/drawing/2014/main" id="{0CEAFABC-560F-AB48-B602-D0E47BC4612F}"/>
                </a:ext>
              </a:extLst>
            </p:cNvPr>
            <p:cNvSpPr txBox="1"/>
            <p:nvPr/>
          </p:nvSpPr>
          <p:spPr>
            <a:xfrm>
              <a:off x="6463701" y="5111211"/>
              <a:ext cx="825867" cy="430887"/>
            </a:xfrm>
            <a:prstGeom prst="rect">
              <a:avLst/>
            </a:prstGeom>
            <a:noFill/>
          </p:spPr>
          <p:txBody>
            <a:bodyPr wrap="none" rtlCol="0">
              <a:spAutoFit/>
            </a:bodyPr>
            <a:lstStyle/>
            <a:p>
              <a:pPr algn="ctr"/>
              <a:r>
                <a:rPr kumimoji="1" lang="zh-CN" altLang="en-US" sz="2200" b="1" spc="300" dirty="0">
                  <a:solidFill>
                    <a:schemeClr val="bg1"/>
                  </a:solidFill>
                  <a:latin typeface="Microsoft YaHei" panose="020B0503020204020204" pitchFamily="34" charset="-122"/>
                  <a:ea typeface="Microsoft YaHei" panose="020B0503020204020204" pitchFamily="34" charset="-122"/>
                  <a:cs typeface="Arial" panose="020B0604020202020204" pitchFamily="34" charset="0"/>
                </a:rPr>
                <a:t>张南</a:t>
              </a:r>
            </a:p>
          </p:txBody>
        </p:sp>
        <p:cxnSp>
          <p:nvCxnSpPr>
            <p:cNvPr id="28" name="直线连接符 27">
              <a:extLst>
                <a:ext uri="{FF2B5EF4-FFF2-40B4-BE49-F238E27FC236}">
                  <a16:creationId xmlns:a16="http://schemas.microsoft.com/office/drawing/2014/main" id="{CCCE5E2C-14A1-5342-AFC7-064C39A5262D}"/>
                </a:ext>
              </a:extLst>
            </p:cNvPr>
            <p:cNvCxnSpPr>
              <a:cxnSpLocks/>
            </p:cNvCxnSpPr>
            <p:nvPr/>
          </p:nvCxnSpPr>
          <p:spPr>
            <a:xfrm flipH="1">
              <a:off x="6061727" y="5008857"/>
              <a:ext cx="149690" cy="20470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文本框 16">
            <a:extLst>
              <a:ext uri="{FF2B5EF4-FFF2-40B4-BE49-F238E27FC236}">
                <a16:creationId xmlns:a16="http://schemas.microsoft.com/office/drawing/2014/main" id="{3AF98CBD-D89A-2E47-8A78-304CDD28127D}"/>
              </a:ext>
            </a:extLst>
          </p:cNvPr>
          <p:cNvSpPr txBox="1"/>
          <p:nvPr/>
        </p:nvSpPr>
        <p:spPr>
          <a:xfrm>
            <a:off x="4274525" y="2433859"/>
            <a:ext cx="3724096" cy="1107996"/>
          </a:xfrm>
          <a:prstGeom prst="rect">
            <a:avLst/>
          </a:prstGeom>
          <a:noFill/>
          <a:effectLst>
            <a:outerShdw blurRad="50800" dist="38100" dir="5400000" algn="t" rotWithShape="0">
              <a:prstClr val="black">
                <a:alpha val="40000"/>
              </a:prstClr>
            </a:outerShdw>
          </a:effectLst>
        </p:spPr>
        <p:txBody>
          <a:bodyPr wrap="none" rtlCol="0">
            <a:spAutoFit/>
          </a:bodyPr>
          <a:lstStyle/>
          <a:p>
            <a:pPr algn="ctr"/>
            <a:r>
              <a:rPr kumimoji="1" lang="zh-CN" altLang="en-US" sz="6600" b="1" spc="300" dirty="0">
                <a:ln w="9525">
                  <a:noFill/>
                </a:ln>
                <a:gradFill>
                  <a:gsLst>
                    <a:gs pos="0">
                      <a:schemeClr val="bg1"/>
                    </a:gs>
                    <a:gs pos="100000">
                      <a:schemeClr val="bg1">
                        <a:lumMod val="65000"/>
                      </a:schemeClr>
                    </a:gs>
                  </a:gsLst>
                  <a:lin ang="5400000" scaled="1"/>
                </a:gradFill>
                <a:latin typeface="Arial" panose="020B0604020202020204" pitchFamily="34" charset="0"/>
                <a:ea typeface="Microsoft YaHei" panose="020B0503020204020204" pitchFamily="34" charset="-122"/>
                <a:cs typeface="Arial" panose="020B0604020202020204" pitchFamily="34" charset="0"/>
              </a:rPr>
              <a:t>感谢观看</a:t>
            </a:r>
          </a:p>
        </p:txBody>
      </p:sp>
    </p:spTree>
    <p:extLst>
      <p:ext uri="{BB962C8B-B14F-4D97-AF65-F5344CB8AC3E}">
        <p14:creationId xmlns:p14="http://schemas.microsoft.com/office/powerpoint/2010/main" val="257009354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ctr">
          <a:lnSpc>
            <a:spcPct val="130000"/>
          </a:lnSpc>
          <a:defRPr kumimoji="1" sz="1200" dirty="0">
            <a:latin typeface="Source Han Sans SC Normal" panose="020B0400000000000000" pitchFamily="34" charset="-128"/>
            <a:ea typeface="Source Han Sans SC Normal" panose="020B0400000000000000" pitchFamily="34"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2173</TotalTime>
  <Words>2345</Words>
  <Application>Microsoft Office PowerPoint</Application>
  <PresentationFormat>宽屏</PresentationFormat>
  <Paragraphs>232</Paragraphs>
  <Slides>20</Slides>
  <Notes>18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Source Han Sans SC Normal</vt:lpstr>
      <vt:lpstr>等线</vt:lpstr>
      <vt:lpstr>等线 Light</vt:lpstr>
      <vt:lpstr>微软雅黑</vt:lpstr>
      <vt:lpstr>微软雅黑</vt:lpstr>
      <vt:lpstr>Arial</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于 正洋</dc:creator>
  <cp:lastModifiedBy>张 浩楠</cp:lastModifiedBy>
  <cp:revision>204</cp:revision>
  <dcterms:created xsi:type="dcterms:W3CDTF">2020-04-17T07:43:44Z</dcterms:created>
  <dcterms:modified xsi:type="dcterms:W3CDTF">2020-05-29T06:28:40Z</dcterms:modified>
</cp:coreProperties>
</file>